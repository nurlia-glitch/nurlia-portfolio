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64" r:id="rId2"/>
  </p:sldMasterIdLst>
  <p:notesMasterIdLst>
    <p:notesMasterId r:id="rId29"/>
  </p:notesMasterIdLst>
  <p:sldIdLst>
    <p:sldId id="256" r:id="rId3"/>
    <p:sldId id="257" r:id="rId4"/>
    <p:sldId id="283" r:id="rId5"/>
    <p:sldId id="258" r:id="rId6"/>
    <p:sldId id="259" r:id="rId7"/>
    <p:sldId id="260" r:id="rId8"/>
    <p:sldId id="266" r:id="rId9"/>
    <p:sldId id="272" r:id="rId10"/>
    <p:sldId id="271" r:id="rId11"/>
    <p:sldId id="267" r:id="rId12"/>
    <p:sldId id="268" r:id="rId13"/>
    <p:sldId id="273" r:id="rId14"/>
    <p:sldId id="274" r:id="rId15"/>
    <p:sldId id="275" r:id="rId16"/>
    <p:sldId id="276" r:id="rId17"/>
    <p:sldId id="277" r:id="rId18"/>
    <p:sldId id="280" r:id="rId19"/>
    <p:sldId id="278" r:id="rId20"/>
    <p:sldId id="279" r:id="rId21"/>
    <p:sldId id="281" r:id="rId22"/>
    <p:sldId id="262" r:id="rId23"/>
    <p:sldId id="282" r:id="rId24"/>
    <p:sldId id="263" r:id="rId25"/>
    <p:sldId id="264" r:id="rId26"/>
    <p:sldId id="265" r:id="rId27"/>
    <p:sldId id="285" r:id="rId28"/>
  </p:sldIdLst>
  <p:sldSz cx="9144000" cy="5143500" type="screen16x9"/>
  <p:notesSz cx="6858000" cy="9144000"/>
  <p:embeddedFontLst>
    <p:embeddedFont>
      <p:font typeface="Calibri" panose="020F0502020204030204" pitchFamily="34" charset="0"/>
      <p:regular r:id="rId30"/>
      <p:bold r:id="rId31"/>
      <p:italic r:id="rId32"/>
      <p:boldItalic r:id="rId33"/>
    </p:embeddedFont>
    <p:embeddedFont>
      <p:font typeface="Calibri Light" panose="020F0302020204030204" pitchFamily="34" charset="0"/>
      <p:regular r:id="rId34"/>
      <p:italic r:id="rId35"/>
    </p:embeddedFont>
    <p:embeddedFont>
      <p:font typeface="Lexend" panose="020B0604020202020204" charset="0"/>
      <p:regular r:id="rId36"/>
      <p:bold r:id="rId37"/>
    </p:embeddedFont>
    <p:embeddedFont>
      <p:font typeface="Montserrat" panose="00000500000000000000" pitchFamily="2" charset="0"/>
      <p:regular r:id="rId38"/>
      <p:bold r:id="rId39"/>
      <p:italic r:id="rId40"/>
      <p:boldItalic r:id="rId41"/>
    </p:embeddedFont>
    <p:embeddedFont>
      <p:font typeface="Raleway" pitchFamily="2" charset="0"/>
      <p:regular r:id="rId42"/>
      <p:bold r:id="rId43"/>
      <p:italic r:id="rId44"/>
      <p:boldItalic r:id="rId45"/>
    </p:embeddedFont>
    <p:embeddedFont>
      <p:font typeface="Raleway ExtraBold" pitchFamily="2" charset="0"/>
      <p:bold r:id="rId46"/>
      <p:boldItalic r:id="rId47"/>
    </p:embeddedFont>
    <p:embeddedFont>
      <p:font typeface="Raleway Light" pitchFamily="2" charset="0"/>
      <p:regular r:id="rId48"/>
      <p:bold r:id="rId49"/>
      <p:italic r:id="rId50"/>
      <p:boldItalic r:id="rId51"/>
    </p:embeddedFont>
    <p:embeddedFont>
      <p:font typeface="Roboto" panose="02000000000000000000" pitchFamily="2" charset="0"/>
      <p:regular r:id="rId52"/>
      <p:bold r:id="rId53"/>
      <p:italic r:id="rId54"/>
      <p:boldItalic r:id="rId55"/>
    </p:embeddedFont>
    <p:embeddedFont>
      <p:font typeface="Verdana" panose="020B0604030504040204" pitchFamily="3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FE50"/>
    <a:srgbClr val="08F8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60"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0.fntdata"/><Relationship Id="rId21" Type="http://schemas.openxmlformats.org/officeDocument/2006/relationships/slide" Target="slides/slide19.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font" Target="fonts/font21.fntdata"/><Relationship Id="rId55" Type="http://schemas.openxmlformats.org/officeDocument/2006/relationships/font" Target="fonts/font26.fntdata"/><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notesMaster" Target="notesMasters/notesMaster1.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font" Target="fonts/font24.fntdata"/><Relationship Id="rId58" Type="http://schemas.openxmlformats.org/officeDocument/2006/relationships/font" Target="fonts/font29.fntdata"/><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56" Type="http://schemas.openxmlformats.org/officeDocument/2006/relationships/font" Target="fonts/font27.fntdata"/><Relationship Id="rId8" Type="http://schemas.openxmlformats.org/officeDocument/2006/relationships/slide" Target="slides/slide6.xml"/><Relationship Id="rId51" Type="http://schemas.openxmlformats.org/officeDocument/2006/relationships/font" Target="fonts/font2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font" Target="fonts/font30.fntdata"/><Relationship Id="rId20" Type="http://schemas.openxmlformats.org/officeDocument/2006/relationships/slide" Target="slides/slide18.xml"/><Relationship Id="rId41" Type="http://schemas.openxmlformats.org/officeDocument/2006/relationships/font" Target="fonts/font12.fntdata"/><Relationship Id="rId54" Type="http://schemas.openxmlformats.org/officeDocument/2006/relationships/font" Target="fonts/font25.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7.fntdata"/><Relationship Id="rId49" Type="http://schemas.openxmlformats.org/officeDocument/2006/relationships/font" Target="fonts/font20.fntdata"/><Relationship Id="rId57" Type="http://schemas.openxmlformats.org/officeDocument/2006/relationships/font" Target="fonts/font28.fntdata"/><Relationship Id="rId10" Type="http://schemas.openxmlformats.org/officeDocument/2006/relationships/slide" Target="slides/slide8.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font" Target="fonts/font23.fntdata"/><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76a6fad9ed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276a6fad9ed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74b7d76bcb_0_4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74b7d76bcb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74b7d76bcb_0_4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74b7d76bcb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6233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76a6fad9ed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76a6fad9ed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76d9f22ab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76d9f22ab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76d9f22ab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76d9f22ab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76d9f22ab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76d9f22ab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622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76d9f22ab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76d9f22ab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712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76d9f22ab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76d9f22ab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8935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76d9f22ab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76d9f22ab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0195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7964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7369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8868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13911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46560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42320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66207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618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9559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6d9f22ab8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6d9f22ab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253288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76d9f22ab8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276d9f22ab8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76d9f22ab8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276d9f22ab8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8046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76d9f22ab8_0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276d9f22ab8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76d9f22ab8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276d9f22ab8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76d9f22ab8_0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76d9f22ab8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d802e04d1d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d802e04d1d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1"/>
        </a:solidFill>
        <a:effectLst/>
      </p:bgPr>
    </p:bg>
    <p:spTree>
      <p:nvGrpSpPr>
        <p:cNvPr id="1" name="Shape 9"/>
        <p:cNvGrpSpPr/>
        <p:nvPr/>
      </p:nvGrpSpPr>
      <p:grpSpPr>
        <a:xfrm>
          <a:off x="0" y="0"/>
          <a:ext cx="0" cy="0"/>
          <a:chOff x="0" y="0"/>
          <a:chExt cx="0" cy="0"/>
        </a:xfrm>
      </p:grpSpPr>
      <p:sp>
        <p:nvSpPr>
          <p:cNvPr id="10" name="Google Shape;10;p2"/>
          <p:cNvSpPr/>
          <p:nvPr/>
        </p:nvSpPr>
        <p:spPr>
          <a:xfrm>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11;p2"/>
          <p:cNvSpPr txBox="1">
            <a:spLocks noGrp="1"/>
          </p:cNvSpPr>
          <p:nvPr>
            <p:ph type="ctrTitle"/>
          </p:nvPr>
        </p:nvSpPr>
        <p:spPr>
          <a:xfrm>
            <a:off x="685800" y="3287213"/>
            <a:ext cx="7772400" cy="1159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lt1"/>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solidFill>
          <a:schemeClr val="accent1"/>
        </a:solidFill>
        <a:effectLst/>
      </p:bgPr>
    </p:bg>
    <p:spTree>
      <p:nvGrpSpPr>
        <p:cNvPr id="1" name="Shape 12"/>
        <p:cNvGrpSpPr/>
        <p:nvPr/>
      </p:nvGrpSpPr>
      <p:grpSpPr>
        <a:xfrm>
          <a:off x="0" y="0"/>
          <a:ext cx="0" cy="0"/>
          <a:chOff x="0" y="0"/>
          <a:chExt cx="0" cy="0"/>
        </a:xfrm>
      </p:grpSpPr>
      <p:sp>
        <p:nvSpPr>
          <p:cNvPr id="13" name="Google Shape;13;p3"/>
          <p:cNvSpPr/>
          <p:nvPr/>
        </p:nvSpPr>
        <p:spPr>
          <a:xfrm>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14;p3"/>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5" name="Google Shape;15;p3"/>
          <p:cNvSpPr txBox="1">
            <a:spLocks noGrp="1"/>
          </p:cNvSpPr>
          <p:nvPr>
            <p:ph type="subTitle" idx="1"/>
          </p:nvPr>
        </p:nvSpPr>
        <p:spPr>
          <a:xfrm>
            <a:off x="685800" y="3830653"/>
            <a:ext cx="77724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bg>
      <p:bgPr>
        <a:solidFill>
          <a:schemeClr val="accent1"/>
        </a:solidFill>
        <a:effectLst/>
      </p:bgPr>
    </p:bg>
    <p:spTree>
      <p:nvGrpSpPr>
        <p:cNvPr id="1" name="Shape 16"/>
        <p:cNvGrpSpPr/>
        <p:nvPr/>
      </p:nvGrpSpPr>
      <p:grpSpPr>
        <a:xfrm>
          <a:off x="0" y="0"/>
          <a:ext cx="0" cy="0"/>
          <a:chOff x="0" y="0"/>
          <a:chExt cx="0" cy="0"/>
        </a:xfrm>
      </p:grpSpPr>
      <p:sp>
        <p:nvSpPr>
          <p:cNvPr id="17" name="Google Shape;17;p4"/>
          <p:cNvSpPr/>
          <p:nvPr/>
        </p:nvSpPr>
        <p:spPr>
          <a:xfrm flipH="1">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18;p4"/>
          <p:cNvSpPr txBox="1">
            <a:spLocks noGrp="1"/>
          </p:cNvSpPr>
          <p:nvPr>
            <p:ph type="body" idx="1"/>
          </p:nvPr>
        </p:nvSpPr>
        <p:spPr>
          <a:xfrm>
            <a:off x="1757200" y="2161800"/>
            <a:ext cx="5629800" cy="819900"/>
          </a:xfrm>
          <a:prstGeom prst="rect">
            <a:avLst/>
          </a:prstGeom>
        </p:spPr>
        <p:txBody>
          <a:bodyPr spcFirstLastPara="1" wrap="square" lIns="91425" tIns="91425" rIns="91425" bIns="91425" anchor="ctr" anchorCtr="0">
            <a:noAutofit/>
          </a:bodyPr>
          <a:lstStyle>
            <a:lvl1pPr marL="457189" lvl="0" indent="-419090" algn="ctr" rtl="0">
              <a:spcBef>
                <a:spcPts val="600"/>
              </a:spcBef>
              <a:spcAft>
                <a:spcPts val="0"/>
              </a:spcAft>
              <a:buClr>
                <a:schemeClr val="dk1"/>
              </a:buClr>
              <a:buSzPts val="3000"/>
              <a:buChar char="●"/>
              <a:defRPr sz="3000" i="1">
                <a:solidFill>
                  <a:schemeClr val="dk1"/>
                </a:solidFill>
              </a:defRPr>
            </a:lvl1pPr>
            <a:lvl2pPr marL="914377" lvl="1" indent="-419090" algn="ctr" rtl="0">
              <a:spcBef>
                <a:spcPts val="0"/>
              </a:spcBef>
              <a:spcAft>
                <a:spcPts val="0"/>
              </a:spcAft>
              <a:buClr>
                <a:schemeClr val="dk1"/>
              </a:buClr>
              <a:buSzPts val="3000"/>
              <a:buChar char="○"/>
              <a:defRPr sz="3000" i="1">
                <a:solidFill>
                  <a:schemeClr val="dk1"/>
                </a:solidFill>
              </a:defRPr>
            </a:lvl2pPr>
            <a:lvl3pPr marL="1371566" lvl="2" indent="-419090" algn="ctr" rtl="0">
              <a:spcBef>
                <a:spcPts val="0"/>
              </a:spcBef>
              <a:spcAft>
                <a:spcPts val="0"/>
              </a:spcAft>
              <a:buClr>
                <a:schemeClr val="dk1"/>
              </a:buClr>
              <a:buSzPts val="3000"/>
              <a:buChar char="■"/>
              <a:defRPr sz="3000" i="1">
                <a:solidFill>
                  <a:schemeClr val="dk1"/>
                </a:solidFill>
              </a:defRPr>
            </a:lvl3pPr>
            <a:lvl4pPr marL="1828754" lvl="3" indent="-419090" algn="ctr" rtl="0">
              <a:spcBef>
                <a:spcPts val="0"/>
              </a:spcBef>
              <a:spcAft>
                <a:spcPts val="0"/>
              </a:spcAft>
              <a:buClr>
                <a:schemeClr val="dk1"/>
              </a:buClr>
              <a:buSzPts val="3000"/>
              <a:buChar char="●"/>
              <a:defRPr sz="3000" i="1">
                <a:solidFill>
                  <a:schemeClr val="dk1"/>
                </a:solidFill>
              </a:defRPr>
            </a:lvl4pPr>
            <a:lvl5pPr marL="2285943" lvl="4" indent="-419090" algn="ctr" rtl="0">
              <a:spcBef>
                <a:spcPts val="0"/>
              </a:spcBef>
              <a:spcAft>
                <a:spcPts val="0"/>
              </a:spcAft>
              <a:buClr>
                <a:schemeClr val="dk1"/>
              </a:buClr>
              <a:buSzPts val="3000"/>
              <a:buChar char="○"/>
              <a:defRPr sz="3000" i="1">
                <a:solidFill>
                  <a:schemeClr val="dk1"/>
                </a:solidFill>
              </a:defRPr>
            </a:lvl5pPr>
            <a:lvl6pPr marL="2743131" lvl="5" indent="-419090" algn="ctr" rtl="0">
              <a:spcBef>
                <a:spcPts val="0"/>
              </a:spcBef>
              <a:spcAft>
                <a:spcPts val="0"/>
              </a:spcAft>
              <a:buClr>
                <a:schemeClr val="dk1"/>
              </a:buClr>
              <a:buSzPts val="3000"/>
              <a:buChar char="■"/>
              <a:defRPr sz="3000" i="1">
                <a:solidFill>
                  <a:schemeClr val="dk1"/>
                </a:solidFill>
              </a:defRPr>
            </a:lvl6pPr>
            <a:lvl7pPr marL="3200320" lvl="6" indent="-419090" algn="ctr" rtl="0">
              <a:spcBef>
                <a:spcPts val="0"/>
              </a:spcBef>
              <a:spcAft>
                <a:spcPts val="0"/>
              </a:spcAft>
              <a:buClr>
                <a:schemeClr val="dk1"/>
              </a:buClr>
              <a:buSzPts val="3000"/>
              <a:buChar char="●"/>
              <a:defRPr sz="3000" i="1">
                <a:solidFill>
                  <a:schemeClr val="dk1"/>
                </a:solidFill>
              </a:defRPr>
            </a:lvl7pPr>
            <a:lvl8pPr marL="3657509" lvl="7" indent="-419090" algn="ctr" rtl="0">
              <a:spcBef>
                <a:spcPts val="0"/>
              </a:spcBef>
              <a:spcAft>
                <a:spcPts val="0"/>
              </a:spcAft>
              <a:buClr>
                <a:schemeClr val="dk1"/>
              </a:buClr>
              <a:buSzPts val="3000"/>
              <a:buChar char="○"/>
              <a:defRPr sz="3000" i="1">
                <a:solidFill>
                  <a:schemeClr val="dk1"/>
                </a:solidFill>
              </a:defRPr>
            </a:lvl8pPr>
            <a:lvl9pPr marL="4114697" lvl="8" indent="-419090" algn="ctr" rtl="0">
              <a:spcBef>
                <a:spcPts val="0"/>
              </a:spcBef>
              <a:spcAft>
                <a:spcPts val="0"/>
              </a:spcAft>
              <a:buClr>
                <a:schemeClr val="dk1"/>
              </a:buClr>
              <a:buSzPts val="3000"/>
              <a:buChar char="■"/>
              <a:defRPr sz="3000" i="1">
                <a:solidFill>
                  <a:schemeClr val="dk1"/>
                </a:solidFill>
              </a:defRPr>
            </a:lvl9pPr>
          </a:lstStyle>
          <a:p>
            <a:endParaRPr/>
          </a:p>
        </p:txBody>
      </p:sp>
      <p:sp>
        <p:nvSpPr>
          <p:cNvPr id="19" name="Google Shape;19;p4"/>
          <p:cNvSpPr txBox="1"/>
          <p:nvPr/>
        </p:nvSpPr>
        <p:spPr>
          <a:xfrm>
            <a:off x="205551" y="75075"/>
            <a:ext cx="7995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0" b="1">
                <a:solidFill>
                  <a:schemeClr val="dk1"/>
                </a:solidFill>
                <a:latin typeface="Raleway"/>
                <a:ea typeface="Raleway"/>
                <a:cs typeface="Raleway"/>
                <a:sym typeface="Raleway"/>
              </a:rPr>
              <a:t>“</a:t>
            </a:r>
            <a:endParaRPr sz="12000" b="1">
              <a:solidFill>
                <a:schemeClr val="dk1"/>
              </a:solidFill>
              <a:latin typeface="Raleway"/>
              <a:ea typeface="Raleway"/>
              <a:cs typeface="Raleway"/>
              <a:sym typeface="Raleway"/>
            </a:endParaRPr>
          </a:p>
        </p:txBody>
      </p:sp>
      <p:sp>
        <p:nvSpPr>
          <p:cNvPr id="20" name="Google Shape;20;p4"/>
          <p:cNvSpPr txBox="1">
            <a:spLocks noGrp="1"/>
          </p:cNvSpPr>
          <p:nvPr>
            <p:ph type="sldNum" idx="12"/>
          </p:nvPr>
        </p:nvSpPr>
        <p:spPr>
          <a:xfrm>
            <a:off x="8604401" y="4590300"/>
            <a:ext cx="539700" cy="5532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1"/>
        <p:cNvGrpSpPr/>
        <p:nvPr/>
      </p:nvGrpSpPr>
      <p:grpSpPr>
        <a:xfrm>
          <a:off x="0" y="0"/>
          <a:ext cx="0" cy="0"/>
          <a:chOff x="0" y="0"/>
          <a:chExt cx="0" cy="0"/>
        </a:xfrm>
      </p:grpSpPr>
      <p:sp>
        <p:nvSpPr>
          <p:cNvPr id="22" name="Google Shape;22;p5"/>
          <p:cNvSpPr/>
          <p:nvPr/>
        </p:nvSpPr>
        <p:spPr>
          <a:xfrm>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23;p5"/>
          <p:cNvSpPr txBox="1">
            <a:spLocks noGrp="1"/>
          </p:cNvSpPr>
          <p:nvPr>
            <p:ph type="title"/>
          </p:nvPr>
        </p:nvSpPr>
        <p:spPr>
          <a:xfrm>
            <a:off x="922001" y="891775"/>
            <a:ext cx="68661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5800"/>
              <a:buNone/>
              <a:defRPr/>
            </a:lvl1pPr>
            <a:lvl2pPr lvl="1" rtl="0">
              <a:spcBef>
                <a:spcPts val="0"/>
              </a:spcBef>
              <a:spcAft>
                <a:spcPts val="0"/>
              </a:spcAft>
              <a:buSzPts val="5800"/>
              <a:buNone/>
              <a:defRPr/>
            </a:lvl2pPr>
            <a:lvl3pPr lvl="2" rtl="0">
              <a:spcBef>
                <a:spcPts val="0"/>
              </a:spcBef>
              <a:spcAft>
                <a:spcPts val="0"/>
              </a:spcAft>
              <a:buSzPts val="5800"/>
              <a:buNone/>
              <a:defRPr/>
            </a:lvl3pPr>
            <a:lvl4pPr lvl="3" rtl="0">
              <a:spcBef>
                <a:spcPts val="0"/>
              </a:spcBef>
              <a:spcAft>
                <a:spcPts val="0"/>
              </a:spcAft>
              <a:buSzPts val="5800"/>
              <a:buNone/>
              <a:defRPr/>
            </a:lvl4pPr>
            <a:lvl5pPr lvl="4" rtl="0">
              <a:spcBef>
                <a:spcPts val="0"/>
              </a:spcBef>
              <a:spcAft>
                <a:spcPts val="0"/>
              </a:spcAft>
              <a:buSzPts val="5800"/>
              <a:buNone/>
              <a:defRPr/>
            </a:lvl5pPr>
            <a:lvl6pPr lvl="5" rtl="0">
              <a:spcBef>
                <a:spcPts val="0"/>
              </a:spcBef>
              <a:spcAft>
                <a:spcPts val="0"/>
              </a:spcAft>
              <a:buSzPts val="5800"/>
              <a:buNone/>
              <a:defRPr/>
            </a:lvl6pPr>
            <a:lvl7pPr lvl="6" rtl="0">
              <a:spcBef>
                <a:spcPts val="0"/>
              </a:spcBef>
              <a:spcAft>
                <a:spcPts val="0"/>
              </a:spcAft>
              <a:buSzPts val="5800"/>
              <a:buNone/>
              <a:defRPr/>
            </a:lvl7pPr>
            <a:lvl8pPr lvl="7" rtl="0">
              <a:spcBef>
                <a:spcPts val="0"/>
              </a:spcBef>
              <a:spcAft>
                <a:spcPts val="0"/>
              </a:spcAft>
              <a:buSzPts val="5800"/>
              <a:buNone/>
              <a:defRPr/>
            </a:lvl8pPr>
            <a:lvl9pPr lvl="8" rtl="0">
              <a:spcBef>
                <a:spcPts val="0"/>
              </a:spcBef>
              <a:spcAft>
                <a:spcPts val="0"/>
              </a:spcAft>
              <a:buSzPts val="5800"/>
              <a:buNone/>
              <a:defRPr/>
            </a:lvl9pPr>
          </a:lstStyle>
          <a:p>
            <a:endParaRPr/>
          </a:p>
        </p:txBody>
      </p:sp>
      <p:sp>
        <p:nvSpPr>
          <p:cNvPr id="24" name="Google Shape;24;p5"/>
          <p:cNvSpPr txBox="1">
            <a:spLocks noGrp="1"/>
          </p:cNvSpPr>
          <p:nvPr>
            <p:ph type="body" idx="1"/>
          </p:nvPr>
        </p:nvSpPr>
        <p:spPr>
          <a:xfrm>
            <a:off x="922001" y="1885951"/>
            <a:ext cx="6866100" cy="2366100"/>
          </a:xfrm>
          <a:prstGeom prst="rect">
            <a:avLst/>
          </a:prstGeom>
        </p:spPr>
        <p:txBody>
          <a:bodyPr spcFirstLastPara="1" wrap="square" lIns="91425" tIns="91425" rIns="91425" bIns="91425" anchor="t" anchorCtr="0">
            <a:noAutofit/>
          </a:bodyPr>
          <a:lstStyle>
            <a:lvl1pPr marL="457189" lvl="0" indent="-342891" rtl="0">
              <a:spcBef>
                <a:spcPts val="600"/>
              </a:spcBef>
              <a:spcAft>
                <a:spcPts val="0"/>
              </a:spcAft>
              <a:buClr>
                <a:srgbClr val="FFB600"/>
              </a:buClr>
              <a:buSzPts val="1800"/>
              <a:buChar char="●"/>
              <a:defRPr/>
            </a:lvl1pPr>
            <a:lvl2pPr marL="914377" lvl="1" indent="-342891" rtl="0">
              <a:spcBef>
                <a:spcPts val="0"/>
              </a:spcBef>
              <a:spcAft>
                <a:spcPts val="0"/>
              </a:spcAft>
              <a:buClr>
                <a:srgbClr val="FFB600"/>
              </a:buClr>
              <a:buSzPts val="1800"/>
              <a:buChar char="○"/>
              <a:defRPr/>
            </a:lvl2pPr>
            <a:lvl3pPr marL="1371566" lvl="2" indent="-342891" rtl="0">
              <a:spcBef>
                <a:spcPts val="0"/>
              </a:spcBef>
              <a:spcAft>
                <a:spcPts val="0"/>
              </a:spcAft>
              <a:buClr>
                <a:srgbClr val="FFB600"/>
              </a:buClr>
              <a:buSzPts val="1800"/>
              <a:buChar char="■"/>
              <a:defRPr/>
            </a:lvl3pPr>
            <a:lvl4pPr marL="1828754" lvl="3" indent="-342891" rtl="0">
              <a:spcBef>
                <a:spcPts val="0"/>
              </a:spcBef>
              <a:spcAft>
                <a:spcPts val="0"/>
              </a:spcAft>
              <a:buSzPts val="1800"/>
              <a:buChar char="●"/>
              <a:defRPr/>
            </a:lvl4pPr>
            <a:lvl5pPr marL="2285943" lvl="4" indent="-342891" rtl="0">
              <a:spcBef>
                <a:spcPts val="0"/>
              </a:spcBef>
              <a:spcAft>
                <a:spcPts val="0"/>
              </a:spcAft>
              <a:buSzPts val="1800"/>
              <a:buChar char="○"/>
              <a:defRPr/>
            </a:lvl5pPr>
            <a:lvl6pPr marL="2743131" lvl="5" indent="-342891" rtl="0">
              <a:spcBef>
                <a:spcPts val="0"/>
              </a:spcBef>
              <a:spcAft>
                <a:spcPts val="0"/>
              </a:spcAft>
              <a:buSzPts val="1800"/>
              <a:buChar char="■"/>
              <a:defRPr/>
            </a:lvl6pPr>
            <a:lvl7pPr marL="3200320" lvl="6" indent="-342891" rtl="0">
              <a:spcBef>
                <a:spcPts val="0"/>
              </a:spcBef>
              <a:spcAft>
                <a:spcPts val="0"/>
              </a:spcAft>
              <a:buSzPts val="1800"/>
              <a:buChar char="●"/>
              <a:defRPr/>
            </a:lvl7pPr>
            <a:lvl8pPr marL="3657509" lvl="7" indent="-342891" rtl="0">
              <a:spcBef>
                <a:spcPts val="0"/>
              </a:spcBef>
              <a:spcAft>
                <a:spcPts val="0"/>
              </a:spcAft>
              <a:buSzPts val="1800"/>
              <a:buChar char="○"/>
              <a:defRPr/>
            </a:lvl8pPr>
            <a:lvl9pPr marL="4114697" lvl="8" indent="-342891" rtl="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604401" y="4590300"/>
            <a:ext cx="539700" cy="553200"/>
          </a:xfrm>
          <a:prstGeom prst="rect">
            <a:avLst/>
          </a:prstGeom>
        </p:spPr>
        <p:txBody>
          <a:bodyPr spcFirstLastPara="1" wrap="square" lIns="91425" tIns="91425" rIns="91425" bIns="91425" anchor="ctr" anchorCtr="0">
            <a:noAutofit/>
          </a:bodyPr>
          <a:lstStyle>
            <a:lvl1pPr lvl="0" rtl="0">
              <a:buNone/>
              <a:defRPr>
                <a:solidFill>
                  <a:srgbClr val="FFB600"/>
                </a:solidFill>
              </a:defRPr>
            </a:lvl1pPr>
            <a:lvl2pPr lvl="1" rtl="0">
              <a:buNone/>
              <a:defRPr>
                <a:solidFill>
                  <a:srgbClr val="FFB600"/>
                </a:solidFill>
              </a:defRPr>
            </a:lvl2pPr>
            <a:lvl3pPr lvl="2" rtl="0">
              <a:buNone/>
              <a:defRPr>
                <a:solidFill>
                  <a:srgbClr val="FFB600"/>
                </a:solidFill>
              </a:defRPr>
            </a:lvl3pPr>
            <a:lvl4pPr lvl="3" rtl="0">
              <a:buNone/>
              <a:defRPr>
                <a:solidFill>
                  <a:srgbClr val="FFB600"/>
                </a:solidFill>
              </a:defRPr>
            </a:lvl4pPr>
            <a:lvl5pPr lvl="4" rtl="0">
              <a:buNone/>
              <a:defRPr>
                <a:solidFill>
                  <a:srgbClr val="FFB600"/>
                </a:solidFill>
              </a:defRPr>
            </a:lvl5pPr>
            <a:lvl6pPr lvl="5" rtl="0">
              <a:buNone/>
              <a:defRPr>
                <a:solidFill>
                  <a:srgbClr val="FFB600"/>
                </a:solidFill>
              </a:defRPr>
            </a:lvl6pPr>
            <a:lvl7pPr lvl="6" rtl="0">
              <a:buNone/>
              <a:defRPr>
                <a:solidFill>
                  <a:srgbClr val="FFB600"/>
                </a:solidFill>
              </a:defRPr>
            </a:lvl7pPr>
            <a:lvl8pPr lvl="7" rtl="0">
              <a:buNone/>
              <a:defRPr>
                <a:solidFill>
                  <a:srgbClr val="FFB600"/>
                </a:solidFill>
              </a:defRPr>
            </a:lvl8pPr>
            <a:lvl9pPr lvl="8" rtl="0">
              <a:buNone/>
              <a:defRPr>
                <a:solidFill>
                  <a:srgbClr val="FFB600"/>
                </a:solidFill>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6"/>
        <p:cNvGrpSpPr/>
        <p:nvPr/>
      </p:nvGrpSpPr>
      <p:grpSpPr>
        <a:xfrm>
          <a:off x="0" y="0"/>
          <a:ext cx="0" cy="0"/>
          <a:chOff x="0" y="0"/>
          <a:chExt cx="0" cy="0"/>
        </a:xfrm>
      </p:grpSpPr>
      <p:sp>
        <p:nvSpPr>
          <p:cNvPr id="27" name="Google Shape;27;p6"/>
          <p:cNvSpPr/>
          <p:nvPr/>
        </p:nvSpPr>
        <p:spPr>
          <a:xfrm>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28;p6"/>
          <p:cNvSpPr txBox="1">
            <a:spLocks noGrp="1"/>
          </p:cNvSpPr>
          <p:nvPr>
            <p:ph type="title"/>
          </p:nvPr>
        </p:nvSpPr>
        <p:spPr>
          <a:xfrm>
            <a:off x="922001" y="891775"/>
            <a:ext cx="68661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5800"/>
              <a:buNone/>
              <a:defRPr/>
            </a:lvl1pPr>
            <a:lvl2pPr lvl="1" rtl="0">
              <a:spcBef>
                <a:spcPts val="0"/>
              </a:spcBef>
              <a:spcAft>
                <a:spcPts val="0"/>
              </a:spcAft>
              <a:buSzPts val="5800"/>
              <a:buNone/>
              <a:defRPr/>
            </a:lvl2pPr>
            <a:lvl3pPr lvl="2" rtl="0">
              <a:spcBef>
                <a:spcPts val="0"/>
              </a:spcBef>
              <a:spcAft>
                <a:spcPts val="0"/>
              </a:spcAft>
              <a:buSzPts val="5800"/>
              <a:buNone/>
              <a:defRPr/>
            </a:lvl3pPr>
            <a:lvl4pPr lvl="3" rtl="0">
              <a:spcBef>
                <a:spcPts val="0"/>
              </a:spcBef>
              <a:spcAft>
                <a:spcPts val="0"/>
              </a:spcAft>
              <a:buSzPts val="5800"/>
              <a:buNone/>
              <a:defRPr/>
            </a:lvl4pPr>
            <a:lvl5pPr lvl="4" rtl="0">
              <a:spcBef>
                <a:spcPts val="0"/>
              </a:spcBef>
              <a:spcAft>
                <a:spcPts val="0"/>
              </a:spcAft>
              <a:buSzPts val="5800"/>
              <a:buNone/>
              <a:defRPr/>
            </a:lvl5pPr>
            <a:lvl6pPr lvl="5" rtl="0">
              <a:spcBef>
                <a:spcPts val="0"/>
              </a:spcBef>
              <a:spcAft>
                <a:spcPts val="0"/>
              </a:spcAft>
              <a:buSzPts val="5800"/>
              <a:buNone/>
              <a:defRPr/>
            </a:lvl6pPr>
            <a:lvl7pPr lvl="6" rtl="0">
              <a:spcBef>
                <a:spcPts val="0"/>
              </a:spcBef>
              <a:spcAft>
                <a:spcPts val="0"/>
              </a:spcAft>
              <a:buSzPts val="5800"/>
              <a:buNone/>
              <a:defRPr/>
            </a:lvl7pPr>
            <a:lvl8pPr lvl="7" rtl="0">
              <a:spcBef>
                <a:spcPts val="0"/>
              </a:spcBef>
              <a:spcAft>
                <a:spcPts val="0"/>
              </a:spcAft>
              <a:buSzPts val="5800"/>
              <a:buNone/>
              <a:defRPr/>
            </a:lvl8pPr>
            <a:lvl9pPr lvl="8" rtl="0">
              <a:spcBef>
                <a:spcPts val="0"/>
              </a:spcBef>
              <a:spcAft>
                <a:spcPts val="0"/>
              </a:spcAft>
              <a:buSzPts val="5800"/>
              <a:buNone/>
              <a:defRPr/>
            </a:lvl9pPr>
          </a:lstStyle>
          <a:p>
            <a:endParaRPr/>
          </a:p>
        </p:txBody>
      </p:sp>
      <p:sp>
        <p:nvSpPr>
          <p:cNvPr id="29" name="Google Shape;29;p6"/>
          <p:cNvSpPr txBox="1">
            <a:spLocks noGrp="1"/>
          </p:cNvSpPr>
          <p:nvPr>
            <p:ph type="body" idx="1"/>
          </p:nvPr>
        </p:nvSpPr>
        <p:spPr>
          <a:xfrm>
            <a:off x="922001" y="1887378"/>
            <a:ext cx="3543300" cy="3027600"/>
          </a:xfrm>
          <a:prstGeom prst="rect">
            <a:avLst/>
          </a:prstGeom>
        </p:spPr>
        <p:txBody>
          <a:bodyPr spcFirstLastPara="1" wrap="square" lIns="91425" tIns="91425" rIns="91425" bIns="91425" anchor="t" anchorCtr="0">
            <a:noAutofit/>
          </a:bodyPr>
          <a:lstStyle>
            <a:lvl1pPr marL="457189" lvl="0" indent="-342891" rtl="0">
              <a:spcBef>
                <a:spcPts val="600"/>
              </a:spcBef>
              <a:spcAft>
                <a:spcPts val="0"/>
              </a:spcAft>
              <a:buSzPts val="1800"/>
              <a:buChar char="●"/>
              <a:defRPr/>
            </a:lvl1pPr>
            <a:lvl2pPr marL="914377" lvl="1" indent="-342891" rtl="0">
              <a:spcBef>
                <a:spcPts val="0"/>
              </a:spcBef>
              <a:spcAft>
                <a:spcPts val="0"/>
              </a:spcAft>
              <a:buSzPts val="1800"/>
              <a:buChar char="○"/>
              <a:defRPr/>
            </a:lvl2pPr>
            <a:lvl3pPr marL="1371566" lvl="2" indent="-342891" rtl="0">
              <a:spcBef>
                <a:spcPts val="0"/>
              </a:spcBef>
              <a:spcAft>
                <a:spcPts val="0"/>
              </a:spcAft>
              <a:buSzPts val="1800"/>
              <a:buChar char="■"/>
              <a:defRPr/>
            </a:lvl3pPr>
            <a:lvl4pPr marL="1828754" lvl="3" indent="-342891" rtl="0">
              <a:spcBef>
                <a:spcPts val="0"/>
              </a:spcBef>
              <a:spcAft>
                <a:spcPts val="0"/>
              </a:spcAft>
              <a:buSzPts val="1800"/>
              <a:buChar char="●"/>
              <a:defRPr/>
            </a:lvl4pPr>
            <a:lvl5pPr marL="2285943" lvl="4" indent="-342891" rtl="0">
              <a:spcBef>
                <a:spcPts val="0"/>
              </a:spcBef>
              <a:spcAft>
                <a:spcPts val="0"/>
              </a:spcAft>
              <a:buSzPts val="1800"/>
              <a:buChar char="○"/>
              <a:defRPr/>
            </a:lvl5pPr>
            <a:lvl6pPr marL="2743131" lvl="5" indent="-342891" rtl="0">
              <a:spcBef>
                <a:spcPts val="0"/>
              </a:spcBef>
              <a:spcAft>
                <a:spcPts val="0"/>
              </a:spcAft>
              <a:buSzPts val="1800"/>
              <a:buChar char="■"/>
              <a:defRPr/>
            </a:lvl6pPr>
            <a:lvl7pPr marL="3200320" lvl="6" indent="-342891" rtl="0">
              <a:spcBef>
                <a:spcPts val="0"/>
              </a:spcBef>
              <a:spcAft>
                <a:spcPts val="0"/>
              </a:spcAft>
              <a:buSzPts val="1800"/>
              <a:buChar char="●"/>
              <a:defRPr/>
            </a:lvl7pPr>
            <a:lvl8pPr marL="3657509" lvl="7" indent="-342891" rtl="0">
              <a:spcBef>
                <a:spcPts val="0"/>
              </a:spcBef>
              <a:spcAft>
                <a:spcPts val="0"/>
              </a:spcAft>
              <a:buSzPts val="1800"/>
              <a:buChar char="○"/>
              <a:defRPr/>
            </a:lvl8pPr>
            <a:lvl9pPr marL="4114697" lvl="8" indent="-342891" rtl="0">
              <a:spcBef>
                <a:spcPts val="0"/>
              </a:spcBef>
              <a:spcAft>
                <a:spcPts val="0"/>
              </a:spcAft>
              <a:buSzPts val="1800"/>
              <a:buChar char="■"/>
              <a:defRPr/>
            </a:lvl9pPr>
          </a:lstStyle>
          <a:p>
            <a:endParaRPr/>
          </a:p>
        </p:txBody>
      </p:sp>
      <p:sp>
        <p:nvSpPr>
          <p:cNvPr id="30" name="Google Shape;30;p6"/>
          <p:cNvSpPr txBox="1">
            <a:spLocks noGrp="1"/>
          </p:cNvSpPr>
          <p:nvPr>
            <p:ph type="body" idx="2"/>
          </p:nvPr>
        </p:nvSpPr>
        <p:spPr>
          <a:xfrm>
            <a:off x="4678687" y="1887378"/>
            <a:ext cx="3543300" cy="3027600"/>
          </a:xfrm>
          <a:prstGeom prst="rect">
            <a:avLst/>
          </a:prstGeom>
        </p:spPr>
        <p:txBody>
          <a:bodyPr spcFirstLastPara="1" wrap="square" lIns="91425" tIns="91425" rIns="91425" bIns="91425" anchor="t" anchorCtr="0">
            <a:noAutofit/>
          </a:bodyPr>
          <a:lstStyle>
            <a:lvl1pPr marL="457189" lvl="0" indent="-342891" rtl="0">
              <a:spcBef>
                <a:spcPts val="600"/>
              </a:spcBef>
              <a:spcAft>
                <a:spcPts val="0"/>
              </a:spcAft>
              <a:buSzPts val="1800"/>
              <a:buChar char="●"/>
              <a:defRPr/>
            </a:lvl1pPr>
            <a:lvl2pPr marL="914377" lvl="1" indent="-342891" rtl="0">
              <a:spcBef>
                <a:spcPts val="0"/>
              </a:spcBef>
              <a:spcAft>
                <a:spcPts val="0"/>
              </a:spcAft>
              <a:buSzPts val="1800"/>
              <a:buChar char="○"/>
              <a:defRPr/>
            </a:lvl2pPr>
            <a:lvl3pPr marL="1371566" lvl="2" indent="-342891" rtl="0">
              <a:spcBef>
                <a:spcPts val="0"/>
              </a:spcBef>
              <a:spcAft>
                <a:spcPts val="0"/>
              </a:spcAft>
              <a:buSzPts val="1800"/>
              <a:buChar char="■"/>
              <a:defRPr/>
            </a:lvl3pPr>
            <a:lvl4pPr marL="1828754" lvl="3" indent="-342891" rtl="0">
              <a:spcBef>
                <a:spcPts val="0"/>
              </a:spcBef>
              <a:spcAft>
                <a:spcPts val="0"/>
              </a:spcAft>
              <a:buSzPts val="1800"/>
              <a:buChar char="●"/>
              <a:defRPr/>
            </a:lvl4pPr>
            <a:lvl5pPr marL="2285943" lvl="4" indent="-342891" rtl="0">
              <a:spcBef>
                <a:spcPts val="0"/>
              </a:spcBef>
              <a:spcAft>
                <a:spcPts val="0"/>
              </a:spcAft>
              <a:buSzPts val="1800"/>
              <a:buChar char="○"/>
              <a:defRPr/>
            </a:lvl5pPr>
            <a:lvl6pPr marL="2743131" lvl="5" indent="-342891" rtl="0">
              <a:spcBef>
                <a:spcPts val="0"/>
              </a:spcBef>
              <a:spcAft>
                <a:spcPts val="0"/>
              </a:spcAft>
              <a:buSzPts val="1800"/>
              <a:buChar char="■"/>
              <a:defRPr/>
            </a:lvl6pPr>
            <a:lvl7pPr marL="3200320" lvl="6" indent="-342891" rtl="0">
              <a:spcBef>
                <a:spcPts val="0"/>
              </a:spcBef>
              <a:spcAft>
                <a:spcPts val="0"/>
              </a:spcAft>
              <a:buSzPts val="1800"/>
              <a:buChar char="●"/>
              <a:defRPr/>
            </a:lvl7pPr>
            <a:lvl8pPr marL="3657509" lvl="7" indent="-342891" rtl="0">
              <a:spcBef>
                <a:spcPts val="0"/>
              </a:spcBef>
              <a:spcAft>
                <a:spcPts val="0"/>
              </a:spcAft>
              <a:buSzPts val="1800"/>
              <a:buChar char="○"/>
              <a:defRPr/>
            </a:lvl8pPr>
            <a:lvl9pPr marL="4114697" lvl="8" indent="-342891" rtl="0">
              <a:spcBef>
                <a:spcPts val="0"/>
              </a:spcBef>
              <a:spcAft>
                <a:spcPts val="0"/>
              </a:spcAft>
              <a:buSzPts val="1800"/>
              <a:buChar char="■"/>
              <a:defRPr/>
            </a:lvl9pPr>
          </a:lstStyle>
          <a:p>
            <a:endParaRPr/>
          </a:p>
        </p:txBody>
      </p:sp>
      <p:sp>
        <p:nvSpPr>
          <p:cNvPr id="31" name="Google Shape;31;p6"/>
          <p:cNvSpPr txBox="1">
            <a:spLocks noGrp="1"/>
          </p:cNvSpPr>
          <p:nvPr>
            <p:ph type="sldNum" idx="12"/>
          </p:nvPr>
        </p:nvSpPr>
        <p:spPr>
          <a:xfrm>
            <a:off x="8604401" y="4590300"/>
            <a:ext cx="539700" cy="5532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32"/>
        <p:cNvGrpSpPr/>
        <p:nvPr/>
      </p:nvGrpSpPr>
      <p:grpSpPr>
        <a:xfrm>
          <a:off x="0" y="0"/>
          <a:ext cx="0" cy="0"/>
          <a:chOff x="0" y="0"/>
          <a:chExt cx="0" cy="0"/>
        </a:xfrm>
      </p:grpSpPr>
      <p:sp>
        <p:nvSpPr>
          <p:cNvPr id="33" name="Google Shape;33;p7"/>
          <p:cNvSpPr/>
          <p:nvPr/>
        </p:nvSpPr>
        <p:spPr>
          <a:xfrm>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34;p7"/>
          <p:cNvSpPr txBox="1">
            <a:spLocks noGrp="1"/>
          </p:cNvSpPr>
          <p:nvPr>
            <p:ph type="title"/>
          </p:nvPr>
        </p:nvSpPr>
        <p:spPr>
          <a:xfrm>
            <a:off x="922001" y="891775"/>
            <a:ext cx="68661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5800"/>
              <a:buNone/>
              <a:defRPr/>
            </a:lvl1pPr>
            <a:lvl2pPr lvl="1" rtl="0">
              <a:spcBef>
                <a:spcPts val="0"/>
              </a:spcBef>
              <a:spcAft>
                <a:spcPts val="0"/>
              </a:spcAft>
              <a:buSzPts val="5800"/>
              <a:buNone/>
              <a:defRPr/>
            </a:lvl2pPr>
            <a:lvl3pPr lvl="2" rtl="0">
              <a:spcBef>
                <a:spcPts val="0"/>
              </a:spcBef>
              <a:spcAft>
                <a:spcPts val="0"/>
              </a:spcAft>
              <a:buSzPts val="5800"/>
              <a:buNone/>
              <a:defRPr/>
            </a:lvl3pPr>
            <a:lvl4pPr lvl="3" rtl="0">
              <a:spcBef>
                <a:spcPts val="0"/>
              </a:spcBef>
              <a:spcAft>
                <a:spcPts val="0"/>
              </a:spcAft>
              <a:buSzPts val="5800"/>
              <a:buNone/>
              <a:defRPr/>
            </a:lvl4pPr>
            <a:lvl5pPr lvl="4" rtl="0">
              <a:spcBef>
                <a:spcPts val="0"/>
              </a:spcBef>
              <a:spcAft>
                <a:spcPts val="0"/>
              </a:spcAft>
              <a:buSzPts val="5800"/>
              <a:buNone/>
              <a:defRPr/>
            </a:lvl5pPr>
            <a:lvl6pPr lvl="5" rtl="0">
              <a:spcBef>
                <a:spcPts val="0"/>
              </a:spcBef>
              <a:spcAft>
                <a:spcPts val="0"/>
              </a:spcAft>
              <a:buSzPts val="5800"/>
              <a:buNone/>
              <a:defRPr/>
            </a:lvl6pPr>
            <a:lvl7pPr lvl="6" rtl="0">
              <a:spcBef>
                <a:spcPts val="0"/>
              </a:spcBef>
              <a:spcAft>
                <a:spcPts val="0"/>
              </a:spcAft>
              <a:buSzPts val="5800"/>
              <a:buNone/>
              <a:defRPr/>
            </a:lvl7pPr>
            <a:lvl8pPr lvl="7" rtl="0">
              <a:spcBef>
                <a:spcPts val="0"/>
              </a:spcBef>
              <a:spcAft>
                <a:spcPts val="0"/>
              </a:spcAft>
              <a:buSzPts val="5800"/>
              <a:buNone/>
              <a:defRPr/>
            </a:lvl8pPr>
            <a:lvl9pPr lvl="8" rtl="0">
              <a:spcBef>
                <a:spcPts val="0"/>
              </a:spcBef>
              <a:spcAft>
                <a:spcPts val="0"/>
              </a:spcAft>
              <a:buSzPts val="5800"/>
              <a:buNone/>
              <a:defRPr/>
            </a:lvl9pPr>
          </a:lstStyle>
          <a:p>
            <a:endParaRPr/>
          </a:p>
        </p:txBody>
      </p:sp>
      <p:sp>
        <p:nvSpPr>
          <p:cNvPr id="35" name="Google Shape;35;p7"/>
          <p:cNvSpPr txBox="1">
            <a:spLocks noGrp="1"/>
          </p:cNvSpPr>
          <p:nvPr>
            <p:ph type="body" idx="1"/>
          </p:nvPr>
        </p:nvSpPr>
        <p:spPr>
          <a:xfrm>
            <a:off x="922000" y="1930500"/>
            <a:ext cx="2332200" cy="2919000"/>
          </a:xfrm>
          <a:prstGeom prst="rect">
            <a:avLst/>
          </a:prstGeom>
        </p:spPr>
        <p:txBody>
          <a:bodyPr spcFirstLastPara="1" wrap="square" lIns="91425" tIns="91425" rIns="91425" bIns="91425" anchor="t" anchorCtr="0">
            <a:noAutofit/>
          </a:bodyPr>
          <a:lstStyle>
            <a:lvl1pPr marL="457189" lvl="0" indent="-317492" rtl="0">
              <a:spcBef>
                <a:spcPts val="600"/>
              </a:spcBef>
              <a:spcAft>
                <a:spcPts val="0"/>
              </a:spcAft>
              <a:buSzPts val="1400"/>
              <a:buChar char="●"/>
              <a:defRPr sz="1400"/>
            </a:lvl1pPr>
            <a:lvl2pPr marL="914377" lvl="1" indent="-317492" rtl="0">
              <a:spcBef>
                <a:spcPts val="0"/>
              </a:spcBef>
              <a:spcAft>
                <a:spcPts val="0"/>
              </a:spcAft>
              <a:buSzPts val="1400"/>
              <a:buChar char="○"/>
              <a:defRPr sz="1400"/>
            </a:lvl2pPr>
            <a:lvl3pPr marL="1371566" lvl="2" indent="-317492" rtl="0">
              <a:spcBef>
                <a:spcPts val="0"/>
              </a:spcBef>
              <a:spcAft>
                <a:spcPts val="0"/>
              </a:spcAft>
              <a:buSzPts val="1400"/>
              <a:buChar char="■"/>
              <a:defRPr sz="1400"/>
            </a:lvl3pPr>
            <a:lvl4pPr marL="1828754" lvl="3" indent="-317492" rtl="0">
              <a:spcBef>
                <a:spcPts val="0"/>
              </a:spcBef>
              <a:spcAft>
                <a:spcPts val="0"/>
              </a:spcAft>
              <a:buSzPts val="1400"/>
              <a:buChar char="●"/>
              <a:defRPr sz="1400"/>
            </a:lvl4pPr>
            <a:lvl5pPr marL="2285943" lvl="4" indent="-317492" rtl="0">
              <a:spcBef>
                <a:spcPts val="0"/>
              </a:spcBef>
              <a:spcAft>
                <a:spcPts val="0"/>
              </a:spcAft>
              <a:buSzPts val="1400"/>
              <a:buChar char="○"/>
              <a:defRPr sz="1400"/>
            </a:lvl5pPr>
            <a:lvl6pPr marL="2743131" lvl="5" indent="-317492" rtl="0">
              <a:spcBef>
                <a:spcPts val="0"/>
              </a:spcBef>
              <a:spcAft>
                <a:spcPts val="0"/>
              </a:spcAft>
              <a:buSzPts val="1400"/>
              <a:buChar char="■"/>
              <a:defRPr sz="1400"/>
            </a:lvl6pPr>
            <a:lvl7pPr marL="3200320" lvl="6" indent="-317492" rtl="0">
              <a:spcBef>
                <a:spcPts val="0"/>
              </a:spcBef>
              <a:spcAft>
                <a:spcPts val="0"/>
              </a:spcAft>
              <a:buSzPts val="1400"/>
              <a:buChar char="●"/>
              <a:defRPr sz="1400"/>
            </a:lvl7pPr>
            <a:lvl8pPr marL="3657509" lvl="7" indent="-317492" rtl="0">
              <a:spcBef>
                <a:spcPts val="0"/>
              </a:spcBef>
              <a:spcAft>
                <a:spcPts val="0"/>
              </a:spcAft>
              <a:buSzPts val="1400"/>
              <a:buChar char="○"/>
              <a:defRPr sz="1400"/>
            </a:lvl8pPr>
            <a:lvl9pPr marL="4114697" lvl="8" indent="-317492" rtl="0">
              <a:spcBef>
                <a:spcPts val="0"/>
              </a:spcBef>
              <a:spcAft>
                <a:spcPts val="0"/>
              </a:spcAft>
              <a:buSzPts val="1400"/>
              <a:buChar char="■"/>
              <a:defRPr sz="1400"/>
            </a:lvl9pPr>
          </a:lstStyle>
          <a:p>
            <a:endParaRPr/>
          </a:p>
        </p:txBody>
      </p:sp>
      <p:sp>
        <p:nvSpPr>
          <p:cNvPr id="36" name="Google Shape;36;p7"/>
          <p:cNvSpPr txBox="1">
            <a:spLocks noGrp="1"/>
          </p:cNvSpPr>
          <p:nvPr>
            <p:ph type="body" idx="2"/>
          </p:nvPr>
        </p:nvSpPr>
        <p:spPr>
          <a:xfrm>
            <a:off x="3373779" y="1930500"/>
            <a:ext cx="2332200" cy="2919000"/>
          </a:xfrm>
          <a:prstGeom prst="rect">
            <a:avLst/>
          </a:prstGeom>
        </p:spPr>
        <p:txBody>
          <a:bodyPr spcFirstLastPara="1" wrap="square" lIns="91425" tIns="91425" rIns="91425" bIns="91425" anchor="t" anchorCtr="0">
            <a:noAutofit/>
          </a:bodyPr>
          <a:lstStyle>
            <a:lvl1pPr marL="457189" lvl="0" indent="-317492" rtl="0">
              <a:spcBef>
                <a:spcPts val="600"/>
              </a:spcBef>
              <a:spcAft>
                <a:spcPts val="0"/>
              </a:spcAft>
              <a:buSzPts val="1400"/>
              <a:buChar char="●"/>
              <a:defRPr sz="1400"/>
            </a:lvl1pPr>
            <a:lvl2pPr marL="914377" lvl="1" indent="-317492" rtl="0">
              <a:spcBef>
                <a:spcPts val="0"/>
              </a:spcBef>
              <a:spcAft>
                <a:spcPts val="0"/>
              </a:spcAft>
              <a:buSzPts val="1400"/>
              <a:buChar char="○"/>
              <a:defRPr sz="1400"/>
            </a:lvl2pPr>
            <a:lvl3pPr marL="1371566" lvl="2" indent="-317492" rtl="0">
              <a:spcBef>
                <a:spcPts val="0"/>
              </a:spcBef>
              <a:spcAft>
                <a:spcPts val="0"/>
              </a:spcAft>
              <a:buSzPts val="1400"/>
              <a:buChar char="■"/>
              <a:defRPr sz="1400"/>
            </a:lvl3pPr>
            <a:lvl4pPr marL="1828754" lvl="3" indent="-317492" rtl="0">
              <a:spcBef>
                <a:spcPts val="0"/>
              </a:spcBef>
              <a:spcAft>
                <a:spcPts val="0"/>
              </a:spcAft>
              <a:buSzPts val="1400"/>
              <a:buChar char="●"/>
              <a:defRPr sz="1400"/>
            </a:lvl4pPr>
            <a:lvl5pPr marL="2285943" lvl="4" indent="-317492" rtl="0">
              <a:spcBef>
                <a:spcPts val="0"/>
              </a:spcBef>
              <a:spcAft>
                <a:spcPts val="0"/>
              </a:spcAft>
              <a:buSzPts val="1400"/>
              <a:buChar char="○"/>
              <a:defRPr sz="1400"/>
            </a:lvl5pPr>
            <a:lvl6pPr marL="2743131" lvl="5" indent="-317492" rtl="0">
              <a:spcBef>
                <a:spcPts val="0"/>
              </a:spcBef>
              <a:spcAft>
                <a:spcPts val="0"/>
              </a:spcAft>
              <a:buSzPts val="1400"/>
              <a:buChar char="■"/>
              <a:defRPr sz="1400"/>
            </a:lvl6pPr>
            <a:lvl7pPr marL="3200320" lvl="6" indent="-317492" rtl="0">
              <a:spcBef>
                <a:spcPts val="0"/>
              </a:spcBef>
              <a:spcAft>
                <a:spcPts val="0"/>
              </a:spcAft>
              <a:buSzPts val="1400"/>
              <a:buChar char="●"/>
              <a:defRPr sz="1400"/>
            </a:lvl7pPr>
            <a:lvl8pPr marL="3657509" lvl="7" indent="-317492" rtl="0">
              <a:spcBef>
                <a:spcPts val="0"/>
              </a:spcBef>
              <a:spcAft>
                <a:spcPts val="0"/>
              </a:spcAft>
              <a:buSzPts val="1400"/>
              <a:buChar char="○"/>
              <a:defRPr sz="1400"/>
            </a:lvl8pPr>
            <a:lvl9pPr marL="4114697" lvl="8" indent="-317492" rtl="0">
              <a:spcBef>
                <a:spcPts val="0"/>
              </a:spcBef>
              <a:spcAft>
                <a:spcPts val="0"/>
              </a:spcAft>
              <a:buSzPts val="1400"/>
              <a:buChar char="■"/>
              <a:defRPr sz="1400"/>
            </a:lvl9pPr>
          </a:lstStyle>
          <a:p>
            <a:endParaRPr/>
          </a:p>
        </p:txBody>
      </p:sp>
      <p:sp>
        <p:nvSpPr>
          <p:cNvPr id="37" name="Google Shape;37;p7"/>
          <p:cNvSpPr txBox="1">
            <a:spLocks noGrp="1"/>
          </p:cNvSpPr>
          <p:nvPr>
            <p:ph type="body" idx="3"/>
          </p:nvPr>
        </p:nvSpPr>
        <p:spPr>
          <a:xfrm>
            <a:off x="5825557" y="1930500"/>
            <a:ext cx="2332200" cy="2919000"/>
          </a:xfrm>
          <a:prstGeom prst="rect">
            <a:avLst/>
          </a:prstGeom>
        </p:spPr>
        <p:txBody>
          <a:bodyPr spcFirstLastPara="1" wrap="square" lIns="91425" tIns="91425" rIns="91425" bIns="91425" anchor="t" anchorCtr="0">
            <a:noAutofit/>
          </a:bodyPr>
          <a:lstStyle>
            <a:lvl1pPr marL="457189" lvl="0" indent="-317492" rtl="0">
              <a:spcBef>
                <a:spcPts val="600"/>
              </a:spcBef>
              <a:spcAft>
                <a:spcPts val="0"/>
              </a:spcAft>
              <a:buSzPts val="1400"/>
              <a:buChar char="●"/>
              <a:defRPr sz="1400"/>
            </a:lvl1pPr>
            <a:lvl2pPr marL="914377" lvl="1" indent="-317492" rtl="0">
              <a:spcBef>
                <a:spcPts val="0"/>
              </a:spcBef>
              <a:spcAft>
                <a:spcPts val="0"/>
              </a:spcAft>
              <a:buSzPts val="1400"/>
              <a:buChar char="○"/>
              <a:defRPr sz="1400"/>
            </a:lvl2pPr>
            <a:lvl3pPr marL="1371566" lvl="2" indent="-317492" rtl="0">
              <a:spcBef>
                <a:spcPts val="0"/>
              </a:spcBef>
              <a:spcAft>
                <a:spcPts val="0"/>
              </a:spcAft>
              <a:buSzPts val="1400"/>
              <a:buChar char="■"/>
              <a:defRPr sz="1400"/>
            </a:lvl3pPr>
            <a:lvl4pPr marL="1828754" lvl="3" indent="-317492" rtl="0">
              <a:spcBef>
                <a:spcPts val="0"/>
              </a:spcBef>
              <a:spcAft>
                <a:spcPts val="0"/>
              </a:spcAft>
              <a:buSzPts val="1400"/>
              <a:buChar char="●"/>
              <a:defRPr sz="1400"/>
            </a:lvl4pPr>
            <a:lvl5pPr marL="2285943" lvl="4" indent="-317492" rtl="0">
              <a:spcBef>
                <a:spcPts val="0"/>
              </a:spcBef>
              <a:spcAft>
                <a:spcPts val="0"/>
              </a:spcAft>
              <a:buSzPts val="1400"/>
              <a:buChar char="○"/>
              <a:defRPr sz="1400"/>
            </a:lvl5pPr>
            <a:lvl6pPr marL="2743131" lvl="5" indent="-317492" rtl="0">
              <a:spcBef>
                <a:spcPts val="0"/>
              </a:spcBef>
              <a:spcAft>
                <a:spcPts val="0"/>
              </a:spcAft>
              <a:buSzPts val="1400"/>
              <a:buChar char="■"/>
              <a:defRPr sz="1400"/>
            </a:lvl6pPr>
            <a:lvl7pPr marL="3200320" lvl="6" indent="-317492" rtl="0">
              <a:spcBef>
                <a:spcPts val="0"/>
              </a:spcBef>
              <a:spcAft>
                <a:spcPts val="0"/>
              </a:spcAft>
              <a:buSzPts val="1400"/>
              <a:buChar char="●"/>
              <a:defRPr sz="1400"/>
            </a:lvl7pPr>
            <a:lvl8pPr marL="3657509" lvl="7" indent="-317492" rtl="0">
              <a:spcBef>
                <a:spcPts val="0"/>
              </a:spcBef>
              <a:spcAft>
                <a:spcPts val="0"/>
              </a:spcAft>
              <a:buSzPts val="1400"/>
              <a:buChar char="○"/>
              <a:defRPr sz="1400"/>
            </a:lvl8pPr>
            <a:lvl9pPr marL="4114697" lvl="8" indent="-317492" rtl="0">
              <a:spcBef>
                <a:spcPts val="0"/>
              </a:spcBef>
              <a:spcAft>
                <a:spcPts val="0"/>
              </a:spcAft>
              <a:buSzPts val="1400"/>
              <a:buChar char="■"/>
              <a:defRPr sz="1400"/>
            </a:lvl9pPr>
          </a:lstStyle>
          <a:p>
            <a:endParaRPr/>
          </a:p>
        </p:txBody>
      </p:sp>
      <p:sp>
        <p:nvSpPr>
          <p:cNvPr id="38" name="Google Shape;38;p7"/>
          <p:cNvSpPr txBox="1">
            <a:spLocks noGrp="1"/>
          </p:cNvSpPr>
          <p:nvPr>
            <p:ph type="sldNum" idx="12"/>
          </p:nvPr>
        </p:nvSpPr>
        <p:spPr>
          <a:xfrm>
            <a:off x="8604401" y="4590300"/>
            <a:ext cx="539700" cy="5532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8"/>
          <p:cNvSpPr/>
          <p:nvPr/>
        </p:nvSpPr>
        <p:spPr>
          <a:xfrm>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41;p8"/>
          <p:cNvSpPr txBox="1">
            <a:spLocks noGrp="1"/>
          </p:cNvSpPr>
          <p:nvPr>
            <p:ph type="title"/>
          </p:nvPr>
        </p:nvSpPr>
        <p:spPr>
          <a:xfrm>
            <a:off x="922001" y="891775"/>
            <a:ext cx="68661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5800"/>
              <a:buNone/>
              <a:defRPr/>
            </a:lvl1pPr>
            <a:lvl2pPr lvl="1" rtl="0">
              <a:spcBef>
                <a:spcPts val="0"/>
              </a:spcBef>
              <a:spcAft>
                <a:spcPts val="0"/>
              </a:spcAft>
              <a:buSzPts val="5800"/>
              <a:buNone/>
              <a:defRPr/>
            </a:lvl2pPr>
            <a:lvl3pPr lvl="2" rtl="0">
              <a:spcBef>
                <a:spcPts val="0"/>
              </a:spcBef>
              <a:spcAft>
                <a:spcPts val="0"/>
              </a:spcAft>
              <a:buSzPts val="5800"/>
              <a:buNone/>
              <a:defRPr/>
            </a:lvl3pPr>
            <a:lvl4pPr lvl="3" rtl="0">
              <a:spcBef>
                <a:spcPts val="0"/>
              </a:spcBef>
              <a:spcAft>
                <a:spcPts val="0"/>
              </a:spcAft>
              <a:buSzPts val="5800"/>
              <a:buNone/>
              <a:defRPr/>
            </a:lvl4pPr>
            <a:lvl5pPr lvl="4" rtl="0">
              <a:spcBef>
                <a:spcPts val="0"/>
              </a:spcBef>
              <a:spcAft>
                <a:spcPts val="0"/>
              </a:spcAft>
              <a:buSzPts val="5800"/>
              <a:buNone/>
              <a:defRPr/>
            </a:lvl5pPr>
            <a:lvl6pPr lvl="5" rtl="0">
              <a:spcBef>
                <a:spcPts val="0"/>
              </a:spcBef>
              <a:spcAft>
                <a:spcPts val="0"/>
              </a:spcAft>
              <a:buSzPts val="5800"/>
              <a:buNone/>
              <a:defRPr/>
            </a:lvl6pPr>
            <a:lvl7pPr lvl="6" rtl="0">
              <a:spcBef>
                <a:spcPts val="0"/>
              </a:spcBef>
              <a:spcAft>
                <a:spcPts val="0"/>
              </a:spcAft>
              <a:buSzPts val="5800"/>
              <a:buNone/>
              <a:defRPr/>
            </a:lvl7pPr>
            <a:lvl8pPr lvl="7" rtl="0">
              <a:spcBef>
                <a:spcPts val="0"/>
              </a:spcBef>
              <a:spcAft>
                <a:spcPts val="0"/>
              </a:spcAft>
              <a:buSzPts val="5800"/>
              <a:buNone/>
              <a:defRPr/>
            </a:lvl8pPr>
            <a:lvl9pPr lvl="8" rtl="0">
              <a:spcBef>
                <a:spcPts val="0"/>
              </a:spcBef>
              <a:spcAft>
                <a:spcPts val="0"/>
              </a:spcAft>
              <a:buSzPts val="5800"/>
              <a:buNone/>
              <a:defRPr/>
            </a:lvl9pPr>
          </a:lstStyle>
          <a:p>
            <a:endParaRPr/>
          </a:p>
        </p:txBody>
      </p:sp>
      <p:sp>
        <p:nvSpPr>
          <p:cNvPr id="42" name="Google Shape;42;p8"/>
          <p:cNvSpPr txBox="1">
            <a:spLocks noGrp="1"/>
          </p:cNvSpPr>
          <p:nvPr>
            <p:ph type="sldNum" idx="12"/>
          </p:nvPr>
        </p:nvSpPr>
        <p:spPr>
          <a:xfrm>
            <a:off x="8604401" y="4590300"/>
            <a:ext cx="539700" cy="5532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 Compact">
  <p:cSld name="TITLE_ONLY_1">
    <p:spTree>
      <p:nvGrpSpPr>
        <p:cNvPr id="1" name="Shape 43"/>
        <p:cNvGrpSpPr/>
        <p:nvPr/>
      </p:nvGrpSpPr>
      <p:grpSpPr>
        <a:xfrm>
          <a:off x="0" y="0"/>
          <a:ext cx="0" cy="0"/>
          <a:chOff x="0" y="0"/>
          <a:chExt cx="0" cy="0"/>
        </a:xfrm>
      </p:grpSpPr>
      <p:sp>
        <p:nvSpPr>
          <p:cNvPr id="44" name="Google Shape;44;p9"/>
          <p:cNvSpPr/>
          <p:nvPr/>
        </p:nvSpPr>
        <p:spPr>
          <a:xfrm>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45;p9"/>
          <p:cNvSpPr txBox="1">
            <a:spLocks noGrp="1"/>
          </p:cNvSpPr>
          <p:nvPr>
            <p:ph type="title"/>
          </p:nvPr>
        </p:nvSpPr>
        <p:spPr>
          <a:xfrm>
            <a:off x="922000" y="815575"/>
            <a:ext cx="72870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46" name="Google Shape;46;p9"/>
          <p:cNvSpPr txBox="1">
            <a:spLocks noGrp="1"/>
          </p:cNvSpPr>
          <p:nvPr>
            <p:ph type="sldNum" idx="12"/>
          </p:nvPr>
        </p:nvSpPr>
        <p:spPr>
          <a:xfrm>
            <a:off x="8604401" y="4590300"/>
            <a:ext cx="539700" cy="5532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10"/>
          <p:cNvSpPr/>
          <p:nvPr/>
        </p:nvSpPr>
        <p:spPr>
          <a:xfrm>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49;p10"/>
          <p:cNvSpPr txBox="1">
            <a:spLocks noGrp="1"/>
          </p:cNvSpPr>
          <p:nvPr>
            <p:ph type="body" idx="1"/>
          </p:nvPr>
        </p:nvSpPr>
        <p:spPr>
          <a:xfrm>
            <a:off x="457200" y="4253909"/>
            <a:ext cx="8229600" cy="519600"/>
          </a:xfrm>
          <a:prstGeom prst="rect">
            <a:avLst/>
          </a:prstGeom>
        </p:spPr>
        <p:txBody>
          <a:bodyPr spcFirstLastPara="1" wrap="square" lIns="91425" tIns="91425" rIns="91425" bIns="91425" anchor="t" anchorCtr="0">
            <a:noAutofit/>
          </a:bodyPr>
          <a:lstStyle>
            <a:lvl1pPr marL="457189" lvl="0" indent="-228594" algn="ctr" rtl="0">
              <a:spcBef>
                <a:spcPts val="360"/>
              </a:spcBef>
              <a:spcAft>
                <a:spcPts val="0"/>
              </a:spcAft>
              <a:buSzPts val="1400"/>
              <a:buNone/>
              <a:defRPr sz="1400"/>
            </a:lvl1pPr>
          </a:lstStyle>
          <a:p>
            <a:endParaRPr/>
          </a:p>
        </p:txBody>
      </p:sp>
      <p:sp>
        <p:nvSpPr>
          <p:cNvPr id="50" name="Google Shape;50;p10"/>
          <p:cNvSpPr txBox="1">
            <a:spLocks noGrp="1"/>
          </p:cNvSpPr>
          <p:nvPr>
            <p:ph type="sldNum" idx="12"/>
          </p:nvPr>
        </p:nvSpPr>
        <p:spPr>
          <a:xfrm>
            <a:off x="8604401" y="4590300"/>
            <a:ext cx="539700" cy="5532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Google Shape;52;p11"/>
          <p:cNvSpPr txBox="1">
            <a:spLocks noGrp="1"/>
          </p:cNvSpPr>
          <p:nvPr>
            <p:ph type="sldNum" idx="12"/>
          </p:nvPr>
        </p:nvSpPr>
        <p:spPr>
          <a:xfrm>
            <a:off x="8604401" y="4590300"/>
            <a:ext cx="539700" cy="5532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53" name="Google Shape;53;p11"/>
          <p:cNvSpPr/>
          <p:nvPr/>
        </p:nvSpPr>
        <p:spPr>
          <a:xfrm>
            <a:off x="390737"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lnk">
  <p:cSld name="CUSTOM">
    <p:spTree>
      <p:nvGrpSpPr>
        <p:cNvPr id="1" name="Shape 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55"/>
        <p:cNvGrpSpPr/>
        <p:nvPr/>
      </p:nvGrpSpPr>
      <p:grpSpPr>
        <a:xfrm>
          <a:off x="0" y="0"/>
          <a:ext cx="0" cy="0"/>
          <a:chOff x="0" y="0"/>
          <a:chExt cx="0" cy="0"/>
        </a:xfrm>
      </p:grpSpPr>
      <p:grpSp>
        <p:nvGrpSpPr>
          <p:cNvPr id="56" name="Google Shape;56;p13"/>
          <p:cNvGrpSpPr/>
          <p:nvPr/>
        </p:nvGrpSpPr>
        <p:grpSpPr>
          <a:xfrm>
            <a:off x="146770" y="3406"/>
            <a:ext cx="1233215" cy="1384535"/>
            <a:chOff x="146769" y="3406"/>
            <a:chExt cx="1233215" cy="1384535"/>
          </a:xfrm>
        </p:grpSpPr>
        <p:grpSp>
          <p:nvGrpSpPr>
            <p:cNvPr id="57" name="Google Shape;57;p13"/>
            <p:cNvGrpSpPr/>
            <p:nvPr/>
          </p:nvGrpSpPr>
          <p:grpSpPr>
            <a:xfrm>
              <a:off x="1063183" y="3406"/>
              <a:ext cx="316800" cy="688513"/>
              <a:chOff x="1063183" y="3406"/>
              <a:chExt cx="316800" cy="688513"/>
            </a:xfrm>
          </p:grpSpPr>
          <p:sp>
            <p:nvSpPr>
              <p:cNvPr id="58" name="Google Shape;58;p1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59;p1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60" name="Google Shape;60;p13"/>
            <p:cNvGrpSpPr/>
            <p:nvPr/>
          </p:nvGrpSpPr>
          <p:grpSpPr>
            <a:xfrm>
              <a:off x="604976" y="3406"/>
              <a:ext cx="316800" cy="1036524"/>
              <a:chOff x="604976" y="3406"/>
              <a:chExt cx="316800" cy="1036524"/>
            </a:xfrm>
          </p:grpSpPr>
          <p:sp>
            <p:nvSpPr>
              <p:cNvPr id="61" name="Google Shape;61;p1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 name="Google Shape;62;p1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63;p1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64" name="Google Shape;64;p13"/>
            <p:cNvGrpSpPr/>
            <p:nvPr/>
          </p:nvGrpSpPr>
          <p:grpSpPr>
            <a:xfrm>
              <a:off x="146769" y="3406"/>
              <a:ext cx="316800" cy="1384535"/>
              <a:chOff x="146769" y="3406"/>
              <a:chExt cx="316800" cy="1384535"/>
            </a:xfrm>
          </p:grpSpPr>
          <p:sp>
            <p:nvSpPr>
              <p:cNvPr id="65" name="Google Shape;65;p1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 name="Google Shape;66;p1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 name="Google Shape;67;p1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 name="Google Shape;68;p1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grpSp>
        <p:nvGrpSpPr>
          <p:cNvPr id="69" name="Google Shape;69;p13"/>
          <p:cNvGrpSpPr/>
          <p:nvPr/>
        </p:nvGrpSpPr>
        <p:grpSpPr>
          <a:xfrm>
            <a:off x="6775085" y="2904008"/>
            <a:ext cx="2186148" cy="2239500"/>
            <a:chOff x="6775084" y="2904008"/>
            <a:chExt cx="2186148" cy="2239500"/>
          </a:xfrm>
        </p:grpSpPr>
        <p:grpSp>
          <p:nvGrpSpPr>
            <p:cNvPr id="70" name="Google Shape;70;p13"/>
            <p:cNvGrpSpPr/>
            <p:nvPr/>
          </p:nvGrpSpPr>
          <p:grpSpPr>
            <a:xfrm>
              <a:off x="6775084" y="4253708"/>
              <a:ext cx="409500" cy="889800"/>
              <a:chOff x="6775084" y="4253708"/>
              <a:chExt cx="409500" cy="889800"/>
            </a:xfrm>
          </p:grpSpPr>
          <p:sp>
            <p:nvSpPr>
              <p:cNvPr id="71" name="Google Shape;71;p1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 name="Google Shape;72;p1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73" name="Google Shape;73;p13"/>
            <p:cNvGrpSpPr/>
            <p:nvPr/>
          </p:nvGrpSpPr>
          <p:grpSpPr>
            <a:xfrm>
              <a:off x="7367299" y="3804008"/>
              <a:ext cx="409500" cy="1339500"/>
              <a:chOff x="7367299" y="3804008"/>
              <a:chExt cx="409500" cy="1339500"/>
            </a:xfrm>
          </p:grpSpPr>
          <p:sp>
            <p:nvSpPr>
              <p:cNvPr id="74" name="Google Shape;74;p1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 name="Google Shape;75;p1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 name="Google Shape;76;p1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77" name="Google Shape;77;p13"/>
            <p:cNvGrpSpPr/>
            <p:nvPr/>
          </p:nvGrpSpPr>
          <p:grpSpPr>
            <a:xfrm>
              <a:off x="7959516" y="3354008"/>
              <a:ext cx="409500" cy="1789500"/>
              <a:chOff x="7959516" y="3354008"/>
              <a:chExt cx="409500" cy="1789500"/>
            </a:xfrm>
          </p:grpSpPr>
          <p:sp>
            <p:nvSpPr>
              <p:cNvPr id="78" name="Google Shape;78;p1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 name="Google Shape;79;p1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 name="Google Shape;80;p1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 name="Google Shape;81;p1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82" name="Google Shape;82;p13"/>
            <p:cNvGrpSpPr/>
            <p:nvPr/>
          </p:nvGrpSpPr>
          <p:grpSpPr>
            <a:xfrm>
              <a:off x="8551731" y="2904008"/>
              <a:ext cx="409500" cy="2239500"/>
              <a:chOff x="8551731" y="2904008"/>
              <a:chExt cx="409500" cy="2239500"/>
            </a:xfrm>
          </p:grpSpPr>
          <p:sp>
            <p:nvSpPr>
              <p:cNvPr id="83" name="Google Shape;83;p1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84;p1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 name="Google Shape;85;p1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 name="Google Shape;86;p1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87;p1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sp>
        <p:nvSpPr>
          <p:cNvPr id="88" name="Google Shape;88;p1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89" name="Google Shape;89;p13"/>
          <p:cNvSpPr txBox="1">
            <a:spLocks noGrp="1"/>
          </p:cNvSpPr>
          <p:nvPr>
            <p:ph type="sldNum" idx="12"/>
          </p:nvPr>
        </p:nvSpPr>
        <p:spPr>
          <a:xfrm>
            <a:off x="8451047" y="4736976"/>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90"/>
        <p:cNvGrpSpPr/>
        <p:nvPr/>
      </p:nvGrpSpPr>
      <p:grpSpPr>
        <a:xfrm>
          <a:off x="0" y="0"/>
          <a:ext cx="0" cy="0"/>
          <a:chOff x="0" y="0"/>
          <a:chExt cx="0" cy="0"/>
        </a:xfrm>
      </p:grpSpPr>
      <p:grpSp>
        <p:nvGrpSpPr>
          <p:cNvPr id="91" name="Google Shape;91;p14"/>
          <p:cNvGrpSpPr/>
          <p:nvPr/>
        </p:nvGrpSpPr>
        <p:grpSpPr>
          <a:xfrm>
            <a:off x="6866715" y="1306"/>
            <a:ext cx="2267451" cy="2601690"/>
            <a:chOff x="6790514" y="1306"/>
            <a:chExt cx="2267451" cy="2601690"/>
          </a:xfrm>
        </p:grpSpPr>
        <p:grpSp>
          <p:nvGrpSpPr>
            <p:cNvPr id="92" name="Google Shape;92;p14"/>
            <p:cNvGrpSpPr/>
            <p:nvPr/>
          </p:nvGrpSpPr>
          <p:grpSpPr>
            <a:xfrm>
              <a:off x="7067465" y="1306"/>
              <a:ext cx="1990500" cy="1990200"/>
              <a:chOff x="7067465" y="1306"/>
              <a:chExt cx="1990500" cy="1990200"/>
            </a:xfrm>
          </p:grpSpPr>
          <p:sp>
            <p:nvSpPr>
              <p:cNvPr id="93" name="Google Shape;93;p14"/>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 name="Google Shape;94;p14"/>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 name="Google Shape;95;p14"/>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96" name="Google Shape;96;p14"/>
            <p:cNvGrpSpPr/>
            <p:nvPr/>
          </p:nvGrpSpPr>
          <p:grpSpPr>
            <a:xfrm>
              <a:off x="8207126" y="1807996"/>
              <a:ext cx="795000" cy="795000"/>
              <a:chOff x="8207126" y="1807996"/>
              <a:chExt cx="795000" cy="795000"/>
            </a:xfrm>
          </p:grpSpPr>
          <p:sp>
            <p:nvSpPr>
              <p:cNvPr id="97" name="Google Shape;97;p14"/>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 name="Google Shape;98;p14"/>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 name="Google Shape;99;p14"/>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00" name="Google Shape;100;p14"/>
            <p:cNvGrpSpPr/>
            <p:nvPr/>
          </p:nvGrpSpPr>
          <p:grpSpPr>
            <a:xfrm>
              <a:off x="6790514" y="118857"/>
              <a:ext cx="548700" cy="548700"/>
              <a:chOff x="6790514" y="118857"/>
              <a:chExt cx="548700" cy="548700"/>
            </a:xfrm>
          </p:grpSpPr>
          <p:sp>
            <p:nvSpPr>
              <p:cNvPr id="101" name="Google Shape;101;p14"/>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 name="Google Shape;102;p14"/>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sp>
        <p:nvSpPr>
          <p:cNvPr id="103" name="Google Shape;103;p14"/>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04" name="Google Shape;104;p14"/>
          <p:cNvSpPr txBox="1">
            <a:spLocks noGrp="1"/>
          </p:cNvSpPr>
          <p:nvPr>
            <p:ph type="sldNum" idx="12"/>
          </p:nvPr>
        </p:nvSpPr>
        <p:spPr>
          <a:xfrm>
            <a:off x="8451047" y="4736976"/>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2">
  <p:cSld name="TITLE_2">
    <p:bg>
      <p:bgPr>
        <a:solidFill>
          <a:schemeClr val="accent3"/>
        </a:solidFill>
        <a:effectLst/>
      </p:bgPr>
    </p:bg>
    <p:spTree>
      <p:nvGrpSpPr>
        <p:cNvPr id="1" name="Shape 105"/>
        <p:cNvGrpSpPr/>
        <p:nvPr/>
      </p:nvGrpSpPr>
      <p:grpSpPr>
        <a:xfrm>
          <a:off x="0" y="0"/>
          <a:ext cx="0" cy="0"/>
          <a:chOff x="0" y="0"/>
          <a:chExt cx="0" cy="0"/>
        </a:xfrm>
      </p:grpSpPr>
      <p:grpSp>
        <p:nvGrpSpPr>
          <p:cNvPr id="106" name="Google Shape;106;p15"/>
          <p:cNvGrpSpPr/>
          <p:nvPr/>
        </p:nvGrpSpPr>
        <p:grpSpPr>
          <a:xfrm>
            <a:off x="7343003" y="3409675"/>
            <a:ext cx="1691423" cy="1732548"/>
            <a:chOff x="7343003" y="3409675"/>
            <a:chExt cx="1691422" cy="1732548"/>
          </a:xfrm>
        </p:grpSpPr>
        <p:grpSp>
          <p:nvGrpSpPr>
            <p:cNvPr id="107" name="Google Shape;107;p15"/>
            <p:cNvGrpSpPr/>
            <p:nvPr/>
          </p:nvGrpSpPr>
          <p:grpSpPr>
            <a:xfrm>
              <a:off x="7343003" y="4453711"/>
              <a:ext cx="316800" cy="688513"/>
              <a:chOff x="7343003" y="4453711"/>
              <a:chExt cx="316800" cy="688513"/>
            </a:xfrm>
          </p:grpSpPr>
          <p:sp>
            <p:nvSpPr>
              <p:cNvPr id="108" name="Google Shape;108;p15"/>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 name="Google Shape;109;p15"/>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10" name="Google Shape;110;p15"/>
            <p:cNvGrpSpPr/>
            <p:nvPr/>
          </p:nvGrpSpPr>
          <p:grpSpPr>
            <a:xfrm>
              <a:off x="7801210" y="4105700"/>
              <a:ext cx="316800" cy="1036523"/>
              <a:chOff x="7801210" y="4105700"/>
              <a:chExt cx="316800" cy="1036523"/>
            </a:xfrm>
          </p:grpSpPr>
          <p:sp>
            <p:nvSpPr>
              <p:cNvPr id="111" name="Google Shape;111;p15"/>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 name="Google Shape;112;p15"/>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 name="Google Shape;113;p15"/>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14" name="Google Shape;114;p15"/>
            <p:cNvGrpSpPr/>
            <p:nvPr/>
          </p:nvGrpSpPr>
          <p:grpSpPr>
            <a:xfrm>
              <a:off x="8259418" y="3757688"/>
              <a:ext cx="316800" cy="1384535"/>
              <a:chOff x="8259418" y="3757688"/>
              <a:chExt cx="316800" cy="1384535"/>
            </a:xfrm>
          </p:grpSpPr>
          <p:sp>
            <p:nvSpPr>
              <p:cNvPr id="115" name="Google Shape;115;p15"/>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 name="Google Shape;116;p15"/>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 name="Google Shape;117;p15"/>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 name="Google Shape;118;p15"/>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19" name="Google Shape;119;p15"/>
            <p:cNvGrpSpPr/>
            <p:nvPr/>
          </p:nvGrpSpPr>
          <p:grpSpPr>
            <a:xfrm>
              <a:off x="8717625" y="3409675"/>
              <a:ext cx="316800" cy="1732548"/>
              <a:chOff x="8717625" y="3409675"/>
              <a:chExt cx="316800" cy="1732548"/>
            </a:xfrm>
          </p:grpSpPr>
          <p:sp>
            <p:nvSpPr>
              <p:cNvPr id="120" name="Google Shape;120;p15"/>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 name="Google Shape;121;p15"/>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 name="Google Shape;122;p15"/>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 name="Google Shape;123;p15"/>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 name="Google Shape;124;p15"/>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grpSp>
        <p:nvGrpSpPr>
          <p:cNvPr id="125" name="Google Shape;125;p15"/>
          <p:cNvGrpSpPr/>
          <p:nvPr/>
        </p:nvGrpSpPr>
        <p:grpSpPr>
          <a:xfrm>
            <a:off x="5043503" y="0"/>
            <a:ext cx="3814072" cy="3839102"/>
            <a:chOff x="5043503" y="0"/>
            <a:chExt cx="3814072" cy="3839102"/>
          </a:xfrm>
        </p:grpSpPr>
        <p:sp>
          <p:nvSpPr>
            <p:cNvPr id="126" name="Google Shape;126;p15"/>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 name="Google Shape;127;p15"/>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nvGrpSpPr>
            <p:cNvPr id="128" name="Google Shape;128;p15"/>
            <p:cNvGrpSpPr/>
            <p:nvPr/>
          </p:nvGrpSpPr>
          <p:grpSpPr>
            <a:xfrm>
              <a:off x="7647812" y="2704283"/>
              <a:ext cx="635219" cy="635219"/>
              <a:chOff x="6725724" y="2701260"/>
              <a:chExt cx="1208101" cy="1208100"/>
            </a:xfrm>
          </p:grpSpPr>
          <p:sp>
            <p:nvSpPr>
              <p:cNvPr id="129" name="Google Shape;129;p15"/>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 name="Google Shape;130;p15"/>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 name="Google Shape;131;p15"/>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
          <p:nvSpPr>
            <p:cNvPr id="132" name="Google Shape;132;p15"/>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nvGrpSpPr>
            <p:cNvPr id="133" name="Google Shape;133;p15"/>
            <p:cNvGrpSpPr/>
            <p:nvPr/>
          </p:nvGrpSpPr>
          <p:grpSpPr>
            <a:xfrm>
              <a:off x="7952720" y="179238"/>
              <a:ext cx="873165" cy="873003"/>
              <a:chOff x="7754428" y="208725"/>
              <a:chExt cx="541800" cy="541800"/>
            </a:xfrm>
          </p:grpSpPr>
          <p:sp>
            <p:nvSpPr>
              <p:cNvPr id="134" name="Google Shape;134;p15"/>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 name="Google Shape;135;p15"/>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
          <p:nvSpPr>
            <p:cNvPr id="136" name="Google Shape;136;p15"/>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 name="Google Shape;137;p15"/>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 name="Google Shape;138;p15"/>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 name="Google Shape;139;p15"/>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 name="Google Shape;140;p15"/>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 name="Google Shape;141;p15"/>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
        <p:nvSpPr>
          <p:cNvPr id="142" name="Google Shape;142;p15"/>
          <p:cNvSpPr txBox="1">
            <a:spLocks noGrp="1"/>
          </p:cNvSpPr>
          <p:nvPr>
            <p:ph type="ctrTitle"/>
          </p:nvPr>
        </p:nvSpPr>
        <p:spPr>
          <a:xfrm>
            <a:off x="824001" y="1613813"/>
            <a:ext cx="4255500" cy="1872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43" name="Google Shape;143;p15"/>
          <p:cNvSpPr txBox="1">
            <a:spLocks noGrp="1"/>
          </p:cNvSpPr>
          <p:nvPr>
            <p:ph type="subTitle" idx="1"/>
          </p:nvPr>
        </p:nvSpPr>
        <p:spPr>
          <a:xfrm>
            <a:off x="824001" y="3596300"/>
            <a:ext cx="4255500" cy="6954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44" name="Google Shape;144;p15"/>
          <p:cNvSpPr txBox="1">
            <a:spLocks noGrp="1"/>
          </p:cNvSpPr>
          <p:nvPr>
            <p:ph type="sldNum" idx="12"/>
          </p:nvPr>
        </p:nvSpPr>
        <p:spPr>
          <a:xfrm>
            <a:off x="8451047" y="4736976"/>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5"/>
        <p:cNvGrpSpPr/>
        <p:nvPr/>
      </p:nvGrpSpPr>
      <p:grpSpPr>
        <a:xfrm>
          <a:off x="0" y="0"/>
          <a:ext cx="0" cy="0"/>
          <a:chOff x="0" y="0"/>
          <a:chExt cx="0" cy="0"/>
        </a:xfrm>
      </p:grpSpPr>
      <p:grpSp>
        <p:nvGrpSpPr>
          <p:cNvPr id="146" name="Google Shape;146;p16"/>
          <p:cNvGrpSpPr/>
          <p:nvPr/>
        </p:nvGrpSpPr>
        <p:grpSpPr>
          <a:xfrm>
            <a:off x="53" y="4099200"/>
            <a:ext cx="9144036" cy="1044300"/>
            <a:chOff x="52" y="4099200"/>
            <a:chExt cx="9144036" cy="1044300"/>
          </a:xfrm>
        </p:grpSpPr>
        <p:grpSp>
          <p:nvGrpSpPr>
            <p:cNvPr id="147" name="Google Shape;147;p16"/>
            <p:cNvGrpSpPr/>
            <p:nvPr/>
          </p:nvGrpSpPr>
          <p:grpSpPr>
            <a:xfrm>
              <a:off x="52" y="4309200"/>
              <a:ext cx="231622" cy="834300"/>
              <a:chOff x="2688737" y="4301380"/>
              <a:chExt cx="231900" cy="834300"/>
            </a:xfrm>
          </p:grpSpPr>
          <p:sp>
            <p:nvSpPr>
              <p:cNvPr id="148" name="Google Shape;148;p16"/>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 name="Google Shape;149;p16"/>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 name="Google Shape;150;p16"/>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 name="Google Shape;151;p16"/>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52" name="Google Shape;152;p16"/>
            <p:cNvGrpSpPr/>
            <p:nvPr/>
          </p:nvGrpSpPr>
          <p:grpSpPr>
            <a:xfrm>
              <a:off x="371406" y="4099200"/>
              <a:ext cx="231622" cy="1044300"/>
              <a:chOff x="2688737" y="4091380"/>
              <a:chExt cx="231900" cy="1044300"/>
            </a:xfrm>
          </p:grpSpPr>
          <p:sp>
            <p:nvSpPr>
              <p:cNvPr id="153" name="Google Shape;153;p16"/>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 name="Google Shape;154;p16"/>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 name="Google Shape;155;p16"/>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 name="Google Shape;156;p16"/>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 name="Google Shape;157;p16"/>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58" name="Google Shape;158;p16"/>
            <p:cNvGrpSpPr/>
            <p:nvPr/>
          </p:nvGrpSpPr>
          <p:grpSpPr>
            <a:xfrm>
              <a:off x="742761" y="4309200"/>
              <a:ext cx="231622" cy="834300"/>
              <a:chOff x="2688737" y="4301380"/>
              <a:chExt cx="231900" cy="834300"/>
            </a:xfrm>
          </p:grpSpPr>
          <p:sp>
            <p:nvSpPr>
              <p:cNvPr id="159" name="Google Shape;159;p16"/>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 name="Google Shape;160;p16"/>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 name="Google Shape;161;p16"/>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 name="Google Shape;162;p16"/>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63" name="Google Shape;163;p16"/>
            <p:cNvGrpSpPr/>
            <p:nvPr/>
          </p:nvGrpSpPr>
          <p:grpSpPr>
            <a:xfrm>
              <a:off x="1114115" y="4518900"/>
              <a:ext cx="231622" cy="624600"/>
              <a:chOff x="2688737" y="4511080"/>
              <a:chExt cx="231900" cy="624600"/>
            </a:xfrm>
          </p:grpSpPr>
          <p:sp>
            <p:nvSpPr>
              <p:cNvPr id="164" name="Google Shape;164;p16"/>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 name="Google Shape;165;p16"/>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 name="Google Shape;166;p16"/>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67" name="Google Shape;167;p16"/>
            <p:cNvGrpSpPr/>
            <p:nvPr/>
          </p:nvGrpSpPr>
          <p:grpSpPr>
            <a:xfrm>
              <a:off x="1856753" y="4099200"/>
              <a:ext cx="231600" cy="1044300"/>
              <a:chOff x="1856753" y="4099200"/>
              <a:chExt cx="231600" cy="1044300"/>
            </a:xfrm>
          </p:grpSpPr>
          <p:sp>
            <p:nvSpPr>
              <p:cNvPr id="168" name="Google Shape;168;p16"/>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 name="Google Shape;169;p16"/>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 name="Google Shape;170;p16"/>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 name="Google Shape;171;p16"/>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 name="Google Shape;172;p16"/>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73" name="Google Shape;173;p16"/>
            <p:cNvGrpSpPr/>
            <p:nvPr/>
          </p:nvGrpSpPr>
          <p:grpSpPr>
            <a:xfrm>
              <a:off x="2228107" y="4309200"/>
              <a:ext cx="231600" cy="834300"/>
              <a:chOff x="2228107" y="4309200"/>
              <a:chExt cx="231600" cy="834300"/>
            </a:xfrm>
          </p:grpSpPr>
          <p:sp>
            <p:nvSpPr>
              <p:cNvPr id="174" name="Google Shape;174;p16"/>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 name="Google Shape;175;p16"/>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 name="Google Shape;176;p16"/>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 name="Google Shape;177;p16"/>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78" name="Google Shape;178;p16"/>
            <p:cNvGrpSpPr/>
            <p:nvPr/>
          </p:nvGrpSpPr>
          <p:grpSpPr>
            <a:xfrm>
              <a:off x="2599462" y="4518900"/>
              <a:ext cx="231600" cy="624600"/>
              <a:chOff x="2599462" y="4518900"/>
              <a:chExt cx="231600" cy="624600"/>
            </a:xfrm>
          </p:grpSpPr>
          <p:sp>
            <p:nvSpPr>
              <p:cNvPr id="179" name="Google Shape;179;p16"/>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 name="Google Shape;180;p16"/>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 name="Google Shape;181;p16"/>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82" name="Google Shape;182;p16"/>
            <p:cNvGrpSpPr/>
            <p:nvPr/>
          </p:nvGrpSpPr>
          <p:grpSpPr>
            <a:xfrm>
              <a:off x="3342171" y="4099200"/>
              <a:ext cx="231600" cy="1044300"/>
              <a:chOff x="3342171" y="4099200"/>
              <a:chExt cx="231600" cy="1044300"/>
            </a:xfrm>
          </p:grpSpPr>
          <p:sp>
            <p:nvSpPr>
              <p:cNvPr id="183" name="Google Shape;183;p16"/>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 name="Google Shape;184;p16"/>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 name="Google Shape;185;p16"/>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 name="Google Shape;186;p16"/>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 name="Google Shape;187;p16"/>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88" name="Google Shape;188;p16"/>
            <p:cNvGrpSpPr/>
            <p:nvPr/>
          </p:nvGrpSpPr>
          <p:grpSpPr>
            <a:xfrm>
              <a:off x="3713525" y="4309200"/>
              <a:ext cx="231600" cy="834300"/>
              <a:chOff x="3713525" y="4309200"/>
              <a:chExt cx="231600" cy="834300"/>
            </a:xfrm>
          </p:grpSpPr>
          <p:sp>
            <p:nvSpPr>
              <p:cNvPr id="189" name="Google Shape;189;p16"/>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 name="Google Shape;190;p16"/>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 name="Google Shape;191;p16"/>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 name="Google Shape;192;p16"/>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93" name="Google Shape;193;p16"/>
            <p:cNvGrpSpPr/>
            <p:nvPr/>
          </p:nvGrpSpPr>
          <p:grpSpPr>
            <a:xfrm>
              <a:off x="1485398" y="4309200"/>
              <a:ext cx="231600" cy="834300"/>
              <a:chOff x="1485398" y="4309200"/>
              <a:chExt cx="231600" cy="834300"/>
            </a:xfrm>
          </p:grpSpPr>
          <p:sp>
            <p:nvSpPr>
              <p:cNvPr id="194" name="Google Shape;194;p16"/>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 name="Google Shape;195;p16"/>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 name="Google Shape;196;p16"/>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 name="Google Shape;197;p16"/>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98" name="Google Shape;198;p16"/>
            <p:cNvGrpSpPr/>
            <p:nvPr/>
          </p:nvGrpSpPr>
          <p:grpSpPr>
            <a:xfrm>
              <a:off x="4084879" y="4518900"/>
              <a:ext cx="231600" cy="624600"/>
              <a:chOff x="4084879" y="4518900"/>
              <a:chExt cx="231600" cy="624600"/>
            </a:xfrm>
          </p:grpSpPr>
          <p:sp>
            <p:nvSpPr>
              <p:cNvPr id="199" name="Google Shape;199;p16"/>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 name="Google Shape;200;p16"/>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 name="Google Shape;201;p16"/>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02" name="Google Shape;202;p16"/>
            <p:cNvGrpSpPr/>
            <p:nvPr/>
          </p:nvGrpSpPr>
          <p:grpSpPr>
            <a:xfrm>
              <a:off x="2970816" y="4309200"/>
              <a:ext cx="231600" cy="834300"/>
              <a:chOff x="2970816" y="4309200"/>
              <a:chExt cx="231600" cy="834300"/>
            </a:xfrm>
          </p:grpSpPr>
          <p:sp>
            <p:nvSpPr>
              <p:cNvPr id="203" name="Google Shape;203;p16"/>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 name="Google Shape;204;p16"/>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 name="Google Shape;205;p16"/>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 name="Google Shape;206;p16"/>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07" name="Google Shape;207;p16"/>
            <p:cNvGrpSpPr/>
            <p:nvPr/>
          </p:nvGrpSpPr>
          <p:grpSpPr>
            <a:xfrm>
              <a:off x="4456234" y="4309200"/>
              <a:ext cx="231600" cy="834300"/>
              <a:chOff x="4456234" y="4309200"/>
              <a:chExt cx="231600" cy="834300"/>
            </a:xfrm>
          </p:grpSpPr>
          <p:sp>
            <p:nvSpPr>
              <p:cNvPr id="208" name="Google Shape;208;p16"/>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 name="Google Shape;209;p16"/>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 name="Google Shape;210;p16"/>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 name="Google Shape;211;p16"/>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12" name="Google Shape;212;p16"/>
            <p:cNvGrpSpPr/>
            <p:nvPr/>
          </p:nvGrpSpPr>
          <p:grpSpPr>
            <a:xfrm>
              <a:off x="4827588" y="4099200"/>
              <a:ext cx="231600" cy="1044300"/>
              <a:chOff x="4827588" y="4099200"/>
              <a:chExt cx="231600" cy="1044300"/>
            </a:xfrm>
          </p:grpSpPr>
          <p:sp>
            <p:nvSpPr>
              <p:cNvPr id="213" name="Google Shape;213;p16"/>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 name="Google Shape;214;p16"/>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 name="Google Shape;215;p16"/>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 name="Google Shape;216;p16"/>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 name="Google Shape;217;p16"/>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18" name="Google Shape;218;p16"/>
            <p:cNvGrpSpPr/>
            <p:nvPr/>
          </p:nvGrpSpPr>
          <p:grpSpPr>
            <a:xfrm>
              <a:off x="5198943" y="4309200"/>
              <a:ext cx="231600" cy="834300"/>
              <a:chOff x="5198943" y="4309200"/>
              <a:chExt cx="231600" cy="834300"/>
            </a:xfrm>
          </p:grpSpPr>
          <p:sp>
            <p:nvSpPr>
              <p:cNvPr id="219" name="Google Shape;219;p16"/>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 name="Google Shape;220;p16"/>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 name="Google Shape;221;p16"/>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 name="Google Shape;222;p16"/>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23" name="Google Shape;223;p16"/>
            <p:cNvGrpSpPr/>
            <p:nvPr/>
          </p:nvGrpSpPr>
          <p:grpSpPr>
            <a:xfrm>
              <a:off x="5570297" y="4518900"/>
              <a:ext cx="231600" cy="624600"/>
              <a:chOff x="5570297" y="4518900"/>
              <a:chExt cx="231600" cy="624600"/>
            </a:xfrm>
          </p:grpSpPr>
          <p:sp>
            <p:nvSpPr>
              <p:cNvPr id="224" name="Google Shape;224;p16"/>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 name="Google Shape;225;p16"/>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 name="Google Shape;226;p16"/>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27" name="Google Shape;227;p16"/>
            <p:cNvGrpSpPr/>
            <p:nvPr/>
          </p:nvGrpSpPr>
          <p:grpSpPr>
            <a:xfrm>
              <a:off x="5941652" y="4309200"/>
              <a:ext cx="231600" cy="834300"/>
              <a:chOff x="5941652" y="4309200"/>
              <a:chExt cx="231600" cy="834300"/>
            </a:xfrm>
          </p:grpSpPr>
          <p:sp>
            <p:nvSpPr>
              <p:cNvPr id="228" name="Google Shape;228;p16"/>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 name="Google Shape;229;p16"/>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 name="Google Shape;230;p16"/>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 name="Google Shape;231;p16"/>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32" name="Google Shape;232;p16"/>
            <p:cNvGrpSpPr/>
            <p:nvPr/>
          </p:nvGrpSpPr>
          <p:grpSpPr>
            <a:xfrm>
              <a:off x="6313006" y="4099200"/>
              <a:ext cx="231600" cy="1044300"/>
              <a:chOff x="6313006" y="4099200"/>
              <a:chExt cx="231600" cy="1044300"/>
            </a:xfrm>
          </p:grpSpPr>
          <p:sp>
            <p:nvSpPr>
              <p:cNvPr id="233" name="Google Shape;233;p16"/>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 name="Google Shape;234;p16"/>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 name="Google Shape;235;p16"/>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 name="Google Shape;236;p16"/>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 name="Google Shape;237;p16"/>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38" name="Google Shape;238;p16"/>
            <p:cNvGrpSpPr/>
            <p:nvPr/>
          </p:nvGrpSpPr>
          <p:grpSpPr>
            <a:xfrm>
              <a:off x="6684361" y="4309200"/>
              <a:ext cx="231600" cy="834300"/>
              <a:chOff x="6684361" y="4309200"/>
              <a:chExt cx="231600" cy="834300"/>
            </a:xfrm>
          </p:grpSpPr>
          <p:sp>
            <p:nvSpPr>
              <p:cNvPr id="239" name="Google Shape;239;p16"/>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 name="Google Shape;240;p16"/>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 name="Google Shape;241;p16"/>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 name="Google Shape;242;p16"/>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43" name="Google Shape;243;p16"/>
            <p:cNvGrpSpPr/>
            <p:nvPr/>
          </p:nvGrpSpPr>
          <p:grpSpPr>
            <a:xfrm>
              <a:off x="7055715" y="4518900"/>
              <a:ext cx="231600" cy="624600"/>
              <a:chOff x="7055715" y="4518900"/>
              <a:chExt cx="231600" cy="624600"/>
            </a:xfrm>
          </p:grpSpPr>
          <p:sp>
            <p:nvSpPr>
              <p:cNvPr id="244" name="Google Shape;244;p16"/>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 name="Google Shape;245;p16"/>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 name="Google Shape;246;p16"/>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47" name="Google Shape;247;p16"/>
            <p:cNvGrpSpPr/>
            <p:nvPr/>
          </p:nvGrpSpPr>
          <p:grpSpPr>
            <a:xfrm>
              <a:off x="7798424" y="4099200"/>
              <a:ext cx="231600" cy="1044300"/>
              <a:chOff x="7798424" y="4099200"/>
              <a:chExt cx="231600" cy="1044300"/>
            </a:xfrm>
          </p:grpSpPr>
          <p:sp>
            <p:nvSpPr>
              <p:cNvPr id="248" name="Google Shape;248;p16"/>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 name="Google Shape;249;p16"/>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 name="Google Shape;250;p16"/>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 name="Google Shape;251;p16"/>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 name="Google Shape;252;p16"/>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53" name="Google Shape;253;p16"/>
            <p:cNvGrpSpPr/>
            <p:nvPr/>
          </p:nvGrpSpPr>
          <p:grpSpPr>
            <a:xfrm>
              <a:off x="8169779" y="4309200"/>
              <a:ext cx="231600" cy="834300"/>
              <a:chOff x="8169779" y="4309200"/>
              <a:chExt cx="231600" cy="834300"/>
            </a:xfrm>
          </p:grpSpPr>
          <p:sp>
            <p:nvSpPr>
              <p:cNvPr id="254" name="Google Shape;254;p16"/>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 name="Google Shape;255;p16"/>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 name="Google Shape;256;p16"/>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 name="Google Shape;257;p16"/>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58" name="Google Shape;258;p16"/>
            <p:cNvGrpSpPr/>
            <p:nvPr/>
          </p:nvGrpSpPr>
          <p:grpSpPr>
            <a:xfrm>
              <a:off x="7427070" y="4309200"/>
              <a:ext cx="231600" cy="834300"/>
              <a:chOff x="7427070" y="4309200"/>
              <a:chExt cx="231600" cy="834300"/>
            </a:xfrm>
          </p:grpSpPr>
          <p:sp>
            <p:nvSpPr>
              <p:cNvPr id="259" name="Google Shape;259;p16"/>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 name="Google Shape;260;p16"/>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 name="Google Shape;261;p16"/>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 name="Google Shape;262;p16"/>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63" name="Google Shape;263;p16"/>
            <p:cNvGrpSpPr/>
            <p:nvPr/>
          </p:nvGrpSpPr>
          <p:grpSpPr>
            <a:xfrm>
              <a:off x="8541133" y="4518900"/>
              <a:ext cx="231600" cy="624600"/>
              <a:chOff x="8541133" y="4518900"/>
              <a:chExt cx="231600" cy="624600"/>
            </a:xfrm>
          </p:grpSpPr>
          <p:sp>
            <p:nvSpPr>
              <p:cNvPr id="264" name="Google Shape;264;p16"/>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 name="Google Shape;265;p16"/>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 name="Google Shape;266;p16"/>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67" name="Google Shape;267;p16"/>
            <p:cNvGrpSpPr/>
            <p:nvPr/>
          </p:nvGrpSpPr>
          <p:grpSpPr>
            <a:xfrm>
              <a:off x="8912488" y="4309200"/>
              <a:ext cx="231600" cy="834300"/>
              <a:chOff x="8912488" y="4309200"/>
              <a:chExt cx="231600" cy="834300"/>
            </a:xfrm>
          </p:grpSpPr>
          <p:sp>
            <p:nvSpPr>
              <p:cNvPr id="268" name="Google Shape;268;p16"/>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 name="Google Shape;269;p16"/>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 name="Google Shape;270;p16"/>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 name="Google Shape;271;p16"/>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sp>
        <p:nvSpPr>
          <p:cNvPr id="272" name="Google Shape;272;p16"/>
          <p:cNvSpPr txBox="1">
            <a:spLocks noGrp="1"/>
          </p:cNvSpPr>
          <p:nvPr>
            <p:ph type="title" hasCustomPrompt="1"/>
          </p:nvPr>
        </p:nvSpPr>
        <p:spPr>
          <a:xfrm>
            <a:off x="1388626" y="772725"/>
            <a:ext cx="6366900" cy="1863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8000"/>
              <a:buNone/>
              <a:defRPr sz="8000">
                <a:solidFill>
                  <a:schemeClr val="lt1"/>
                </a:solidFill>
              </a:defRPr>
            </a:lvl1pPr>
            <a:lvl2pPr lvl="1" algn="ctr" rtl="0">
              <a:spcBef>
                <a:spcPts val="0"/>
              </a:spcBef>
              <a:spcAft>
                <a:spcPts val="0"/>
              </a:spcAft>
              <a:buClr>
                <a:schemeClr val="lt1"/>
              </a:buClr>
              <a:buSzPts val="8000"/>
              <a:buNone/>
              <a:defRPr sz="8000">
                <a:solidFill>
                  <a:schemeClr val="lt1"/>
                </a:solidFill>
              </a:defRPr>
            </a:lvl2pPr>
            <a:lvl3pPr lvl="2" algn="ctr" rtl="0">
              <a:spcBef>
                <a:spcPts val="0"/>
              </a:spcBef>
              <a:spcAft>
                <a:spcPts val="0"/>
              </a:spcAft>
              <a:buClr>
                <a:schemeClr val="lt1"/>
              </a:buClr>
              <a:buSzPts val="8000"/>
              <a:buNone/>
              <a:defRPr sz="8000">
                <a:solidFill>
                  <a:schemeClr val="lt1"/>
                </a:solidFill>
              </a:defRPr>
            </a:lvl3pPr>
            <a:lvl4pPr lvl="3" algn="ctr" rtl="0">
              <a:spcBef>
                <a:spcPts val="0"/>
              </a:spcBef>
              <a:spcAft>
                <a:spcPts val="0"/>
              </a:spcAft>
              <a:buClr>
                <a:schemeClr val="lt1"/>
              </a:buClr>
              <a:buSzPts val="8000"/>
              <a:buNone/>
              <a:defRPr sz="8000">
                <a:solidFill>
                  <a:schemeClr val="lt1"/>
                </a:solidFill>
              </a:defRPr>
            </a:lvl4pPr>
            <a:lvl5pPr lvl="4" algn="ctr" rtl="0">
              <a:spcBef>
                <a:spcPts val="0"/>
              </a:spcBef>
              <a:spcAft>
                <a:spcPts val="0"/>
              </a:spcAft>
              <a:buClr>
                <a:schemeClr val="lt1"/>
              </a:buClr>
              <a:buSzPts val="8000"/>
              <a:buNone/>
              <a:defRPr sz="8000">
                <a:solidFill>
                  <a:schemeClr val="lt1"/>
                </a:solidFill>
              </a:defRPr>
            </a:lvl5pPr>
            <a:lvl6pPr lvl="5" algn="ctr" rtl="0">
              <a:spcBef>
                <a:spcPts val="0"/>
              </a:spcBef>
              <a:spcAft>
                <a:spcPts val="0"/>
              </a:spcAft>
              <a:buClr>
                <a:schemeClr val="lt1"/>
              </a:buClr>
              <a:buSzPts val="8000"/>
              <a:buNone/>
              <a:defRPr sz="8000">
                <a:solidFill>
                  <a:schemeClr val="lt1"/>
                </a:solidFill>
              </a:defRPr>
            </a:lvl6pPr>
            <a:lvl7pPr lvl="6" algn="ctr" rtl="0">
              <a:spcBef>
                <a:spcPts val="0"/>
              </a:spcBef>
              <a:spcAft>
                <a:spcPts val="0"/>
              </a:spcAft>
              <a:buClr>
                <a:schemeClr val="lt1"/>
              </a:buClr>
              <a:buSzPts val="8000"/>
              <a:buNone/>
              <a:defRPr sz="8000">
                <a:solidFill>
                  <a:schemeClr val="lt1"/>
                </a:solidFill>
              </a:defRPr>
            </a:lvl7pPr>
            <a:lvl8pPr lvl="7" algn="ctr" rtl="0">
              <a:spcBef>
                <a:spcPts val="0"/>
              </a:spcBef>
              <a:spcAft>
                <a:spcPts val="0"/>
              </a:spcAft>
              <a:buClr>
                <a:schemeClr val="lt1"/>
              </a:buClr>
              <a:buSzPts val="8000"/>
              <a:buNone/>
              <a:defRPr sz="8000">
                <a:solidFill>
                  <a:schemeClr val="lt1"/>
                </a:solidFill>
              </a:defRPr>
            </a:lvl8pPr>
            <a:lvl9pPr lvl="8" algn="ctr" rtl="0">
              <a:spcBef>
                <a:spcPts val="0"/>
              </a:spcBef>
              <a:spcAft>
                <a:spcPts val="0"/>
              </a:spcAft>
              <a:buClr>
                <a:schemeClr val="lt1"/>
              </a:buClr>
              <a:buSzPts val="8000"/>
              <a:buNone/>
              <a:defRPr sz="8000">
                <a:solidFill>
                  <a:schemeClr val="lt1"/>
                </a:solidFill>
              </a:defRPr>
            </a:lvl9pPr>
          </a:lstStyle>
          <a:p>
            <a:r>
              <a:t>xx%</a:t>
            </a:r>
          </a:p>
        </p:txBody>
      </p:sp>
      <p:sp>
        <p:nvSpPr>
          <p:cNvPr id="273" name="Google Shape;273;p16"/>
          <p:cNvSpPr txBox="1">
            <a:spLocks noGrp="1"/>
          </p:cNvSpPr>
          <p:nvPr>
            <p:ph type="body" idx="1"/>
          </p:nvPr>
        </p:nvSpPr>
        <p:spPr>
          <a:xfrm>
            <a:off x="1388626" y="2712300"/>
            <a:ext cx="6366900" cy="1111200"/>
          </a:xfrm>
          <a:prstGeom prst="rect">
            <a:avLst/>
          </a:prstGeom>
        </p:spPr>
        <p:txBody>
          <a:bodyPr spcFirstLastPara="1" wrap="square" lIns="91425" tIns="91425" rIns="91425" bIns="91425" anchor="t" anchorCtr="0">
            <a:noAutofit/>
          </a:bodyPr>
          <a:lstStyle>
            <a:lvl1pPr marL="457189" lvl="0" indent="-342891" algn="ctr" rtl="0">
              <a:spcBef>
                <a:spcPts val="600"/>
              </a:spcBef>
              <a:spcAft>
                <a:spcPts val="0"/>
              </a:spcAft>
              <a:buClr>
                <a:schemeClr val="lt1"/>
              </a:buClr>
              <a:buSzPts val="1800"/>
              <a:buChar char="●"/>
              <a:defRPr>
                <a:solidFill>
                  <a:schemeClr val="lt1"/>
                </a:solidFill>
              </a:defRPr>
            </a:lvl1pPr>
            <a:lvl2pPr marL="914377" lvl="1" indent="-342891" algn="ctr" rtl="0">
              <a:spcBef>
                <a:spcPts val="0"/>
              </a:spcBef>
              <a:spcAft>
                <a:spcPts val="0"/>
              </a:spcAft>
              <a:buClr>
                <a:schemeClr val="lt1"/>
              </a:buClr>
              <a:buSzPts val="1800"/>
              <a:buChar char="○"/>
              <a:defRPr>
                <a:solidFill>
                  <a:schemeClr val="lt1"/>
                </a:solidFill>
              </a:defRPr>
            </a:lvl2pPr>
            <a:lvl3pPr marL="1371566" lvl="2" indent="-342891" algn="ctr" rtl="0">
              <a:spcBef>
                <a:spcPts val="0"/>
              </a:spcBef>
              <a:spcAft>
                <a:spcPts val="0"/>
              </a:spcAft>
              <a:buClr>
                <a:schemeClr val="lt1"/>
              </a:buClr>
              <a:buSzPts val="1800"/>
              <a:buChar char="■"/>
              <a:defRPr>
                <a:solidFill>
                  <a:schemeClr val="lt1"/>
                </a:solidFill>
              </a:defRPr>
            </a:lvl3pPr>
            <a:lvl4pPr marL="1828754" lvl="3" indent="-342891" algn="ctr" rtl="0">
              <a:spcBef>
                <a:spcPts val="0"/>
              </a:spcBef>
              <a:spcAft>
                <a:spcPts val="0"/>
              </a:spcAft>
              <a:buClr>
                <a:schemeClr val="lt1"/>
              </a:buClr>
              <a:buSzPts val="1800"/>
              <a:buChar char="●"/>
              <a:defRPr>
                <a:solidFill>
                  <a:schemeClr val="lt1"/>
                </a:solidFill>
              </a:defRPr>
            </a:lvl4pPr>
            <a:lvl5pPr marL="2285943" lvl="4" indent="-342891" algn="ctr" rtl="0">
              <a:spcBef>
                <a:spcPts val="0"/>
              </a:spcBef>
              <a:spcAft>
                <a:spcPts val="0"/>
              </a:spcAft>
              <a:buClr>
                <a:schemeClr val="lt1"/>
              </a:buClr>
              <a:buSzPts val="1800"/>
              <a:buChar char="○"/>
              <a:defRPr>
                <a:solidFill>
                  <a:schemeClr val="lt1"/>
                </a:solidFill>
              </a:defRPr>
            </a:lvl5pPr>
            <a:lvl6pPr marL="2743131" lvl="5" indent="-342891" algn="ctr" rtl="0">
              <a:spcBef>
                <a:spcPts val="0"/>
              </a:spcBef>
              <a:spcAft>
                <a:spcPts val="0"/>
              </a:spcAft>
              <a:buClr>
                <a:schemeClr val="lt1"/>
              </a:buClr>
              <a:buSzPts val="1800"/>
              <a:buChar char="■"/>
              <a:defRPr>
                <a:solidFill>
                  <a:schemeClr val="lt1"/>
                </a:solidFill>
              </a:defRPr>
            </a:lvl6pPr>
            <a:lvl7pPr marL="3200320" lvl="6" indent="-342891" algn="ctr" rtl="0">
              <a:spcBef>
                <a:spcPts val="0"/>
              </a:spcBef>
              <a:spcAft>
                <a:spcPts val="0"/>
              </a:spcAft>
              <a:buClr>
                <a:schemeClr val="lt1"/>
              </a:buClr>
              <a:buSzPts val="1800"/>
              <a:buChar char="●"/>
              <a:defRPr>
                <a:solidFill>
                  <a:schemeClr val="lt1"/>
                </a:solidFill>
              </a:defRPr>
            </a:lvl7pPr>
            <a:lvl8pPr marL="3657509" lvl="7" indent="-342891" algn="ctr" rtl="0">
              <a:spcBef>
                <a:spcPts val="0"/>
              </a:spcBef>
              <a:spcAft>
                <a:spcPts val="0"/>
              </a:spcAft>
              <a:buClr>
                <a:schemeClr val="lt1"/>
              </a:buClr>
              <a:buSzPts val="1800"/>
              <a:buChar char="○"/>
              <a:defRPr>
                <a:solidFill>
                  <a:schemeClr val="lt1"/>
                </a:solidFill>
              </a:defRPr>
            </a:lvl8pPr>
            <a:lvl9pPr marL="4114697" lvl="8" indent="-342891" algn="ctr" rtl="0">
              <a:spcBef>
                <a:spcPts val="0"/>
              </a:spcBef>
              <a:spcAft>
                <a:spcPts val="0"/>
              </a:spcAft>
              <a:buClr>
                <a:schemeClr val="lt1"/>
              </a:buClr>
              <a:buSzPts val="1800"/>
              <a:buChar char="■"/>
              <a:defRPr>
                <a:solidFill>
                  <a:schemeClr val="lt1"/>
                </a:solidFill>
              </a:defRPr>
            </a:lvl9pPr>
          </a:lstStyle>
          <a:p>
            <a:endParaRPr/>
          </a:p>
        </p:txBody>
      </p:sp>
      <p:sp>
        <p:nvSpPr>
          <p:cNvPr id="274" name="Google Shape;274;p16"/>
          <p:cNvSpPr txBox="1">
            <a:spLocks noGrp="1"/>
          </p:cNvSpPr>
          <p:nvPr>
            <p:ph type="sldNum" idx="12"/>
          </p:nvPr>
        </p:nvSpPr>
        <p:spPr>
          <a:xfrm>
            <a:off x="8451047" y="4736976"/>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C69B-86F7-40D7-926F-4FF08D12776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D"/>
          </a:p>
        </p:txBody>
      </p:sp>
      <p:sp>
        <p:nvSpPr>
          <p:cNvPr id="3" name="Subtitle 2">
            <a:extLst>
              <a:ext uri="{FF2B5EF4-FFF2-40B4-BE49-F238E27FC236}">
                <a16:creationId xmlns:a16="http://schemas.microsoft.com/office/drawing/2014/main" id="{E086BF7F-7DB3-43E7-B89B-8D867ADF55B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D2191BDE-223B-4925-B447-9CE3DB1DE518}"/>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5" name="Footer Placeholder 4">
            <a:extLst>
              <a:ext uri="{FF2B5EF4-FFF2-40B4-BE49-F238E27FC236}">
                <a16:creationId xmlns:a16="http://schemas.microsoft.com/office/drawing/2014/main" id="{89747E0E-EA9F-4DDE-86C3-397391B01DB4}"/>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2DE51832-ECDA-45D9-B619-486DEC8FBC8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266828756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C010C-02A9-4FAB-BAA2-6072936A80E9}"/>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8E933752-1118-4D1A-BB81-DC1F3DDD71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FEEDAD0-3B5D-4397-8F8F-EE8E0D921DC3}"/>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5" name="Footer Placeholder 4">
            <a:extLst>
              <a:ext uri="{FF2B5EF4-FFF2-40B4-BE49-F238E27FC236}">
                <a16:creationId xmlns:a16="http://schemas.microsoft.com/office/drawing/2014/main" id="{86238380-1A28-4290-B6B6-AFACBF362B9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DB73E55-CF1F-4986-A690-C6A875986D1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261272932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2B622-C01C-420E-A7B7-2C6FC907AA68}"/>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EBC361CE-2D2E-4C02-A460-1AFE016A1630}"/>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8309F8-1ED7-4CEE-8A69-51913DD0494B}"/>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5" name="Footer Placeholder 4">
            <a:extLst>
              <a:ext uri="{FF2B5EF4-FFF2-40B4-BE49-F238E27FC236}">
                <a16:creationId xmlns:a16="http://schemas.microsoft.com/office/drawing/2014/main" id="{0307F0FB-89DD-4333-A44B-A83D0323DB8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0739F2E-721C-43C1-878D-237C76C3F9B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261073658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38FAD-1BCB-46C3-9D53-145FB02A6599}"/>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A99B47C9-B991-4490-869D-B3B425E1F55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5F7EE6C5-6058-49E3-98EF-FFF3E382230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0CB32667-17C2-496E-AE3D-4564A98712D6}"/>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6" name="Footer Placeholder 5">
            <a:extLst>
              <a:ext uri="{FF2B5EF4-FFF2-40B4-BE49-F238E27FC236}">
                <a16:creationId xmlns:a16="http://schemas.microsoft.com/office/drawing/2014/main" id="{AF33270C-FE11-4037-9A50-380A10C9C02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F80374FF-8048-49DB-BD1C-86065084637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140935380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375B3-0EE9-458C-B38A-163DB1F9DDF8}"/>
              </a:ext>
            </a:extLst>
          </p:cNvPr>
          <p:cNvSpPr>
            <a:spLocks noGrp="1"/>
          </p:cNvSpPr>
          <p:nvPr>
            <p:ph type="title"/>
          </p:nvPr>
        </p:nvSpPr>
        <p:spPr>
          <a:xfrm>
            <a:off x="629841" y="273844"/>
            <a:ext cx="7886700" cy="994172"/>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25BEE6FF-DA6B-4C4F-A8A1-489C146BAA13}"/>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C9D3874-82B8-4EAD-BA99-B5F8527D642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C96C0FBF-D92F-4711-A169-ED75981D123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A0DD1AE-66BA-4657-BF60-EAFFD9758810}"/>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4F8049C0-13D5-427F-AFCE-85DC6EB30B58}"/>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8" name="Footer Placeholder 7">
            <a:extLst>
              <a:ext uri="{FF2B5EF4-FFF2-40B4-BE49-F238E27FC236}">
                <a16:creationId xmlns:a16="http://schemas.microsoft.com/office/drawing/2014/main" id="{2E4352DE-4529-4C32-BABB-B3B9F0454BFC}"/>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A54AF5C3-BD0B-4C99-BE3D-B526366EBC6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9053187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3555-4D1E-49F7-8680-5FAEC5386FE4}"/>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75A860EB-8668-4D73-9786-F495E2853E39}"/>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4" name="Footer Placeholder 3">
            <a:extLst>
              <a:ext uri="{FF2B5EF4-FFF2-40B4-BE49-F238E27FC236}">
                <a16:creationId xmlns:a16="http://schemas.microsoft.com/office/drawing/2014/main" id="{BCE40117-1CA7-4525-936B-7B0B0E2897FD}"/>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374827AA-C66A-42DD-AE52-DE995BA4793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196273312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32F537-C9E2-44E1-B63F-47ECD7D5A299}"/>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3" name="Footer Placeholder 2">
            <a:extLst>
              <a:ext uri="{FF2B5EF4-FFF2-40B4-BE49-F238E27FC236}">
                <a16:creationId xmlns:a16="http://schemas.microsoft.com/office/drawing/2014/main" id="{6CB0FBCC-5387-42B7-AA26-A2DD8BAF203B}"/>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3DDF78A4-B5D8-4094-8557-7DD1526C0E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3994886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2572B-5715-494F-851E-1D63186C4676}"/>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89D3DB58-A18D-457E-AF87-23B5AC24EA40}"/>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2289BD4A-8B36-48B8-852B-DEDD3B4DA9E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6BE74CA-FC7E-4906-A062-0EC1DE85AFE9}"/>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6" name="Footer Placeholder 5">
            <a:extLst>
              <a:ext uri="{FF2B5EF4-FFF2-40B4-BE49-F238E27FC236}">
                <a16:creationId xmlns:a16="http://schemas.microsoft.com/office/drawing/2014/main" id="{0793F765-54C4-49AF-849B-967DA7A8945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B8D4025-575F-4D32-A22F-A961A074CB7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99960803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0E67-3F72-4E8B-A824-E58CC7D7524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1AAB7D7F-4901-4A89-869D-3A60D75A6DB3}"/>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D"/>
          </a:p>
        </p:txBody>
      </p:sp>
      <p:sp>
        <p:nvSpPr>
          <p:cNvPr id="4" name="Text Placeholder 3">
            <a:extLst>
              <a:ext uri="{FF2B5EF4-FFF2-40B4-BE49-F238E27FC236}">
                <a16:creationId xmlns:a16="http://schemas.microsoft.com/office/drawing/2014/main" id="{B928F111-BC2C-48EF-83EE-9B969ECF8EA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8CC05AE-895F-49EF-B6B9-1F63E27D745E}"/>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6" name="Footer Placeholder 5">
            <a:extLst>
              <a:ext uri="{FF2B5EF4-FFF2-40B4-BE49-F238E27FC236}">
                <a16:creationId xmlns:a16="http://schemas.microsoft.com/office/drawing/2014/main" id="{4F2C6D83-7B0C-4544-8E6C-8CC21510266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2CA37022-1205-4430-BB79-0783342854D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278567028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1616F-D59E-4A88-BF3A-B4F0F4DB14D2}"/>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BCA1C3BB-9584-4D62-90AA-AC8D6120BB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E9221716-AC64-48E8-9D69-60BFCF04BF83}"/>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5" name="Footer Placeholder 4">
            <a:extLst>
              <a:ext uri="{FF2B5EF4-FFF2-40B4-BE49-F238E27FC236}">
                <a16:creationId xmlns:a16="http://schemas.microsoft.com/office/drawing/2014/main" id="{201F0E96-6A5B-489A-A714-3817EF7A60E8}"/>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28AA482-6AAA-4313-A9B4-8759806AEE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323581027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5691B1-B9E6-46AB-82E2-972C9FA0EE57}"/>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9096A098-9FC3-46C2-9770-83C96CA6B68B}"/>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287C4060-8327-49AB-BEA4-4F0B68599169}"/>
              </a:ext>
            </a:extLst>
          </p:cNvPr>
          <p:cNvSpPr>
            <a:spLocks noGrp="1"/>
          </p:cNvSpPr>
          <p:nvPr>
            <p:ph type="dt" sz="half" idx="10"/>
          </p:nvPr>
        </p:nvSpPr>
        <p:spPr/>
        <p:txBody>
          <a:bodyPr/>
          <a:lstStyle/>
          <a:p>
            <a:fld id="{7D4BFA67-5B1C-4672-9803-03E4A08C2E1D}" type="datetimeFigureOut">
              <a:rPr lang="en-ID" smtClean="0"/>
              <a:t>08/06/2026</a:t>
            </a:fld>
            <a:endParaRPr lang="en-ID"/>
          </a:p>
        </p:txBody>
      </p:sp>
      <p:sp>
        <p:nvSpPr>
          <p:cNvPr id="5" name="Footer Placeholder 4">
            <a:extLst>
              <a:ext uri="{FF2B5EF4-FFF2-40B4-BE49-F238E27FC236}">
                <a16:creationId xmlns:a16="http://schemas.microsoft.com/office/drawing/2014/main" id="{BB37C7F9-7770-4F66-B2AB-57789B633BD1}"/>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F08C9626-201A-40AC-BB9B-E290E6A3729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3159078007"/>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9"/>
        <p:cNvGrpSpPr/>
        <p:nvPr/>
      </p:nvGrpSpPr>
      <p:grpSpPr>
        <a:xfrm>
          <a:off x="0" y="0"/>
          <a:ext cx="0" cy="0"/>
          <a:chOff x="0" y="0"/>
          <a:chExt cx="0" cy="0"/>
        </a:xfrm>
      </p:grpSpPr>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extLst>
      <p:ext uri="{BB962C8B-B14F-4D97-AF65-F5344CB8AC3E}">
        <p14:creationId xmlns:p14="http://schemas.microsoft.com/office/powerpoint/2010/main" val="2036330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22001" y="891775"/>
            <a:ext cx="6866100" cy="857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1pPr>
            <a:lvl2pPr lvl="1" rt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2pPr>
            <a:lvl3pPr lvl="2" rt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3pPr>
            <a:lvl4pPr lvl="3" rt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4pPr>
            <a:lvl5pPr lvl="4" rt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5pPr>
            <a:lvl6pPr lvl="5" rt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6pPr>
            <a:lvl7pPr lvl="6" rt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7pPr>
            <a:lvl8pPr lvl="7" rt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8pPr>
            <a:lvl9pPr lvl="8" rt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9pPr>
          </a:lstStyle>
          <a:p>
            <a:endParaRPr/>
          </a:p>
        </p:txBody>
      </p:sp>
      <p:sp>
        <p:nvSpPr>
          <p:cNvPr id="7" name="Google Shape;7;p1"/>
          <p:cNvSpPr txBox="1">
            <a:spLocks noGrp="1"/>
          </p:cNvSpPr>
          <p:nvPr>
            <p:ph type="body" idx="1"/>
          </p:nvPr>
        </p:nvSpPr>
        <p:spPr>
          <a:xfrm>
            <a:off x="922001" y="1885951"/>
            <a:ext cx="6866100" cy="2366100"/>
          </a:xfrm>
          <a:prstGeom prst="rect">
            <a:avLst/>
          </a:prstGeom>
          <a:noFill/>
          <a:ln>
            <a:noFill/>
          </a:ln>
        </p:spPr>
        <p:txBody>
          <a:bodyPr spcFirstLastPara="1" wrap="square" lIns="91425" tIns="91425" rIns="91425" bIns="91425" anchor="t" anchorCtr="0">
            <a:noAutofit/>
          </a:bodyPr>
          <a:lstStyle>
            <a:lvl1pPr marL="457200" lvl="0" indent="-342900" rtl="0">
              <a:spcBef>
                <a:spcPts val="600"/>
              </a:spcBef>
              <a:spcAft>
                <a:spcPts val="0"/>
              </a:spcAft>
              <a:buClr>
                <a:schemeClr val="accent1"/>
              </a:buClr>
              <a:buSzPts val="1800"/>
              <a:buFont typeface="Raleway Light"/>
              <a:buChar char="●"/>
              <a:defRPr sz="1800">
                <a:solidFill>
                  <a:schemeClr val="dk2"/>
                </a:solidFill>
                <a:latin typeface="Raleway Light"/>
                <a:ea typeface="Raleway Light"/>
                <a:cs typeface="Raleway Light"/>
                <a:sym typeface="Raleway Light"/>
              </a:defRPr>
            </a:lvl1pPr>
            <a:lvl2pPr marL="914400" lvl="1" indent="-342900" rtl="0">
              <a:spcBef>
                <a:spcPts val="0"/>
              </a:spcBef>
              <a:spcAft>
                <a:spcPts val="0"/>
              </a:spcAft>
              <a:buClr>
                <a:schemeClr val="accent1"/>
              </a:buClr>
              <a:buSzPts val="1800"/>
              <a:buFont typeface="Raleway Light"/>
              <a:buChar char="○"/>
              <a:defRPr sz="1800">
                <a:solidFill>
                  <a:schemeClr val="dk2"/>
                </a:solidFill>
                <a:latin typeface="Raleway Light"/>
                <a:ea typeface="Raleway Light"/>
                <a:cs typeface="Raleway Light"/>
                <a:sym typeface="Raleway Light"/>
              </a:defRPr>
            </a:lvl2pPr>
            <a:lvl3pPr marL="1371600" lvl="2" indent="-342900" rtl="0">
              <a:spcBef>
                <a:spcPts val="0"/>
              </a:spcBef>
              <a:spcAft>
                <a:spcPts val="0"/>
              </a:spcAft>
              <a:buClr>
                <a:schemeClr val="accent1"/>
              </a:buClr>
              <a:buSzPts val="1800"/>
              <a:buFont typeface="Raleway Light"/>
              <a:buChar char="■"/>
              <a:defRPr sz="1800">
                <a:solidFill>
                  <a:schemeClr val="dk2"/>
                </a:solidFill>
                <a:latin typeface="Raleway Light"/>
                <a:ea typeface="Raleway Light"/>
                <a:cs typeface="Raleway Light"/>
                <a:sym typeface="Raleway Light"/>
              </a:defRPr>
            </a:lvl3pPr>
            <a:lvl4pPr marL="1828800" lvl="3" indent="-342900" rtl="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4pPr>
            <a:lvl5pPr marL="2286000" lvl="4" indent="-342900" rtl="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5pPr>
            <a:lvl6pPr marL="2743200" lvl="5" indent="-342900" rtl="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6pPr>
            <a:lvl7pPr marL="3200400" lvl="6" indent="-342900" rtl="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7pPr>
            <a:lvl8pPr marL="3657600" lvl="7" indent="-342900" rtl="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8pPr>
            <a:lvl9pPr marL="4114800" lvl="8" indent="-342900" rtl="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9pPr>
          </a:lstStyle>
          <a:p>
            <a:endParaRPr/>
          </a:p>
        </p:txBody>
      </p:sp>
      <p:sp>
        <p:nvSpPr>
          <p:cNvPr id="8" name="Google Shape;8;p1"/>
          <p:cNvSpPr txBox="1">
            <a:spLocks noGrp="1"/>
          </p:cNvSpPr>
          <p:nvPr>
            <p:ph type="sldNum" idx="12"/>
          </p:nvPr>
        </p:nvSpPr>
        <p:spPr>
          <a:xfrm>
            <a:off x="8604401" y="4590300"/>
            <a:ext cx="539700" cy="553200"/>
          </a:xfrm>
          <a:prstGeom prst="rect">
            <a:avLst/>
          </a:prstGeom>
          <a:noFill/>
          <a:ln>
            <a:noFill/>
          </a:ln>
        </p:spPr>
        <p:txBody>
          <a:bodyPr spcFirstLastPara="1" wrap="square" lIns="91425" tIns="91425" rIns="91425" bIns="91425" anchor="ctr" anchorCtr="0">
            <a:noAutofit/>
          </a:bodyPr>
          <a:lstStyle>
            <a:lvl1pPr lvl="0" algn="ctr" rtl="0">
              <a:buNone/>
              <a:defRPr sz="1300">
                <a:solidFill>
                  <a:schemeClr val="accent1"/>
                </a:solidFill>
                <a:latin typeface="Raleway ExtraBold"/>
                <a:ea typeface="Raleway ExtraBold"/>
                <a:cs typeface="Raleway ExtraBold"/>
                <a:sym typeface="Raleway ExtraBold"/>
              </a:defRPr>
            </a:lvl1pPr>
            <a:lvl2pPr lvl="1" algn="ctr" rtl="0">
              <a:buNone/>
              <a:defRPr sz="1300">
                <a:solidFill>
                  <a:schemeClr val="accent1"/>
                </a:solidFill>
                <a:latin typeface="Raleway ExtraBold"/>
                <a:ea typeface="Raleway ExtraBold"/>
                <a:cs typeface="Raleway ExtraBold"/>
                <a:sym typeface="Raleway ExtraBold"/>
              </a:defRPr>
            </a:lvl2pPr>
            <a:lvl3pPr lvl="2" algn="ctr" rtl="0">
              <a:buNone/>
              <a:defRPr sz="1300">
                <a:solidFill>
                  <a:schemeClr val="accent1"/>
                </a:solidFill>
                <a:latin typeface="Raleway ExtraBold"/>
                <a:ea typeface="Raleway ExtraBold"/>
                <a:cs typeface="Raleway ExtraBold"/>
                <a:sym typeface="Raleway ExtraBold"/>
              </a:defRPr>
            </a:lvl3pPr>
            <a:lvl4pPr lvl="3" algn="ctr" rtl="0">
              <a:buNone/>
              <a:defRPr sz="1300">
                <a:solidFill>
                  <a:schemeClr val="accent1"/>
                </a:solidFill>
                <a:latin typeface="Raleway ExtraBold"/>
                <a:ea typeface="Raleway ExtraBold"/>
                <a:cs typeface="Raleway ExtraBold"/>
                <a:sym typeface="Raleway ExtraBold"/>
              </a:defRPr>
            </a:lvl4pPr>
            <a:lvl5pPr lvl="4" algn="ctr" rtl="0">
              <a:buNone/>
              <a:defRPr sz="1300">
                <a:solidFill>
                  <a:schemeClr val="accent1"/>
                </a:solidFill>
                <a:latin typeface="Raleway ExtraBold"/>
                <a:ea typeface="Raleway ExtraBold"/>
                <a:cs typeface="Raleway ExtraBold"/>
                <a:sym typeface="Raleway ExtraBold"/>
              </a:defRPr>
            </a:lvl5pPr>
            <a:lvl6pPr lvl="5" algn="ctr" rtl="0">
              <a:buNone/>
              <a:defRPr sz="1300">
                <a:solidFill>
                  <a:schemeClr val="accent1"/>
                </a:solidFill>
                <a:latin typeface="Raleway ExtraBold"/>
                <a:ea typeface="Raleway ExtraBold"/>
                <a:cs typeface="Raleway ExtraBold"/>
                <a:sym typeface="Raleway ExtraBold"/>
              </a:defRPr>
            </a:lvl6pPr>
            <a:lvl7pPr lvl="6" algn="ctr" rtl="0">
              <a:buNone/>
              <a:defRPr sz="1300">
                <a:solidFill>
                  <a:schemeClr val="accent1"/>
                </a:solidFill>
                <a:latin typeface="Raleway ExtraBold"/>
                <a:ea typeface="Raleway ExtraBold"/>
                <a:cs typeface="Raleway ExtraBold"/>
                <a:sym typeface="Raleway ExtraBold"/>
              </a:defRPr>
            </a:lvl7pPr>
            <a:lvl8pPr lvl="7" algn="ctr" rtl="0">
              <a:buNone/>
              <a:defRPr sz="1300">
                <a:solidFill>
                  <a:schemeClr val="accent1"/>
                </a:solidFill>
                <a:latin typeface="Raleway ExtraBold"/>
                <a:ea typeface="Raleway ExtraBold"/>
                <a:cs typeface="Raleway ExtraBold"/>
                <a:sym typeface="Raleway ExtraBold"/>
              </a:defRPr>
            </a:lvl8pPr>
            <a:lvl9pPr lvl="8" algn="ctr" rtl="0">
              <a:buNone/>
              <a:defRPr sz="1300">
                <a:solidFill>
                  <a:schemeClr val="accent1"/>
                </a:solidFill>
                <a:latin typeface="Raleway ExtraBold"/>
                <a:ea typeface="Raleway ExtraBold"/>
                <a:cs typeface="Raleway ExtraBold"/>
                <a:sym typeface="Raleway ExtraBold"/>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3BF79-394A-435B-8EF9-9BDE92D594DA}"/>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60F19E6D-E59F-4EA2-BBAF-3C49E2FBB1A2}"/>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11DF0475-BB43-4979-B219-3C727B4E939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D4BFA67-5B1C-4672-9803-03E4A08C2E1D}" type="datetimeFigureOut">
              <a:rPr lang="en-ID" smtClean="0"/>
              <a:t>08/06/2026</a:t>
            </a:fld>
            <a:endParaRPr lang="en-ID"/>
          </a:p>
        </p:txBody>
      </p:sp>
      <p:sp>
        <p:nvSpPr>
          <p:cNvPr id="5" name="Footer Placeholder 4">
            <a:extLst>
              <a:ext uri="{FF2B5EF4-FFF2-40B4-BE49-F238E27FC236}">
                <a16:creationId xmlns:a16="http://schemas.microsoft.com/office/drawing/2014/main" id="{EBCD45FA-EC21-4D77-B4C3-54A80F78ADD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500A7FDD-2B14-47B4-ABB2-F2F24F9FC1C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id" smtClean="0"/>
              <a:t>‹#›</a:t>
            </a:fld>
            <a:endParaRPr lang="id"/>
          </a:p>
        </p:txBody>
      </p:sp>
    </p:spTree>
    <p:extLst>
      <p:ext uri="{BB962C8B-B14F-4D97-AF65-F5344CB8AC3E}">
        <p14:creationId xmlns:p14="http://schemas.microsoft.com/office/powerpoint/2010/main" val="46623891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hyperlink" Target="https://drive.google.com/file/d/1UcoDacSSuuL_GCyUzMwMYyrrbu3nCauJ/view?usp=drive_link"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ca://s/?q=Indicator_translation_KPI_Objective_Analysis"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ca://s/?q=Objective_Analysis_translation" TargetMode="External"/><Relationship Id="rId5" Type="http://schemas.openxmlformats.org/officeDocument/2006/relationships/hyperlink" Target="ca://s/?q=Target_translation" TargetMode="External"/><Relationship Id="rId4" Type="http://schemas.openxmlformats.org/officeDocument/2006/relationships/hyperlink" Target="ca://s/?q=KPI_Score_translation"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ca://s/?q=Indicator_translation_KPI_Objective_Analysis"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ca://s/?q=Objective_Analysis_translation" TargetMode="External"/><Relationship Id="rId5" Type="http://schemas.openxmlformats.org/officeDocument/2006/relationships/hyperlink" Target="ca://s/?q=Target_translation" TargetMode="External"/><Relationship Id="rId4" Type="http://schemas.openxmlformats.org/officeDocument/2006/relationships/hyperlink" Target="ca://s/?q=KPI_Score_translatio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hyperlink" Target="https://colab.research.google.com/drive/1RpAbmHrPTySyEiSO5xj5UdKwJ-oAqlFP#scrollTo=c_hMRbDcHV7y&amp;fullscreenOutput=true"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hyperlink" Target="https://drive.google.com/file/d/1UcoDacSSuuL_GCyUzMwMYyrrbu3nCauJ/view?usp=drive_link"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hyperlink" Target="https://www.linkedin.com/in/nurlia-paizah-12138645/?skipRedirect=true" TargetMode="External"/><Relationship Id="rId5" Type="http://schemas.openxmlformats.org/officeDocument/2006/relationships/hyperlink" Target="https://colab.research.google.com/drive/1RpAbmHrPTySyEiSO5xj5UdKwJ-oAqlFP?usp=drive_link" TargetMode="External"/><Relationship Id="rId4" Type="http://schemas.openxmlformats.org/officeDocument/2006/relationships/hyperlink" Target="https://docs.google.com/spreadsheets/d/13pzSC_pjH-6WvHBI4mTVxctx5kvHO8Xuq0HZ3Vf3DsU/edit?gid=653551046#gid=653551046"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4000">
              <a:srgbClr val="02FE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278"/>
        <p:cNvGrpSpPr/>
        <p:nvPr/>
      </p:nvGrpSpPr>
      <p:grpSpPr>
        <a:xfrm>
          <a:off x="0" y="0"/>
          <a:ext cx="0" cy="0"/>
          <a:chOff x="0" y="0"/>
          <a:chExt cx="0" cy="0"/>
        </a:xfrm>
      </p:grpSpPr>
      <p:sp>
        <p:nvSpPr>
          <p:cNvPr id="280" name="Google Shape;280;p17"/>
          <p:cNvSpPr txBox="1"/>
          <p:nvPr/>
        </p:nvSpPr>
        <p:spPr>
          <a:xfrm>
            <a:off x="2219551" y="3657801"/>
            <a:ext cx="4704900" cy="338524"/>
          </a:xfrm>
          <a:prstGeom prst="rect">
            <a:avLst/>
          </a:prstGeom>
          <a:noFill/>
          <a:ln>
            <a:noFill/>
          </a:ln>
        </p:spPr>
        <p:txBody>
          <a:bodyPr spcFirstLastPara="1" wrap="square" lIns="91425" tIns="91425" rIns="91425" bIns="91425" anchor="t" anchorCtr="0">
            <a:spAutoFit/>
          </a:bodyPr>
          <a:lstStyle/>
          <a:p>
            <a:endParaRPr sz="1000" b="1" i="1" dirty="0"/>
          </a:p>
        </p:txBody>
      </p:sp>
      <p:pic>
        <p:nvPicPr>
          <p:cNvPr id="8" name="Picture 7">
            <a:extLst>
              <a:ext uri="{FF2B5EF4-FFF2-40B4-BE49-F238E27FC236}">
                <a16:creationId xmlns:a16="http://schemas.microsoft.com/office/drawing/2014/main" id="{2FB9EE84-6BF4-46C6-8C3C-F0FF9F00A23A}"/>
              </a:ext>
            </a:extLst>
          </p:cNvPr>
          <p:cNvPicPr>
            <a:picLocks noChangeAspect="1"/>
          </p:cNvPicPr>
          <p:nvPr/>
        </p:nvPicPr>
        <p:blipFill>
          <a:blip r:embed="rId3"/>
          <a:stretch>
            <a:fillRect/>
          </a:stretch>
        </p:blipFill>
        <p:spPr>
          <a:xfrm>
            <a:off x="714375" y="0"/>
            <a:ext cx="771525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FE50"/>
        </a:solidFill>
        <a:effectLst/>
      </p:bgPr>
    </p:bg>
    <p:spTree>
      <p:nvGrpSpPr>
        <p:cNvPr id="1" name="Shape 285"/>
        <p:cNvGrpSpPr/>
        <p:nvPr/>
      </p:nvGrpSpPr>
      <p:grpSpPr>
        <a:xfrm>
          <a:off x="0" y="0"/>
          <a:ext cx="0" cy="0"/>
          <a:chOff x="0" y="0"/>
          <a:chExt cx="0" cy="0"/>
        </a:xfrm>
      </p:grpSpPr>
      <p:sp>
        <p:nvSpPr>
          <p:cNvPr id="286" name="Google Shape;286;p18"/>
          <p:cNvSpPr txBox="1">
            <a:spLocks noGrp="1"/>
          </p:cNvSpPr>
          <p:nvPr>
            <p:ph type="body" idx="4294967295"/>
          </p:nvPr>
        </p:nvSpPr>
        <p:spPr>
          <a:xfrm>
            <a:off x="39413" y="857028"/>
            <a:ext cx="3590400" cy="4199275"/>
          </a:xfrm>
          <a:prstGeom prst="rect">
            <a:avLst/>
          </a:prstGeom>
          <a:ln w="9525" cap="flat" cmpd="sng">
            <a:solidFill>
              <a:schemeClr val="accent1"/>
            </a:solidFill>
            <a:prstDash val="dash"/>
            <a:round/>
            <a:headEnd type="none" w="sm" len="sm"/>
            <a:tailEnd type="none" w="sm" len="sm"/>
          </a:ln>
        </p:spPr>
        <p:txBody>
          <a:bodyPr spcFirstLastPara="1" wrap="square" lIns="91425" tIns="91425" rIns="91425" bIns="91425" anchor="t" anchorCtr="0">
            <a:noAutofit/>
          </a:bodyPr>
          <a:lstStyle/>
          <a:p>
            <a:pPr marL="0" indent="0">
              <a:buNone/>
            </a:pPr>
            <a:r>
              <a:rPr lang="en" b="1" dirty="0">
                <a:solidFill>
                  <a:srgbClr val="000000"/>
                </a:solidFill>
                <a:highlight>
                  <a:srgbClr val="FFFF00"/>
                </a:highlight>
              </a:rPr>
              <a:t>Project Description:</a:t>
            </a:r>
            <a:endParaRPr b="1" dirty="0">
              <a:solidFill>
                <a:srgbClr val="000000"/>
              </a:solidFill>
              <a:highlight>
                <a:srgbClr val="FFFF00"/>
              </a:highlight>
            </a:endParaRPr>
          </a:p>
          <a:p>
            <a:pPr marL="0" indent="0" algn="just">
              <a:buNone/>
            </a:pPr>
            <a:r>
              <a:rPr lang="en-US" sz="1200" dirty="0">
                <a:solidFill>
                  <a:schemeClr val="bg2"/>
                </a:solidFill>
                <a:highlight>
                  <a:srgbClr val="C0C0C0"/>
                </a:highlight>
                <a:latin typeface="Verdana" panose="020B0604030504040204" pitchFamily="34" charset="0"/>
                <a:ea typeface="Verdana" panose="020B0604030504040204" pitchFamily="34" charset="0"/>
              </a:rPr>
              <a:t>This project was initiated to address a critical workforce stability challenge at International Business Machines (IBM) Corporation. The company’s annual Attrition Rate stands at 16.12%, significantly exceeding the healthy industry benchmark and internal target of 10%.</a:t>
            </a:r>
          </a:p>
          <a:p>
            <a:pPr marL="0" indent="0" algn="just">
              <a:buNone/>
            </a:pPr>
            <a:r>
              <a:rPr lang="en" b="1" dirty="0">
                <a:solidFill>
                  <a:srgbClr val="000000"/>
                </a:solidFill>
                <a:highlight>
                  <a:srgbClr val="FFFF00"/>
                </a:highlight>
              </a:rPr>
              <a:t>Objectives</a:t>
            </a:r>
            <a:r>
              <a:rPr lang="en" dirty="0">
                <a:solidFill>
                  <a:srgbClr val="000000"/>
                </a:solidFill>
                <a:highlight>
                  <a:srgbClr val="FFFF00"/>
                </a:highlight>
              </a:rPr>
              <a:t>:</a:t>
            </a:r>
            <a:endParaRPr dirty="0">
              <a:solidFill>
                <a:srgbClr val="000000"/>
              </a:solidFill>
              <a:highlight>
                <a:srgbClr val="FFFF00"/>
              </a:highlight>
            </a:endParaRPr>
          </a:p>
          <a:p>
            <a:pPr marL="0" indent="0" algn="just">
              <a:buClr>
                <a:schemeClr val="dk1"/>
              </a:buClr>
              <a:buSzPts val="1100"/>
              <a:buNone/>
            </a:pPr>
            <a:r>
              <a:rPr lang="en-US" sz="1200" dirty="0">
                <a:solidFill>
                  <a:schemeClr val="tx1"/>
                </a:solidFill>
                <a:highlight>
                  <a:srgbClr val="C0C0C0"/>
                </a:highlight>
                <a:latin typeface="Verdana" panose="020B0604030504040204" pitchFamily="34" charset="0"/>
                <a:ea typeface="Verdana" panose="020B0604030504040204" pitchFamily="34" charset="0"/>
              </a:rPr>
              <a:t>To identify the key patterns driving employee attrition and provide strategic recommendations for the HR team to improve retention and job satisfaction</a:t>
            </a:r>
          </a:p>
          <a:p>
            <a:pPr marL="0" indent="0" algn="just">
              <a:buClr>
                <a:schemeClr val="dk1"/>
              </a:buClr>
              <a:buSzPts val="1100"/>
              <a:buNone/>
            </a:pPr>
            <a:r>
              <a:rPr lang="en" b="1" dirty="0">
                <a:solidFill>
                  <a:srgbClr val="000000"/>
                </a:solidFill>
                <a:highlight>
                  <a:srgbClr val="FFFF00"/>
                </a:highlight>
              </a:rPr>
              <a:t>Tools:</a:t>
            </a:r>
          </a:p>
          <a:p>
            <a:pPr marL="171450" indent="-171450" algn="just">
              <a:spcBef>
                <a:spcPts val="0"/>
              </a:spcBef>
              <a:buClr>
                <a:schemeClr val="dk1"/>
              </a:buClr>
              <a:buSzPts val="1100"/>
              <a:buFont typeface="Wingdings" panose="05000000000000000000" pitchFamily="2" charset="2"/>
              <a:buChar char="q"/>
            </a:pPr>
            <a:r>
              <a:rPr lang="en-ID" sz="1100" dirty="0">
                <a:latin typeface="Verdana" panose="020B0604030504040204" pitchFamily="34" charset="0"/>
                <a:ea typeface="Verdana" panose="020B0604030504040204" pitchFamily="34" charset="0"/>
              </a:rPr>
              <a:t>Python (Pandas &amp; NumPy): </a:t>
            </a:r>
            <a:r>
              <a:rPr lang="en-US" sz="1100" dirty="0">
                <a:latin typeface="Verdana" panose="020B0604030504040204" pitchFamily="34" charset="0"/>
                <a:ea typeface="Verdana" panose="020B0604030504040204" pitchFamily="34" charset="0"/>
              </a:rPr>
              <a:t>Data cleaning, aggregation, and statistical correlation</a:t>
            </a:r>
            <a:endParaRPr lang="en" sz="1100" b="1" dirty="0">
              <a:solidFill>
                <a:srgbClr val="000000"/>
              </a:solidFill>
              <a:latin typeface="Verdana" panose="020B0604030504040204" pitchFamily="34" charset="0"/>
              <a:ea typeface="Verdana" panose="020B0604030504040204" pitchFamily="34" charset="0"/>
            </a:endParaRPr>
          </a:p>
          <a:p>
            <a:pPr marL="171450" indent="-171450" algn="just">
              <a:spcBef>
                <a:spcPts val="0"/>
              </a:spcBef>
              <a:buClr>
                <a:schemeClr val="dk1"/>
              </a:buClr>
              <a:buSzPts val="1100"/>
              <a:buFont typeface="Wingdings" panose="05000000000000000000" pitchFamily="2" charset="2"/>
              <a:buChar char="q"/>
            </a:pPr>
            <a:r>
              <a:rPr lang="en-ID" sz="1100" dirty="0">
                <a:latin typeface="Verdana" panose="020B0604030504040204" pitchFamily="34" charset="0"/>
                <a:ea typeface="Verdana" panose="020B0604030504040204" pitchFamily="34" charset="0"/>
              </a:rPr>
              <a:t>Tableau: I</a:t>
            </a:r>
            <a:r>
              <a:rPr lang="en-US" sz="1100" dirty="0" err="1">
                <a:latin typeface="Verdana" panose="020B0604030504040204" pitchFamily="34" charset="0"/>
                <a:ea typeface="Verdana" panose="020B0604030504040204" pitchFamily="34" charset="0"/>
              </a:rPr>
              <a:t>nteractive</a:t>
            </a:r>
            <a:r>
              <a:rPr lang="en-US" sz="1100" dirty="0">
                <a:latin typeface="Verdana" panose="020B0604030504040204" pitchFamily="34" charset="0"/>
                <a:ea typeface="Verdana" panose="020B0604030504040204" pitchFamily="34" charset="0"/>
              </a:rPr>
              <a:t> dashboards and visual tracking of key attrition metrics</a:t>
            </a:r>
            <a:r>
              <a:rPr lang="en-US" dirty="0"/>
              <a:t>.</a:t>
            </a:r>
            <a:endParaRPr lang="en" b="1" dirty="0">
              <a:solidFill>
                <a:srgbClr val="000000"/>
              </a:solidFill>
            </a:endParaRPr>
          </a:p>
        </p:txBody>
      </p:sp>
      <p:sp>
        <p:nvSpPr>
          <p:cNvPr id="287" name="Google Shape;287;p18"/>
          <p:cNvSpPr txBox="1">
            <a:spLocks noGrp="1"/>
          </p:cNvSpPr>
          <p:nvPr>
            <p:ph type="title"/>
          </p:nvPr>
        </p:nvSpPr>
        <p:spPr>
          <a:xfrm>
            <a:off x="232873" y="347827"/>
            <a:ext cx="5857800" cy="509201"/>
          </a:xfrm>
          <a:prstGeom prst="rect">
            <a:avLst/>
          </a:prstGeom>
        </p:spPr>
        <p:txBody>
          <a:bodyPr spcFirstLastPara="1" wrap="square" lIns="91425" tIns="91425" rIns="91425" bIns="91425" anchor="ctr" anchorCtr="0">
            <a:noAutofit/>
          </a:bodyPr>
          <a:lstStyle/>
          <a:p>
            <a:r>
              <a:rPr lang="en" dirty="0">
                <a:solidFill>
                  <a:schemeClr val="bg2"/>
                </a:solidFill>
              </a:rPr>
              <a:t>Executive Summary</a:t>
            </a:r>
            <a:endParaRPr dirty="0">
              <a:solidFill>
                <a:schemeClr val="bg2"/>
              </a:solidFill>
            </a:endParaRPr>
          </a:p>
        </p:txBody>
      </p:sp>
      <p:sp>
        <p:nvSpPr>
          <p:cNvPr id="288" name="Google Shape;288;p18"/>
          <p:cNvSpPr txBox="1">
            <a:spLocks noGrp="1"/>
          </p:cNvSpPr>
          <p:nvPr>
            <p:ph type="body" idx="4294967295"/>
          </p:nvPr>
        </p:nvSpPr>
        <p:spPr>
          <a:xfrm>
            <a:off x="3590400" y="759450"/>
            <a:ext cx="5437200" cy="4482584"/>
          </a:xfrm>
          <a:prstGeom prst="rect">
            <a:avLst/>
          </a:prstGeom>
          <a:ln w="9525" cap="flat" cmpd="sng">
            <a:solidFill>
              <a:schemeClr val="accent1"/>
            </a:solidFill>
            <a:prstDash val="dash"/>
            <a:round/>
            <a:headEnd type="none" w="sm" len="sm"/>
            <a:tailEnd type="none" w="sm" len="sm"/>
          </a:ln>
        </p:spPr>
        <p:txBody>
          <a:bodyPr spcFirstLastPara="1" wrap="square" lIns="91425" tIns="91425" rIns="91425" bIns="91425" anchor="t" anchorCtr="0">
            <a:noAutofit/>
          </a:bodyPr>
          <a:lstStyle/>
          <a:p>
            <a:pPr marL="0" indent="0">
              <a:buNone/>
            </a:pPr>
            <a:r>
              <a:rPr lang="en" b="1" dirty="0">
                <a:solidFill>
                  <a:srgbClr val="000000"/>
                </a:solidFill>
                <a:highlight>
                  <a:srgbClr val="FFFF00"/>
                </a:highlight>
              </a:rPr>
              <a:t>Metrics:</a:t>
            </a:r>
          </a:p>
          <a:p>
            <a:pPr marL="228600" indent="-228600" algn="just">
              <a:buClr>
                <a:schemeClr val="tx1"/>
              </a:buClr>
              <a:buSzPct val="100000"/>
              <a:buFont typeface="+mj-lt"/>
              <a:buAutoNum type="arabicParenR"/>
            </a:pPr>
            <a:r>
              <a:rPr lang="en-US" sz="1100" dirty="0">
                <a:solidFill>
                  <a:srgbClr val="000000"/>
                </a:solidFill>
                <a:latin typeface="Verdana" panose="020B0604030504040204" pitchFamily="34" charset="0"/>
                <a:ea typeface="Verdana" panose="020B0604030504040204" pitchFamily="34" charset="0"/>
              </a:rPr>
              <a:t>Overall Attrition Rate: 16.12% (237 out of 1,470 employees resigned), placing the organization in a high-alert retention danger zone.</a:t>
            </a:r>
          </a:p>
          <a:p>
            <a:pPr marL="228600" indent="-228600" algn="just">
              <a:buClr>
                <a:schemeClr val="tx1"/>
              </a:buClr>
              <a:buSzPct val="100000"/>
              <a:buFont typeface="+mj-lt"/>
              <a:buAutoNum type="arabicParenR"/>
            </a:pPr>
            <a:r>
              <a:rPr lang="en-US" sz="1100" dirty="0">
                <a:solidFill>
                  <a:srgbClr val="000000"/>
                </a:solidFill>
                <a:latin typeface="Verdana" panose="020B0604030504040204" pitchFamily="34" charset="0"/>
                <a:ea typeface="Verdana" panose="020B0604030504040204" pitchFamily="34" charset="0"/>
              </a:rPr>
              <a:t>Employee Lifetime Value (ELV) Tenure Gap: Retained employees maintain an average tenure of 7.37 years, whereas separating employees drop off at an average of 5.13 years.</a:t>
            </a:r>
          </a:p>
          <a:p>
            <a:pPr marL="228600" indent="-228600" algn="just">
              <a:buClr>
                <a:schemeClr val="tx1"/>
              </a:buClr>
              <a:buSzPct val="100000"/>
              <a:buFont typeface="+mj-lt"/>
              <a:buAutoNum type="arabicParenR"/>
            </a:pPr>
            <a:r>
              <a:rPr lang="en-US" sz="1100" dirty="0">
                <a:solidFill>
                  <a:srgbClr val="000000"/>
                </a:solidFill>
                <a:latin typeface="Verdana" panose="020B0604030504040204" pitchFamily="34" charset="0"/>
                <a:ea typeface="Verdana" panose="020B0604030504040204" pitchFamily="34" charset="0"/>
              </a:rPr>
              <a:t>Average Commute Threshold: The mean distance from home for resigned employees is 10.63 km.</a:t>
            </a:r>
          </a:p>
          <a:p>
            <a:pPr marL="228600" indent="-228600" algn="just">
              <a:buClr>
                <a:schemeClr val="tx1"/>
              </a:buClr>
              <a:buSzPct val="100000"/>
              <a:buFont typeface="+mj-lt"/>
              <a:buAutoNum type="arabicParenR"/>
            </a:pPr>
            <a:r>
              <a:rPr lang="en-US" sz="1100" dirty="0">
                <a:solidFill>
                  <a:srgbClr val="000000"/>
                </a:solidFill>
                <a:latin typeface="Verdana" panose="020B0604030504040204" pitchFamily="34" charset="0"/>
                <a:ea typeface="Verdana" panose="020B0604030504040204" pitchFamily="34" charset="0"/>
              </a:rPr>
              <a:t>Salary Competitiveness Ratio: </a:t>
            </a:r>
            <a:r>
              <a:rPr lang="en-US" sz="1100" dirty="0" err="1">
                <a:solidFill>
                  <a:srgbClr val="000000"/>
                </a:solidFill>
                <a:latin typeface="Verdana" panose="020B0604030504040204" pitchFamily="34" charset="0"/>
                <a:ea typeface="Verdana" panose="020B0604030504040204" pitchFamily="34" charset="0"/>
              </a:rPr>
              <a:t>Lulusan</a:t>
            </a:r>
            <a:r>
              <a:rPr lang="en-US" sz="1100" dirty="0">
                <a:solidFill>
                  <a:srgbClr val="000000"/>
                </a:solidFill>
                <a:latin typeface="Verdana" panose="020B0604030504040204" pitchFamily="34" charset="0"/>
                <a:ea typeface="Verdana" panose="020B0604030504040204" pitchFamily="34" charset="0"/>
              </a:rPr>
              <a:t> </a:t>
            </a:r>
            <a:r>
              <a:rPr lang="en-US" sz="1100" dirty="0" err="1">
                <a:solidFill>
                  <a:srgbClr val="000000"/>
                </a:solidFill>
                <a:latin typeface="Verdana" panose="020B0604030504040204" pitchFamily="34" charset="0"/>
                <a:ea typeface="Verdana" panose="020B0604030504040204" pitchFamily="34" charset="0"/>
              </a:rPr>
              <a:t>Sarjana</a:t>
            </a:r>
            <a:r>
              <a:rPr lang="en-US" sz="1100" dirty="0">
                <a:solidFill>
                  <a:srgbClr val="000000"/>
                </a:solidFill>
                <a:latin typeface="Verdana" panose="020B0604030504040204" pitchFamily="34" charset="0"/>
                <a:ea typeface="Verdana" panose="020B0604030504040204" pitchFamily="34" charset="0"/>
              </a:rPr>
              <a:t> (S1) index is at 1.02 compared to the company-wide average salary, indicating strong aggregate educational pay parity.</a:t>
            </a:r>
          </a:p>
          <a:p>
            <a:pPr marL="228600" indent="-228600" algn="just">
              <a:buClr>
                <a:schemeClr val="tx1"/>
              </a:buClr>
              <a:buSzPct val="100000"/>
              <a:buFont typeface="+mj-lt"/>
              <a:buAutoNum type="arabicParenR"/>
            </a:pPr>
            <a:r>
              <a:rPr lang="en-US" sz="1100" dirty="0">
                <a:solidFill>
                  <a:srgbClr val="000000"/>
                </a:solidFill>
                <a:latin typeface="Verdana" panose="020B0604030504040204" pitchFamily="34" charset="0"/>
                <a:ea typeface="Verdana" panose="020B0604030504040204" pitchFamily="34" charset="0"/>
              </a:rPr>
              <a:t>Overtime Impact Ratio: Employees working overtime exhibit an attrition risk multiplier of 2.93x higher than non-overtime workers.</a:t>
            </a:r>
          </a:p>
          <a:p>
            <a:pPr marL="228600" indent="-228600" algn="just">
              <a:buClr>
                <a:schemeClr val="tx1"/>
              </a:buClr>
              <a:buSzPct val="100000"/>
              <a:buFont typeface="+mj-lt"/>
              <a:buAutoNum type="arabicParenR"/>
            </a:pPr>
            <a:r>
              <a:rPr lang="en-US" sz="1100" dirty="0">
                <a:solidFill>
                  <a:srgbClr val="000000"/>
                </a:solidFill>
                <a:latin typeface="Verdana" panose="020B0604030504040204" pitchFamily="34" charset="0"/>
                <a:ea typeface="Verdana" panose="020B0604030504040204" pitchFamily="34" charset="0"/>
              </a:rPr>
              <a:t>Career Promotion Lag: Employees stay stagnant in the exact same role for an average of 4.23 years, while the time elapsed since their last promotion averages 2.19 years.</a:t>
            </a:r>
          </a:p>
          <a:p>
            <a:pPr marL="228600" indent="-228600" algn="just">
              <a:buClr>
                <a:schemeClr val="tx1"/>
              </a:buClr>
              <a:buSzPct val="100000"/>
              <a:buFont typeface="+mj-lt"/>
              <a:buAutoNum type="arabicParenR"/>
            </a:pPr>
            <a:r>
              <a:rPr lang="en-US" sz="1100" dirty="0">
                <a:solidFill>
                  <a:srgbClr val="000000"/>
                </a:solidFill>
                <a:latin typeface="Verdana" panose="020B0604030504040204" pitchFamily="34" charset="0"/>
                <a:ea typeface="Verdana" panose="020B0604030504040204" pitchFamily="34" charset="0"/>
              </a:rPr>
              <a:t>Income-to-Job-Level Ratio: Calculated per department to measure internal compensation fairness relative to job responsibilities ($ / Job Level).</a:t>
            </a:r>
            <a:endParaRPr lang="en" sz="1100" dirty="0">
              <a:solidFill>
                <a:srgbClr val="000000"/>
              </a:solidFill>
              <a:latin typeface="Verdana" panose="020B0604030504040204" pitchFamily="34" charset="0"/>
              <a:ea typeface="Verdana" panose="020B0604030504040204" pitchFamily="34" charset="0"/>
            </a:endParaRPr>
          </a:p>
          <a:p>
            <a:pPr marL="0" indent="0">
              <a:buNone/>
            </a:pPr>
            <a:endParaRPr lang="en" b="1" dirty="0">
              <a:solidFill>
                <a:srgbClr val="000000"/>
              </a:solidFill>
            </a:endParaRPr>
          </a:p>
          <a:p>
            <a:pPr marL="0" indent="0">
              <a:buNone/>
            </a:pPr>
            <a:endParaRPr lang="en" b="1" dirty="0">
              <a:solidFill>
                <a:srgbClr val="000000"/>
              </a:solidFill>
            </a:endParaRPr>
          </a:p>
          <a:p>
            <a:pPr marL="0" indent="0">
              <a:buNone/>
            </a:pPr>
            <a:endParaRPr lang="en" b="1" dirty="0">
              <a:solidFill>
                <a:srgbClr val="000000"/>
              </a:solidFill>
            </a:endParaRPr>
          </a:p>
          <a:p>
            <a:pPr marL="0" indent="0">
              <a:buNone/>
            </a:pPr>
            <a:endParaRPr lang="en" b="1" dirty="0">
              <a:solidFill>
                <a:srgbClr val="000000"/>
              </a:solidFill>
            </a:endParaRPr>
          </a:p>
          <a:p>
            <a:pPr marL="0" indent="0">
              <a:buNone/>
            </a:pPr>
            <a:endParaRPr lang="en" b="1" dirty="0">
              <a:solidFill>
                <a:srgbClr val="000000"/>
              </a:solidFill>
            </a:endParaRPr>
          </a:p>
        </p:txBody>
      </p:sp>
      <p:sp>
        <p:nvSpPr>
          <p:cNvPr id="290" name="Google Shape;290;p18"/>
          <p:cNvSpPr/>
          <p:nvPr/>
        </p:nvSpPr>
        <p:spPr>
          <a:xfrm>
            <a:off x="311700" y="136625"/>
            <a:ext cx="1241400" cy="211200"/>
          </a:xfrm>
          <a:prstGeom prst="rect">
            <a:avLst/>
          </a:prstGeom>
          <a:solidFill>
            <a:srgbClr val="E06666"/>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algn="ctr"/>
            <a:r>
              <a:rPr lang="en" sz="1100" b="1" i="1">
                <a:latin typeface="Montserrat"/>
                <a:ea typeface="Montserrat"/>
                <a:cs typeface="Montserrat"/>
                <a:sym typeface="Montserrat"/>
              </a:rPr>
              <a:t>LAST STEP</a:t>
            </a:r>
            <a:endParaRPr sz="1100" b="1" i="1">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FE50"/>
        </a:solidFill>
        <a:effectLst/>
      </p:bgPr>
    </p:bg>
    <p:spTree>
      <p:nvGrpSpPr>
        <p:cNvPr id="1" name="Shape 285"/>
        <p:cNvGrpSpPr/>
        <p:nvPr/>
      </p:nvGrpSpPr>
      <p:grpSpPr>
        <a:xfrm>
          <a:off x="0" y="0"/>
          <a:ext cx="0" cy="0"/>
          <a:chOff x="0" y="0"/>
          <a:chExt cx="0" cy="0"/>
        </a:xfrm>
      </p:grpSpPr>
      <p:sp>
        <p:nvSpPr>
          <p:cNvPr id="287" name="Google Shape;287;p18"/>
          <p:cNvSpPr txBox="1">
            <a:spLocks noGrp="1"/>
          </p:cNvSpPr>
          <p:nvPr>
            <p:ph type="title"/>
          </p:nvPr>
        </p:nvSpPr>
        <p:spPr>
          <a:xfrm>
            <a:off x="232873" y="347827"/>
            <a:ext cx="5857800" cy="509201"/>
          </a:xfrm>
          <a:prstGeom prst="rect">
            <a:avLst/>
          </a:prstGeom>
        </p:spPr>
        <p:txBody>
          <a:bodyPr spcFirstLastPara="1" wrap="square" lIns="91425" tIns="91425" rIns="91425" bIns="91425" anchor="ctr" anchorCtr="0">
            <a:noAutofit/>
          </a:bodyPr>
          <a:lstStyle/>
          <a:p>
            <a:r>
              <a:rPr lang="en" dirty="0">
                <a:solidFill>
                  <a:schemeClr val="bg2"/>
                </a:solidFill>
              </a:rPr>
              <a:t>Executive Summary</a:t>
            </a:r>
            <a:endParaRPr dirty="0">
              <a:solidFill>
                <a:schemeClr val="bg2"/>
              </a:solidFill>
            </a:endParaRPr>
          </a:p>
        </p:txBody>
      </p:sp>
      <p:sp>
        <p:nvSpPr>
          <p:cNvPr id="288" name="Google Shape;288;p18"/>
          <p:cNvSpPr txBox="1">
            <a:spLocks noGrp="1"/>
          </p:cNvSpPr>
          <p:nvPr>
            <p:ph type="body" idx="4294967295"/>
          </p:nvPr>
        </p:nvSpPr>
        <p:spPr>
          <a:xfrm>
            <a:off x="116400" y="909301"/>
            <a:ext cx="1824600" cy="509202"/>
          </a:xfrm>
          <a:prstGeom prst="rect">
            <a:avLst/>
          </a:prstGeom>
          <a:ln w="9525" cap="flat" cmpd="sng">
            <a:solidFill>
              <a:schemeClr val="accent1"/>
            </a:solidFill>
            <a:prstDash val="dash"/>
            <a:round/>
            <a:headEnd type="none" w="sm" len="sm"/>
            <a:tailEnd type="none" w="sm" len="sm"/>
          </a:ln>
        </p:spPr>
        <p:txBody>
          <a:bodyPr spcFirstLastPara="1" wrap="square" lIns="91425" tIns="91425" rIns="91425" bIns="91425" anchor="t" anchorCtr="0">
            <a:noAutofit/>
          </a:bodyPr>
          <a:lstStyle/>
          <a:p>
            <a:pPr marL="0" indent="0">
              <a:buNone/>
            </a:pPr>
            <a:r>
              <a:rPr lang="en" b="1" dirty="0">
                <a:solidFill>
                  <a:srgbClr val="000000"/>
                </a:solidFill>
                <a:highlight>
                  <a:srgbClr val="FFFF00"/>
                </a:highlight>
              </a:rPr>
              <a:t>Analysis Result</a:t>
            </a:r>
            <a:r>
              <a:rPr lang="en" b="1" dirty="0">
                <a:solidFill>
                  <a:srgbClr val="000000"/>
                </a:solidFill>
                <a:highlight>
                  <a:srgbClr val="C0C0C0"/>
                </a:highlight>
              </a:rPr>
              <a:t>:</a:t>
            </a:r>
            <a:endParaRPr b="1" dirty="0">
              <a:solidFill>
                <a:srgbClr val="000000"/>
              </a:solidFill>
              <a:highlight>
                <a:srgbClr val="C0C0C0"/>
              </a:highlight>
            </a:endParaRPr>
          </a:p>
          <a:p>
            <a:pPr marL="0" indent="0">
              <a:buNone/>
            </a:pPr>
            <a:endParaRPr lang="en" b="1" dirty="0">
              <a:solidFill>
                <a:srgbClr val="000000"/>
              </a:solidFill>
              <a:highlight>
                <a:srgbClr val="C0C0C0"/>
              </a:highlight>
            </a:endParaRPr>
          </a:p>
          <a:p>
            <a:pPr marL="0" indent="0">
              <a:buNone/>
            </a:pPr>
            <a:endParaRPr lang="en" b="1" dirty="0">
              <a:solidFill>
                <a:srgbClr val="000000"/>
              </a:solidFill>
              <a:highlight>
                <a:srgbClr val="C0C0C0"/>
              </a:highlight>
            </a:endParaRPr>
          </a:p>
          <a:p>
            <a:pPr marL="0" indent="0">
              <a:buNone/>
            </a:pPr>
            <a:endParaRPr lang="en" b="1" dirty="0">
              <a:solidFill>
                <a:srgbClr val="000000"/>
              </a:solidFill>
              <a:highlight>
                <a:srgbClr val="C0C0C0"/>
              </a:highlight>
            </a:endParaRPr>
          </a:p>
          <a:p>
            <a:pPr marL="0" indent="0">
              <a:buNone/>
            </a:pPr>
            <a:endParaRPr lang="en" b="1" dirty="0">
              <a:solidFill>
                <a:srgbClr val="000000"/>
              </a:solidFill>
              <a:highlight>
                <a:srgbClr val="C0C0C0"/>
              </a:highlight>
            </a:endParaRPr>
          </a:p>
          <a:p>
            <a:pPr marL="0" indent="0">
              <a:buNone/>
            </a:pPr>
            <a:endParaRPr lang="en" b="1" dirty="0">
              <a:solidFill>
                <a:srgbClr val="000000"/>
              </a:solidFill>
              <a:highlight>
                <a:srgbClr val="C0C0C0"/>
              </a:highlight>
            </a:endParaRPr>
          </a:p>
          <a:p>
            <a:pPr marL="0" indent="0">
              <a:buNone/>
            </a:pPr>
            <a:endParaRPr lang="en" b="1" dirty="0">
              <a:solidFill>
                <a:srgbClr val="000000"/>
              </a:solidFill>
              <a:highlight>
                <a:srgbClr val="C0C0C0"/>
              </a:highlight>
            </a:endParaRPr>
          </a:p>
          <a:p>
            <a:pPr marL="0" indent="0">
              <a:buNone/>
            </a:pPr>
            <a:endParaRPr lang="en" b="1" dirty="0">
              <a:solidFill>
                <a:srgbClr val="000000"/>
              </a:solidFill>
              <a:highlight>
                <a:srgbClr val="C0C0C0"/>
              </a:highlight>
            </a:endParaRPr>
          </a:p>
          <a:p>
            <a:pPr marL="0" indent="0">
              <a:buNone/>
            </a:pPr>
            <a:endParaRPr lang="en-ID" sz="1000" dirty="0">
              <a:solidFill>
                <a:schemeClr val="tx1"/>
              </a:solidFill>
              <a:highlight>
                <a:srgbClr val="C0C0C0"/>
              </a:highlight>
              <a:latin typeface="Verdana" panose="020B0604030504040204" pitchFamily="34" charset="0"/>
              <a:ea typeface="Verdana" panose="020B0604030504040204" pitchFamily="34" charset="0"/>
            </a:endParaRPr>
          </a:p>
          <a:p>
            <a:pPr marL="0" indent="0">
              <a:buNone/>
            </a:pPr>
            <a:endParaRPr lang="en-ID" sz="1100" dirty="0">
              <a:solidFill>
                <a:schemeClr val="tx1"/>
              </a:solidFill>
              <a:highlight>
                <a:srgbClr val="C0C0C0"/>
              </a:highlight>
              <a:latin typeface="Verdana" panose="020B0604030504040204" pitchFamily="34" charset="0"/>
              <a:ea typeface="Verdana" panose="020B0604030504040204" pitchFamily="34" charset="0"/>
            </a:endParaRPr>
          </a:p>
          <a:p>
            <a:pPr marL="0" indent="0">
              <a:buNone/>
            </a:pPr>
            <a:endParaRPr lang="en-ID" dirty="0">
              <a:solidFill>
                <a:schemeClr val="tx1"/>
              </a:solidFill>
              <a:highlight>
                <a:srgbClr val="C0C0C0"/>
              </a:highlight>
              <a:latin typeface="Verdana" panose="020B0604030504040204" pitchFamily="34" charset="0"/>
              <a:ea typeface="Verdana" panose="020B0604030504040204" pitchFamily="34" charset="0"/>
            </a:endParaRPr>
          </a:p>
          <a:p>
            <a:pPr marL="0" indent="0">
              <a:buNone/>
            </a:pPr>
            <a:endParaRPr lang="en" b="1" dirty="0">
              <a:solidFill>
                <a:srgbClr val="000000"/>
              </a:solidFill>
              <a:highlight>
                <a:srgbClr val="C0C0C0"/>
              </a:highlight>
            </a:endParaRPr>
          </a:p>
        </p:txBody>
      </p:sp>
      <p:sp>
        <p:nvSpPr>
          <p:cNvPr id="290" name="Google Shape;290;p18"/>
          <p:cNvSpPr/>
          <p:nvPr/>
        </p:nvSpPr>
        <p:spPr>
          <a:xfrm>
            <a:off x="311700" y="136625"/>
            <a:ext cx="1241400" cy="211200"/>
          </a:xfrm>
          <a:prstGeom prst="rect">
            <a:avLst/>
          </a:prstGeom>
          <a:solidFill>
            <a:srgbClr val="E06666"/>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algn="ctr"/>
            <a:r>
              <a:rPr lang="en" sz="1100" b="1" i="1">
                <a:latin typeface="Montserrat"/>
                <a:ea typeface="Montserrat"/>
                <a:cs typeface="Montserrat"/>
                <a:sym typeface="Montserrat"/>
              </a:rPr>
              <a:t>LAST STEP</a:t>
            </a:r>
            <a:endParaRPr sz="1100" b="1" i="1">
              <a:latin typeface="Montserrat"/>
              <a:ea typeface="Montserrat"/>
              <a:cs typeface="Montserrat"/>
              <a:sym typeface="Montserrat"/>
            </a:endParaRPr>
          </a:p>
        </p:txBody>
      </p:sp>
      <p:graphicFrame>
        <p:nvGraphicFramePr>
          <p:cNvPr id="2" name="Table 3">
            <a:extLst>
              <a:ext uri="{FF2B5EF4-FFF2-40B4-BE49-F238E27FC236}">
                <a16:creationId xmlns:a16="http://schemas.microsoft.com/office/drawing/2014/main" id="{B9E91370-F851-45F9-AAD4-1EC0D2CD0352}"/>
              </a:ext>
            </a:extLst>
          </p:cNvPr>
          <p:cNvGraphicFramePr>
            <a:graphicFrameLocks noGrp="1"/>
          </p:cNvGraphicFramePr>
          <p:nvPr>
            <p:extLst>
              <p:ext uri="{D42A27DB-BD31-4B8C-83A1-F6EECF244321}">
                <p14:modId xmlns:p14="http://schemas.microsoft.com/office/powerpoint/2010/main" val="2995703547"/>
              </p:ext>
            </p:extLst>
          </p:nvPr>
        </p:nvGraphicFramePr>
        <p:xfrm>
          <a:off x="2142269" y="857028"/>
          <a:ext cx="6885331" cy="2678688"/>
        </p:xfrm>
        <a:graphic>
          <a:graphicData uri="http://schemas.openxmlformats.org/drawingml/2006/table">
            <a:tbl>
              <a:tblPr firstRow="1" bandRow="1">
                <a:tableStyleId>{5C22544A-7EE6-4342-B048-85BDC9FD1C3A}</a:tableStyleId>
              </a:tblPr>
              <a:tblGrid>
                <a:gridCol w="1746125">
                  <a:extLst>
                    <a:ext uri="{9D8B030D-6E8A-4147-A177-3AD203B41FA5}">
                      <a16:colId xmlns:a16="http://schemas.microsoft.com/office/drawing/2014/main" val="3533597244"/>
                    </a:ext>
                  </a:extLst>
                </a:gridCol>
                <a:gridCol w="3286196">
                  <a:extLst>
                    <a:ext uri="{9D8B030D-6E8A-4147-A177-3AD203B41FA5}">
                      <a16:colId xmlns:a16="http://schemas.microsoft.com/office/drawing/2014/main" val="2728551311"/>
                    </a:ext>
                  </a:extLst>
                </a:gridCol>
                <a:gridCol w="1853010">
                  <a:extLst>
                    <a:ext uri="{9D8B030D-6E8A-4147-A177-3AD203B41FA5}">
                      <a16:colId xmlns:a16="http://schemas.microsoft.com/office/drawing/2014/main" val="3681397280"/>
                    </a:ext>
                  </a:extLst>
                </a:gridCol>
              </a:tblGrid>
              <a:tr h="260405">
                <a:tc>
                  <a:txBody>
                    <a:bodyPr/>
                    <a:lstStyle/>
                    <a:p>
                      <a:pPr algn="ctr">
                        <a:lnSpc>
                          <a:spcPct val="107000"/>
                        </a:lnSpc>
                        <a:spcAft>
                          <a:spcPts val="0"/>
                        </a:spcAft>
                      </a:pPr>
                      <a:r>
                        <a:rPr lang="en-ID" sz="800" b="1">
                          <a:solidFill>
                            <a:schemeClr val="tx1"/>
                          </a:solidFill>
                          <a:effectLst/>
                          <a:latin typeface="Verdana" panose="020B0604030504040204" pitchFamily="34" charset="0"/>
                          <a:ea typeface="Verdana" panose="020B0604030504040204" pitchFamily="34" charset="0"/>
                          <a:cs typeface="Arial" panose="020B0604020202020204" pitchFamily="34" charset="0"/>
                        </a:rPr>
                        <a:t>Attrition Rate</a:t>
                      </a:r>
                      <a:endParaRPr lang="en-ID" sz="8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107950" marR="107950" marT="107950" marB="107950"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US" sz="800" b="1" dirty="0">
                          <a:solidFill>
                            <a:schemeClr val="tx1"/>
                          </a:solidFill>
                          <a:latin typeface="Verdana" panose="020B0604030504040204" pitchFamily="34" charset="0"/>
                          <a:ea typeface="Verdana" panose="020B0604030504040204" pitchFamily="34" charset="0"/>
                        </a:rPr>
                        <a:t>Data / Finding</a:t>
                      </a:r>
                      <a:endParaRPr lang="en-ID" sz="800" b="1" dirty="0">
                        <a:solidFill>
                          <a:schemeClr val="tx1"/>
                        </a:solidFill>
                        <a:latin typeface="Verdana" panose="020B0604030504040204" pitchFamily="34" charset="0"/>
                        <a:ea typeface="Verdana" panose="020B0604030504040204" pitchFamily="34" charset="0"/>
                      </a:endParaRP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US" sz="800" b="1" dirty="0">
                          <a:solidFill>
                            <a:schemeClr val="tx1"/>
                          </a:solidFill>
                          <a:latin typeface="Verdana" panose="020B0604030504040204" pitchFamily="34" charset="0"/>
                          <a:ea typeface="Verdana" panose="020B0604030504040204" pitchFamily="34" charset="0"/>
                        </a:rPr>
                        <a:t>Status</a:t>
                      </a:r>
                      <a:endParaRPr lang="en-ID" sz="800" b="1" dirty="0">
                        <a:solidFill>
                          <a:schemeClr val="tx1"/>
                        </a:solidFill>
                        <a:latin typeface="Verdana" panose="020B0604030504040204" pitchFamily="34" charset="0"/>
                        <a:ea typeface="Verdana" panose="020B0604030504040204" pitchFamily="34" charset="0"/>
                      </a:endParaRP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extLst>
                  <a:ext uri="{0D108BD9-81ED-4DB2-BD59-A6C34878D82A}">
                    <a16:rowId xmlns:a16="http://schemas.microsoft.com/office/drawing/2014/main" val="4178968732"/>
                  </a:ext>
                </a:extLst>
              </a:tr>
              <a:tr h="260405">
                <a:tc>
                  <a:txBody>
                    <a:bodyPr/>
                    <a:lstStyle/>
                    <a:p>
                      <a:pPr algn="ctr">
                        <a:lnSpc>
                          <a:spcPct val="107000"/>
                        </a:lnSpc>
                        <a:spcAft>
                          <a:spcPts val="0"/>
                        </a:spcAft>
                      </a:pPr>
                      <a:r>
                        <a:rPr lang="en-ID" sz="800" b="0" dirty="0">
                          <a:solidFill>
                            <a:schemeClr val="tx1"/>
                          </a:solidFill>
                          <a:latin typeface="Verdana" panose="020B0604030504040204" pitchFamily="34" charset="0"/>
                          <a:ea typeface="Verdana" panose="020B0604030504040204" pitchFamily="34" charset="0"/>
                        </a:rPr>
                        <a:t>Attrition Rate</a:t>
                      </a:r>
                      <a:endParaRPr lang="en-ID" sz="800" b="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107950" marR="107950" marT="107950" marB="107950"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ID" sz="800" b="0" dirty="0">
                          <a:solidFill>
                            <a:schemeClr val="tx1"/>
                          </a:solidFill>
                          <a:latin typeface="Verdana" panose="020B0604030504040204" pitchFamily="34" charset="0"/>
                          <a:ea typeface="Verdana" panose="020B0604030504040204" pitchFamily="34" charset="0"/>
                        </a:rPr>
                        <a:t>16.12% (Target: </a:t>
                      </a:r>
                      <a:r>
                        <a:rPr lang="en-ID" sz="800" b="0" i="0" u="none" strike="noStrike" cap="none" dirty="0">
                          <a:solidFill>
                            <a:schemeClr val="tx1"/>
                          </a:solidFill>
                          <a:effectLst/>
                          <a:latin typeface="Verdana" panose="020B0604030504040204" pitchFamily="34" charset="0"/>
                          <a:ea typeface="Verdana" panose="020B0604030504040204" pitchFamily="34" charset="0"/>
                          <a:cs typeface="+mn-cs"/>
                          <a:sym typeface="Arial"/>
                        </a:rPr>
                        <a:t>$\le 10\%$</a:t>
                      </a:r>
                      <a:r>
                        <a:rPr lang="en-ID" sz="800" b="0" dirty="0">
                          <a:solidFill>
                            <a:schemeClr val="tx1"/>
                          </a:solidFill>
                          <a:latin typeface="Verdana" panose="020B0604030504040204" pitchFamily="34" charset="0"/>
                          <a:ea typeface="Verdana" panose="020B0604030504040204" pitchFamily="34" charset="0"/>
                        </a:rPr>
                        <a:t>)</a:t>
                      </a: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ID" sz="800" b="0" dirty="0">
                          <a:solidFill>
                            <a:schemeClr val="tx1"/>
                          </a:solidFill>
                          <a:latin typeface="Verdana" panose="020B0604030504040204" pitchFamily="34" charset="0"/>
                          <a:ea typeface="Verdana" panose="020B0604030504040204" pitchFamily="34" charset="0"/>
                        </a:rPr>
                        <a:t>ALERT</a:t>
                      </a: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extLst>
                  <a:ext uri="{0D108BD9-81ED-4DB2-BD59-A6C34878D82A}">
                    <a16:rowId xmlns:a16="http://schemas.microsoft.com/office/drawing/2014/main" val="928947643"/>
                  </a:ext>
                </a:extLst>
              </a:tr>
              <a:tr h="260405">
                <a:tc>
                  <a:txBody>
                    <a:bodyPr/>
                    <a:lstStyle/>
                    <a:p>
                      <a:pPr algn="ctr">
                        <a:lnSpc>
                          <a:spcPct val="107000"/>
                        </a:lnSpc>
                        <a:spcAft>
                          <a:spcPts val="0"/>
                        </a:spcAft>
                      </a:pPr>
                      <a:r>
                        <a:rPr lang="en-ID" sz="800" b="0" dirty="0">
                          <a:solidFill>
                            <a:schemeClr val="tx1"/>
                          </a:solidFill>
                          <a:latin typeface="Verdana" panose="020B0604030504040204" pitchFamily="34" charset="0"/>
                          <a:ea typeface="Verdana" panose="020B0604030504040204" pitchFamily="34" charset="0"/>
                        </a:rPr>
                        <a:t>Critical Turnover Window</a:t>
                      </a:r>
                      <a:endParaRPr lang="en-ID" sz="800" b="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107950" marR="107950" marT="107950" marB="107950"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US" sz="800" b="0" dirty="0">
                          <a:solidFill>
                            <a:schemeClr val="tx1"/>
                          </a:solidFill>
                          <a:latin typeface="Verdana" panose="020B0604030504040204" pitchFamily="34" charset="0"/>
                          <a:ea typeface="Verdana" panose="020B0604030504040204" pitchFamily="34" charset="0"/>
                        </a:rPr>
                        <a:t>Avg. 5.13 years for departures</a:t>
                      </a:r>
                      <a:endParaRPr lang="en-ID" sz="800" b="0" dirty="0">
                        <a:solidFill>
                          <a:schemeClr val="tx1"/>
                        </a:solidFill>
                        <a:latin typeface="Verdana" panose="020B0604030504040204" pitchFamily="34" charset="0"/>
                        <a:ea typeface="Verdana" panose="020B0604030504040204" pitchFamily="34" charset="0"/>
                      </a:endParaRP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ID" sz="800" b="0" dirty="0">
                          <a:solidFill>
                            <a:schemeClr val="tx1"/>
                          </a:solidFill>
                          <a:latin typeface="Verdana" panose="020B0604030504040204" pitchFamily="34" charset="0"/>
                          <a:ea typeface="Verdana" panose="020B0604030504040204" pitchFamily="34" charset="0"/>
                        </a:rPr>
                        <a:t>CAUTION</a:t>
                      </a: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extLst>
                  <a:ext uri="{0D108BD9-81ED-4DB2-BD59-A6C34878D82A}">
                    <a16:rowId xmlns:a16="http://schemas.microsoft.com/office/drawing/2014/main" val="1840660090"/>
                  </a:ext>
                </a:extLst>
              </a:tr>
              <a:tr h="260405">
                <a:tc>
                  <a:txBody>
                    <a:bodyPr/>
                    <a:lstStyle/>
                    <a:p>
                      <a:pPr algn="ctr">
                        <a:lnSpc>
                          <a:spcPct val="107000"/>
                        </a:lnSpc>
                        <a:spcAft>
                          <a:spcPts val="0"/>
                        </a:spcAft>
                      </a:pPr>
                      <a:r>
                        <a:rPr lang="en-ID" sz="800" b="0" dirty="0">
                          <a:solidFill>
                            <a:schemeClr val="tx1"/>
                          </a:solidFill>
                          <a:latin typeface="Verdana" panose="020B0604030504040204" pitchFamily="34" charset="0"/>
                          <a:ea typeface="Verdana" panose="020B0604030504040204" pitchFamily="34" charset="0"/>
                        </a:rPr>
                        <a:t>Commute Threshold</a:t>
                      </a:r>
                      <a:endParaRPr lang="en-ID" sz="800" b="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107950" marR="107950" marT="107950" marB="107950"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ID" sz="800" b="0" dirty="0">
                          <a:solidFill>
                            <a:schemeClr val="tx1"/>
                          </a:solidFill>
                          <a:latin typeface="Verdana" panose="020B0604030504040204" pitchFamily="34" charset="0"/>
                          <a:ea typeface="Verdana" panose="020B0604030504040204" pitchFamily="34" charset="0"/>
                        </a:rPr>
                        <a:t>Avg. distance: 10.63 km</a:t>
                      </a: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ID" sz="800" b="0" dirty="0">
                          <a:solidFill>
                            <a:schemeClr val="tx1"/>
                          </a:solidFill>
                          <a:latin typeface="Verdana" panose="020B0604030504040204" pitchFamily="34" charset="0"/>
                          <a:ea typeface="Verdana" panose="020B0604030504040204" pitchFamily="34" charset="0"/>
                        </a:rPr>
                        <a:t>WATCH</a:t>
                      </a: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extLst>
                  <a:ext uri="{0D108BD9-81ED-4DB2-BD59-A6C34878D82A}">
                    <a16:rowId xmlns:a16="http://schemas.microsoft.com/office/drawing/2014/main" val="3625435036"/>
                  </a:ext>
                </a:extLst>
              </a:tr>
              <a:tr h="260405">
                <a:tc>
                  <a:txBody>
                    <a:bodyPr/>
                    <a:lstStyle/>
                    <a:p>
                      <a:pPr algn="ctr">
                        <a:lnSpc>
                          <a:spcPct val="107000"/>
                        </a:lnSpc>
                        <a:spcAft>
                          <a:spcPts val="0"/>
                        </a:spcAft>
                      </a:pPr>
                      <a:r>
                        <a:rPr lang="en-ID" sz="800" b="0" dirty="0">
                          <a:solidFill>
                            <a:schemeClr val="tx1"/>
                          </a:solidFill>
                          <a:latin typeface="Verdana" panose="020B0604030504040204" pitchFamily="34" charset="0"/>
                          <a:ea typeface="Verdana" panose="020B0604030504040204" pitchFamily="34" charset="0"/>
                        </a:rPr>
                        <a:t>Bachelor's Pay Ratio</a:t>
                      </a:r>
                      <a:endParaRPr lang="en-ID" sz="800" b="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107950" marR="107950" marT="107950" marB="107950"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US" sz="800" b="0" dirty="0">
                          <a:solidFill>
                            <a:schemeClr val="tx1"/>
                          </a:solidFill>
                          <a:latin typeface="Verdana" panose="020B0604030504040204" pitchFamily="34" charset="0"/>
                          <a:ea typeface="Verdana" panose="020B0604030504040204" pitchFamily="34" charset="0"/>
                        </a:rPr>
                        <a:t>1.02 (2% above company avg.)</a:t>
                      </a:r>
                      <a:endParaRPr lang="en-ID" sz="800" b="0" dirty="0">
                        <a:solidFill>
                          <a:schemeClr val="tx1"/>
                        </a:solidFill>
                        <a:latin typeface="Verdana" panose="020B0604030504040204" pitchFamily="34" charset="0"/>
                        <a:ea typeface="Verdana" panose="020B0604030504040204" pitchFamily="34" charset="0"/>
                      </a:endParaRP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US" sz="800" b="0" dirty="0">
                          <a:solidFill>
                            <a:schemeClr val="tx1"/>
                          </a:solidFill>
                          <a:latin typeface="Verdana" panose="020B0604030504040204" pitchFamily="34" charset="0"/>
                          <a:ea typeface="Verdana" panose="020B0604030504040204" pitchFamily="34" charset="0"/>
                        </a:rPr>
                        <a:t>HEALTHY</a:t>
                      </a:r>
                      <a:endParaRPr lang="en-ID" sz="800" b="0" dirty="0">
                        <a:solidFill>
                          <a:schemeClr val="tx1"/>
                        </a:solidFill>
                        <a:latin typeface="Verdana" panose="020B0604030504040204" pitchFamily="34" charset="0"/>
                        <a:ea typeface="Verdana" panose="020B0604030504040204" pitchFamily="34" charset="0"/>
                      </a:endParaRP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extLst>
                  <a:ext uri="{0D108BD9-81ED-4DB2-BD59-A6C34878D82A}">
                    <a16:rowId xmlns:a16="http://schemas.microsoft.com/office/drawing/2014/main" val="689603783"/>
                  </a:ext>
                </a:extLst>
              </a:tr>
              <a:tr h="260405">
                <a:tc>
                  <a:txBody>
                    <a:bodyPr/>
                    <a:lstStyle/>
                    <a:p>
                      <a:pPr algn="ctr">
                        <a:lnSpc>
                          <a:spcPct val="107000"/>
                        </a:lnSpc>
                        <a:spcAft>
                          <a:spcPts val="0"/>
                        </a:spcAft>
                      </a:pPr>
                      <a:r>
                        <a:rPr lang="en-ID" sz="800" b="0" dirty="0">
                          <a:solidFill>
                            <a:schemeClr val="tx1"/>
                          </a:solidFill>
                          <a:latin typeface="Verdana" panose="020B0604030504040204" pitchFamily="34" charset="0"/>
                          <a:ea typeface="Verdana" panose="020B0604030504040204" pitchFamily="34" charset="0"/>
                        </a:rPr>
                        <a:t>Overtime Impact</a:t>
                      </a:r>
                      <a:endParaRPr lang="en-ID" sz="800" b="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107950" marR="107950" marT="107950" marB="107950"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US" sz="800" b="0" dirty="0">
                          <a:solidFill>
                            <a:schemeClr val="tx1"/>
                          </a:solidFill>
                          <a:latin typeface="Verdana" panose="020B0604030504040204" pitchFamily="34" charset="0"/>
                          <a:ea typeface="Verdana" panose="020B0604030504040204" pitchFamily="34" charset="0"/>
                        </a:rPr>
                        <a:t>Attrition risk surges 2.93x higher</a:t>
                      </a:r>
                      <a:endParaRPr lang="en-ID" sz="800" b="0" dirty="0">
                        <a:solidFill>
                          <a:schemeClr val="tx1"/>
                        </a:solidFill>
                        <a:latin typeface="Verdana" panose="020B0604030504040204" pitchFamily="34" charset="0"/>
                        <a:ea typeface="Verdana" panose="020B0604030504040204" pitchFamily="34" charset="0"/>
                      </a:endParaRP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ID" sz="800" b="0" dirty="0">
                          <a:solidFill>
                            <a:schemeClr val="tx1"/>
                          </a:solidFill>
                          <a:latin typeface="Verdana" panose="020B0604030504040204" pitchFamily="34" charset="0"/>
                          <a:ea typeface="Verdana" panose="020B0604030504040204" pitchFamily="34" charset="0"/>
                        </a:rPr>
                        <a:t>CRITICAL</a:t>
                      </a: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extLst>
                  <a:ext uri="{0D108BD9-81ED-4DB2-BD59-A6C34878D82A}">
                    <a16:rowId xmlns:a16="http://schemas.microsoft.com/office/drawing/2014/main" val="2428612786"/>
                  </a:ext>
                </a:extLst>
              </a:tr>
              <a:tr h="260405">
                <a:tc>
                  <a:txBody>
                    <a:bodyPr/>
                    <a:lstStyle/>
                    <a:p>
                      <a:pPr algn="ctr">
                        <a:lnSpc>
                          <a:spcPct val="107000"/>
                        </a:lnSpc>
                        <a:spcAft>
                          <a:spcPts val="0"/>
                        </a:spcAft>
                      </a:pPr>
                      <a:r>
                        <a:rPr lang="en-ID" sz="800" b="0" dirty="0">
                          <a:solidFill>
                            <a:schemeClr val="tx1"/>
                          </a:solidFill>
                          <a:effectLst/>
                          <a:latin typeface="Verdana" panose="020B0604030504040204" pitchFamily="34" charset="0"/>
                          <a:ea typeface="Verdana" panose="020B0604030504040204" pitchFamily="34" charset="0"/>
                          <a:cs typeface="Arial" panose="020B0604020202020204" pitchFamily="34" charset="0"/>
                        </a:rPr>
                        <a:t>Income to Job Level Ratio</a:t>
                      </a:r>
                      <a:endParaRPr lang="en-ID" sz="800" b="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107950" marR="107950" marT="107950" marB="107950"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US" sz="800" b="0" dirty="0">
                          <a:solidFill>
                            <a:schemeClr val="tx1"/>
                          </a:solidFill>
                          <a:latin typeface="Verdana" panose="020B0604030504040204" pitchFamily="34" charset="0"/>
                          <a:ea typeface="Verdana" panose="020B0604030504040204" pitchFamily="34" charset="0"/>
                        </a:rPr>
                        <a:t>4.23 years in role / 2.19 year promotion lag</a:t>
                      </a:r>
                      <a:endParaRPr lang="en-ID" sz="800" b="0" dirty="0">
                        <a:solidFill>
                          <a:schemeClr val="tx1"/>
                        </a:solidFill>
                        <a:latin typeface="Verdana" panose="020B0604030504040204" pitchFamily="34" charset="0"/>
                        <a:ea typeface="Verdana" panose="020B0604030504040204" pitchFamily="34" charset="0"/>
                      </a:endParaRP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ID" sz="800" b="0" dirty="0">
                          <a:solidFill>
                            <a:schemeClr val="tx1"/>
                          </a:solidFill>
                          <a:latin typeface="Verdana" panose="020B0604030504040204" pitchFamily="34" charset="0"/>
                          <a:ea typeface="Verdana" panose="020B0604030504040204" pitchFamily="34" charset="0"/>
                        </a:rPr>
                        <a:t>CAUTION</a:t>
                      </a: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extLst>
                  <a:ext uri="{0D108BD9-81ED-4DB2-BD59-A6C34878D82A}">
                    <a16:rowId xmlns:a16="http://schemas.microsoft.com/office/drawing/2014/main" val="588120197"/>
                  </a:ext>
                </a:extLst>
              </a:tr>
              <a:tr h="260405">
                <a:tc>
                  <a:txBody>
                    <a:bodyPr/>
                    <a:lstStyle/>
                    <a:p>
                      <a:pPr algn="ctr">
                        <a:lnSpc>
                          <a:spcPct val="107000"/>
                        </a:lnSpc>
                        <a:spcAft>
                          <a:spcPts val="0"/>
                        </a:spcAft>
                      </a:pPr>
                      <a:r>
                        <a:rPr lang="en-ID" sz="800" b="0" dirty="0">
                          <a:solidFill>
                            <a:schemeClr val="tx1"/>
                          </a:solidFill>
                          <a:latin typeface="Verdana" panose="020B0604030504040204" pitchFamily="34" charset="0"/>
                          <a:ea typeface="Verdana" panose="020B0604030504040204" pitchFamily="34" charset="0"/>
                        </a:rPr>
                        <a:t>Pay vs. Responsibility</a:t>
                      </a:r>
                      <a:endParaRPr lang="en-ID" sz="800" b="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107950" marR="107950" marT="107950" marB="107950"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ID" sz="800" b="0" dirty="0">
                          <a:solidFill>
                            <a:schemeClr val="tx1"/>
                          </a:solidFill>
                          <a:latin typeface="Verdana" panose="020B0604030504040204" pitchFamily="34" charset="0"/>
                          <a:ea typeface="Verdana" panose="020B0604030504040204" pitchFamily="34" charset="0"/>
                        </a:rPr>
                        <a:t>HR ($3,839) &amp; R&amp;D ($3,843) underpaid at Level 5</a:t>
                      </a: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tc>
                  <a:txBody>
                    <a:bodyPr/>
                    <a:lstStyle/>
                    <a:p>
                      <a:pPr algn="ctr">
                        <a:spcAft>
                          <a:spcPts val="0"/>
                        </a:spcAft>
                      </a:pPr>
                      <a:r>
                        <a:rPr lang="en-ID" sz="800" b="0" dirty="0">
                          <a:solidFill>
                            <a:schemeClr val="tx1"/>
                          </a:solidFill>
                          <a:latin typeface="Verdana" panose="020B0604030504040204" pitchFamily="34" charset="0"/>
                          <a:ea typeface="Verdana" panose="020B0604030504040204" pitchFamily="34" charset="0"/>
                        </a:rPr>
                        <a:t>ANOMALY</a:t>
                      </a:r>
                    </a:p>
                  </a:txBody>
                  <a:tcPr anchor="ctr">
                    <a:gradFill>
                      <a:gsLst>
                        <a:gs pos="0">
                          <a:srgbClr val="08F84D"/>
                        </a:gs>
                        <a:gs pos="48000">
                          <a:schemeClr val="accent1">
                            <a:lumMod val="97000"/>
                            <a:lumOff val="3000"/>
                          </a:schemeClr>
                        </a:gs>
                        <a:gs pos="100000">
                          <a:schemeClr val="accent1">
                            <a:lumMod val="60000"/>
                            <a:lumOff val="40000"/>
                          </a:schemeClr>
                        </a:gs>
                      </a:gsLst>
                      <a:lin ang="2700000" scaled="1"/>
                    </a:gradFill>
                  </a:tcPr>
                </a:tc>
                <a:extLst>
                  <a:ext uri="{0D108BD9-81ED-4DB2-BD59-A6C34878D82A}">
                    <a16:rowId xmlns:a16="http://schemas.microsoft.com/office/drawing/2014/main" val="1243877697"/>
                  </a:ext>
                </a:extLst>
              </a:tr>
            </a:tbl>
          </a:graphicData>
        </a:graphic>
      </p:graphicFrame>
      <p:graphicFrame>
        <p:nvGraphicFramePr>
          <p:cNvPr id="4" name="Table 4">
            <a:extLst>
              <a:ext uri="{FF2B5EF4-FFF2-40B4-BE49-F238E27FC236}">
                <a16:creationId xmlns:a16="http://schemas.microsoft.com/office/drawing/2014/main" id="{D0990B20-D83E-40F0-B0B5-F6F24B2C95A7}"/>
              </a:ext>
            </a:extLst>
          </p:cNvPr>
          <p:cNvGraphicFramePr>
            <a:graphicFrameLocks noGrp="1"/>
          </p:cNvGraphicFramePr>
          <p:nvPr>
            <p:extLst>
              <p:ext uri="{D42A27DB-BD31-4B8C-83A1-F6EECF244321}">
                <p14:modId xmlns:p14="http://schemas.microsoft.com/office/powerpoint/2010/main" val="1953718454"/>
              </p:ext>
            </p:extLst>
          </p:nvPr>
        </p:nvGraphicFramePr>
        <p:xfrm>
          <a:off x="2142269" y="3647302"/>
          <a:ext cx="6885331" cy="1412603"/>
        </p:xfrm>
        <a:graphic>
          <a:graphicData uri="http://schemas.openxmlformats.org/drawingml/2006/table">
            <a:tbl>
              <a:tblPr firstRow="1" bandRow="1">
                <a:tableStyleId>{5C22544A-7EE6-4342-B048-85BDC9FD1C3A}</a:tableStyleId>
              </a:tblPr>
              <a:tblGrid>
                <a:gridCol w="1465510">
                  <a:extLst>
                    <a:ext uri="{9D8B030D-6E8A-4147-A177-3AD203B41FA5}">
                      <a16:colId xmlns:a16="http://schemas.microsoft.com/office/drawing/2014/main" val="3405140031"/>
                    </a:ext>
                  </a:extLst>
                </a:gridCol>
                <a:gridCol w="857464">
                  <a:extLst>
                    <a:ext uri="{9D8B030D-6E8A-4147-A177-3AD203B41FA5}">
                      <a16:colId xmlns:a16="http://schemas.microsoft.com/office/drawing/2014/main" val="1877195654"/>
                    </a:ext>
                  </a:extLst>
                </a:gridCol>
                <a:gridCol w="4562357">
                  <a:extLst>
                    <a:ext uri="{9D8B030D-6E8A-4147-A177-3AD203B41FA5}">
                      <a16:colId xmlns:a16="http://schemas.microsoft.com/office/drawing/2014/main" val="2299311038"/>
                    </a:ext>
                  </a:extLst>
                </a:gridCol>
              </a:tblGrid>
              <a:tr h="184944">
                <a:tc>
                  <a:txBody>
                    <a:bodyPr/>
                    <a:lstStyle/>
                    <a:p>
                      <a:pPr algn="ctr">
                        <a:lnSpc>
                          <a:spcPct val="100000"/>
                        </a:lnSpc>
                      </a:pPr>
                      <a:r>
                        <a:rPr lang="en-US" sz="800" dirty="0">
                          <a:solidFill>
                            <a:schemeClr val="tx1"/>
                          </a:solidFill>
                          <a:latin typeface="Verdana" panose="020B0604030504040204" pitchFamily="34" charset="0"/>
                          <a:ea typeface="Verdana" panose="020B0604030504040204" pitchFamily="34" charset="0"/>
                        </a:rPr>
                        <a:t>Indicator</a:t>
                      </a:r>
                      <a:endParaRPr lang="en-ID" sz="800" dirty="0">
                        <a:solidFill>
                          <a:schemeClr val="tx1"/>
                        </a:solidFill>
                        <a:latin typeface="Verdana" panose="020B0604030504040204" pitchFamily="34" charset="0"/>
                        <a:ea typeface="Verdana" panose="020B0604030504040204" pitchFamily="34" charset="0"/>
                      </a:endParaRPr>
                    </a:p>
                  </a:txBody>
                  <a:tcPr>
                    <a:solidFill>
                      <a:schemeClr val="bg1"/>
                    </a:solidFill>
                  </a:tcPr>
                </a:tc>
                <a:tc>
                  <a:txBody>
                    <a:bodyPr/>
                    <a:lstStyle/>
                    <a:p>
                      <a:pPr algn="ctr">
                        <a:lnSpc>
                          <a:spcPct val="100000"/>
                        </a:lnSpc>
                      </a:pPr>
                      <a:r>
                        <a:rPr lang="en-US" sz="800" dirty="0">
                          <a:solidFill>
                            <a:schemeClr val="tx1"/>
                          </a:solidFill>
                          <a:latin typeface="Verdana" panose="020B0604030504040204" pitchFamily="34" charset="0"/>
                          <a:ea typeface="Verdana" panose="020B0604030504040204" pitchFamily="34" charset="0"/>
                        </a:rPr>
                        <a:t>Priority</a:t>
                      </a:r>
                      <a:endParaRPr lang="en-ID" sz="800" dirty="0">
                        <a:solidFill>
                          <a:schemeClr val="tx1"/>
                        </a:solidFill>
                        <a:latin typeface="Verdana" panose="020B0604030504040204" pitchFamily="34" charset="0"/>
                        <a:ea typeface="Verdana" panose="020B0604030504040204" pitchFamily="34" charset="0"/>
                      </a:endParaRPr>
                    </a:p>
                  </a:txBody>
                  <a:tcPr>
                    <a:solidFill>
                      <a:schemeClr val="bg1"/>
                    </a:solidFill>
                  </a:tcPr>
                </a:tc>
                <a:tc>
                  <a:txBody>
                    <a:bodyPr/>
                    <a:lstStyle/>
                    <a:p>
                      <a:pPr algn="ctr">
                        <a:lnSpc>
                          <a:spcPct val="100000"/>
                        </a:lnSpc>
                      </a:pPr>
                      <a:r>
                        <a:rPr lang="en-US" sz="800" dirty="0" err="1">
                          <a:solidFill>
                            <a:schemeClr val="tx1"/>
                          </a:solidFill>
                          <a:latin typeface="Verdana" panose="020B0604030504040204" pitchFamily="34" charset="0"/>
                          <a:ea typeface="Verdana" panose="020B0604030504040204" pitchFamily="34" charset="0"/>
                        </a:rPr>
                        <a:t>Recomendation</a:t>
                      </a:r>
                      <a:endParaRPr lang="en-ID" sz="800" dirty="0">
                        <a:solidFill>
                          <a:schemeClr val="tx1"/>
                        </a:solidFill>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3464256502"/>
                  </a:ext>
                </a:extLst>
              </a:tr>
              <a:tr h="290627">
                <a:tc>
                  <a:txBody>
                    <a:bodyPr/>
                    <a:lstStyle/>
                    <a:p>
                      <a:pPr algn="just">
                        <a:lnSpc>
                          <a:spcPct val="100000"/>
                        </a:lnSpc>
                      </a:pPr>
                      <a:r>
                        <a:rPr lang="en-ID" sz="800" dirty="0">
                          <a:solidFill>
                            <a:schemeClr val="tx1"/>
                          </a:solidFill>
                          <a:latin typeface="Verdana" panose="020B0604030504040204" pitchFamily="34" charset="0"/>
                          <a:ea typeface="Verdana" panose="020B0604030504040204" pitchFamily="34" charset="0"/>
                        </a:rPr>
                        <a:t>Burnout Mitigation</a:t>
                      </a:r>
                    </a:p>
                  </a:txBody>
                  <a:tcPr>
                    <a:solidFill>
                      <a:schemeClr val="bg1"/>
                    </a:solidFill>
                  </a:tcPr>
                </a:tc>
                <a:tc>
                  <a:txBody>
                    <a:bodyPr/>
                    <a:lstStyle/>
                    <a:p>
                      <a:pPr algn="ctr">
                        <a:lnSpc>
                          <a:spcPct val="100000"/>
                        </a:lnSpc>
                      </a:pPr>
                      <a:r>
                        <a:rPr lang="en-US" sz="800" dirty="0">
                          <a:solidFill>
                            <a:schemeClr val="tx1"/>
                          </a:solidFill>
                          <a:latin typeface="Verdana" panose="020B0604030504040204" pitchFamily="34" charset="0"/>
                          <a:ea typeface="Verdana" panose="020B0604030504040204" pitchFamily="34" charset="0"/>
                        </a:rPr>
                        <a:t>1</a:t>
                      </a:r>
                      <a:endParaRPr lang="en-ID" sz="800" dirty="0">
                        <a:solidFill>
                          <a:schemeClr val="tx1"/>
                        </a:solidFill>
                        <a:latin typeface="Verdana" panose="020B0604030504040204" pitchFamily="34" charset="0"/>
                        <a:ea typeface="Verdana" panose="020B0604030504040204" pitchFamily="34" charset="0"/>
                      </a:endParaRPr>
                    </a:p>
                  </a:txBody>
                  <a:tcPr>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800" dirty="0" err="1">
                          <a:solidFill>
                            <a:schemeClr val="tx1"/>
                          </a:solidFill>
                          <a:latin typeface="Verdana" panose="020B0604030504040204" pitchFamily="34" charset="0"/>
                          <a:ea typeface="Verdana" panose="020B0604030504040204" pitchFamily="34" charset="0"/>
                        </a:rPr>
                        <a:t>Batasi</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kuota</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lembur</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bulanan</a:t>
                      </a:r>
                      <a:r>
                        <a:rPr lang="en-ID" sz="800" dirty="0">
                          <a:solidFill>
                            <a:schemeClr val="tx1"/>
                          </a:solidFill>
                          <a:latin typeface="Verdana" panose="020B0604030504040204" pitchFamily="34" charset="0"/>
                          <a:ea typeface="Verdana" panose="020B0604030504040204" pitchFamily="34" charset="0"/>
                        </a:rPr>
                        <a:t> per </a:t>
                      </a:r>
                      <a:r>
                        <a:rPr lang="en-ID" sz="800" dirty="0" err="1">
                          <a:solidFill>
                            <a:schemeClr val="tx1"/>
                          </a:solidFill>
                          <a:latin typeface="Verdana" panose="020B0604030504040204" pitchFamily="34" charset="0"/>
                          <a:ea typeface="Verdana" panose="020B0604030504040204" pitchFamily="34" charset="0"/>
                        </a:rPr>
                        <a:t>karyawan</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terutama</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bagi</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mereka</a:t>
                      </a:r>
                      <a:r>
                        <a:rPr lang="en-ID" sz="800" dirty="0">
                          <a:solidFill>
                            <a:schemeClr val="tx1"/>
                          </a:solidFill>
                          <a:latin typeface="Verdana" panose="020B0604030504040204" pitchFamily="34" charset="0"/>
                          <a:ea typeface="Verdana" panose="020B0604030504040204" pitchFamily="34" charset="0"/>
                        </a:rPr>
                        <a:t> yang </a:t>
                      </a:r>
                      <a:r>
                        <a:rPr lang="en-ID" sz="800" dirty="0" err="1">
                          <a:solidFill>
                            <a:schemeClr val="tx1"/>
                          </a:solidFill>
                          <a:latin typeface="Verdana" panose="020B0604030504040204" pitchFamily="34" charset="0"/>
                          <a:ea typeface="Verdana" panose="020B0604030504040204" pitchFamily="34" charset="0"/>
                        </a:rPr>
                        <a:t>memiliki</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metrik</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logistik</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kritis</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jarak</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rumah</a:t>
                      </a:r>
                      <a:r>
                        <a:rPr lang="en-ID" sz="800" dirty="0">
                          <a:solidFill>
                            <a:schemeClr val="tx1"/>
                          </a:solidFill>
                          <a:latin typeface="Verdana" panose="020B0604030504040204" pitchFamily="34" charset="0"/>
                          <a:ea typeface="Verdana" panose="020B0604030504040204" pitchFamily="34" charset="0"/>
                        </a:rPr>
                        <a:t> &gt; 10.63 km).</a:t>
                      </a:r>
                    </a:p>
                  </a:txBody>
                  <a:tcPr>
                    <a:solidFill>
                      <a:schemeClr val="bg1"/>
                    </a:solidFill>
                  </a:tcPr>
                </a:tc>
                <a:extLst>
                  <a:ext uri="{0D108BD9-81ED-4DB2-BD59-A6C34878D82A}">
                    <a16:rowId xmlns:a16="http://schemas.microsoft.com/office/drawing/2014/main" val="1737818102"/>
                  </a:ext>
                </a:extLst>
              </a:tr>
              <a:tr h="396309">
                <a:tc>
                  <a:txBody>
                    <a:bodyPr/>
                    <a:lstStyle/>
                    <a:p>
                      <a:pPr algn="just">
                        <a:lnSpc>
                          <a:spcPct val="100000"/>
                        </a:lnSpc>
                      </a:pPr>
                      <a:r>
                        <a:rPr lang="en-ID" sz="800" dirty="0">
                          <a:solidFill>
                            <a:schemeClr val="tx1"/>
                          </a:solidFill>
                          <a:latin typeface="Verdana" panose="020B0604030504040204" pitchFamily="34" charset="0"/>
                          <a:ea typeface="Verdana" panose="020B0604030504040204" pitchFamily="34" charset="0"/>
                        </a:rPr>
                        <a:t>Executive Compensation Review / Adjustment</a:t>
                      </a:r>
                    </a:p>
                  </a:txBody>
                  <a:tcPr>
                    <a:solidFill>
                      <a:schemeClr val="bg1"/>
                    </a:solidFill>
                  </a:tcPr>
                </a:tc>
                <a:tc>
                  <a:txBody>
                    <a:bodyPr/>
                    <a:lstStyle/>
                    <a:p>
                      <a:pPr algn="ctr">
                        <a:lnSpc>
                          <a:spcPct val="100000"/>
                        </a:lnSpc>
                      </a:pPr>
                      <a:r>
                        <a:rPr lang="en-US" sz="800" dirty="0">
                          <a:solidFill>
                            <a:schemeClr val="tx1"/>
                          </a:solidFill>
                          <a:latin typeface="Verdana" panose="020B0604030504040204" pitchFamily="34" charset="0"/>
                          <a:ea typeface="Verdana" panose="020B0604030504040204" pitchFamily="34" charset="0"/>
                        </a:rPr>
                        <a:t>2</a:t>
                      </a:r>
                      <a:endParaRPr lang="en-ID" sz="800" dirty="0">
                        <a:solidFill>
                          <a:schemeClr val="tx1"/>
                        </a:solidFill>
                        <a:latin typeface="Verdana" panose="020B0604030504040204" pitchFamily="34" charset="0"/>
                        <a:ea typeface="Verdana" panose="020B0604030504040204" pitchFamily="34" charset="0"/>
                      </a:endParaRPr>
                    </a:p>
                  </a:txBody>
                  <a:tcPr>
                    <a:solidFill>
                      <a:schemeClr val="bg1"/>
                    </a:solidFill>
                  </a:tcPr>
                </a:tc>
                <a:tc>
                  <a:txBody>
                    <a:bodyPr/>
                    <a:lstStyle/>
                    <a:p>
                      <a:pPr algn="just">
                        <a:lnSpc>
                          <a:spcPct val="100000"/>
                        </a:lnSpc>
                      </a:pPr>
                      <a:r>
                        <a:rPr lang="en-ID" sz="800" dirty="0" err="1">
                          <a:solidFill>
                            <a:schemeClr val="tx1"/>
                          </a:solidFill>
                          <a:latin typeface="Verdana" panose="020B0604030504040204" pitchFamily="34" charset="0"/>
                          <a:ea typeface="Verdana" panose="020B0604030504040204" pitchFamily="34" charset="0"/>
                        </a:rPr>
                        <a:t>Sesuaikan</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kembali</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upah</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dasar</a:t>
                      </a:r>
                      <a:r>
                        <a:rPr lang="en-ID" sz="800" dirty="0">
                          <a:solidFill>
                            <a:schemeClr val="tx1"/>
                          </a:solidFill>
                          <a:latin typeface="Verdana" panose="020B0604030504040204" pitchFamily="34" charset="0"/>
                          <a:ea typeface="Verdana" panose="020B0604030504040204" pitchFamily="34" charset="0"/>
                        </a:rPr>
                        <a:t> </a:t>
                      </a:r>
                      <a:r>
                        <a:rPr lang="en-ID" sz="800" i="1" dirty="0">
                          <a:solidFill>
                            <a:schemeClr val="tx1"/>
                          </a:solidFill>
                          <a:latin typeface="Verdana" panose="020B0604030504040204" pitchFamily="34" charset="0"/>
                          <a:ea typeface="Verdana" panose="020B0604030504040204" pitchFamily="34" charset="0"/>
                        </a:rPr>
                        <a:t>Job Level 5</a:t>
                      </a:r>
                      <a:r>
                        <a:rPr lang="en-ID" sz="800" dirty="0">
                          <a:solidFill>
                            <a:schemeClr val="tx1"/>
                          </a:solidFill>
                          <a:latin typeface="Verdana" panose="020B0604030504040204" pitchFamily="34" charset="0"/>
                          <a:ea typeface="Verdana" panose="020B0604030504040204" pitchFamily="34" charset="0"/>
                        </a:rPr>
                        <a:t> di HR dan R&amp;D agar </a:t>
                      </a:r>
                      <a:r>
                        <a:rPr lang="en-ID" sz="800" dirty="0" err="1">
                          <a:solidFill>
                            <a:schemeClr val="tx1"/>
                          </a:solidFill>
                          <a:latin typeface="Verdana" panose="020B0604030504040204" pitchFamily="34" charset="0"/>
                          <a:ea typeface="Verdana" panose="020B0604030504040204" pitchFamily="34" charset="0"/>
                        </a:rPr>
                        <a:t>rasionya</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berada</a:t>
                      </a:r>
                      <a:r>
                        <a:rPr lang="en-ID" sz="800" dirty="0">
                          <a:solidFill>
                            <a:schemeClr val="tx1"/>
                          </a:solidFill>
                          <a:latin typeface="Verdana" panose="020B0604030504040204" pitchFamily="34" charset="0"/>
                          <a:ea typeface="Verdana" panose="020B0604030504040204" pitchFamily="34" charset="0"/>
                        </a:rPr>
                        <a:t> di </a:t>
                      </a:r>
                      <a:r>
                        <a:rPr lang="en-ID" sz="800" dirty="0" err="1">
                          <a:solidFill>
                            <a:schemeClr val="tx1"/>
                          </a:solidFill>
                          <a:latin typeface="Verdana" panose="020B0604030504040204" pitchFamily="34" charset="0"/>
                          <a:ea typeface="Verdana" panose="020B0604030504040204" pitchFamily="34" charset="0"/>
                        </a:rPr>
                        <a:t>atas</a:t>
                      </a:r>
                      <a:r>
                        <a:rPr lang="en-ID" sz="800" dirty="0">
                          <a:solidFill>
                            <a:schemeClr val="tx1"/>
                          </a:solidFill>
                          <a:latin typeface="Verdana" panose="020B0604030504040204" pitchFamily="34" charset="0"/>
                          <a:ea typeface="Verdana" panose="020B0604030504040204" pitchFamily="34" charset="0"/>
                        </a:rPr>
                        <a:t> level 4 (minimal $4,100/level) </a:t>
                      </a:r>
                      <a:r>
                        <a:rPr lang="en-ID" sz="800" dirty="0" err="1">
                          <a:solidFill>
                            <a:schemeClr val="tx1"/>
                          </a:solidFill>
                          <a:latin typeface="Verdana" panose="020B0604030504040204" pitchFamily="34" charset="0"/>
                          <a:ea typeface="Verdana" panose="020B0604030504040204" pitchFamily="34" charset="0"/>
                        </a:rPr>
                        <a:t>guna</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menjaga</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asas</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keadilan</a:t>
                      </a:r>
                      <a:r>
                        <a:rPr lang="en-ID" sz="800" dirty="0">
                          <a:solidFill>
                            <a:schemeClr val="tx1"/>
                          </a:solidFill>
                          <a:latin typeface="Verdana" panose="020B0604030504040204" pitchFamily="34" charset="0"/>
                          <a:ea typeface="Verdana" panose="020B0604030504040204" pitchFamily="34" charset="0"/>
                        </a:rPr>
                        <a:t> internal.</a:t>
                      </a:r>
                    </a:p>
                  </a:txBody>
                  <a:tcPr>
                    <a:solidFill>
                      <a:schemeClr val="bg1"/>
                    </a:solidFill>
                  </a:tcPr>
                </a:tc>
                <a:extLst>
                  <a:ext uri="{0D108BD9-81ED-4DB2-BD59-A6C34878D82A}">
                    <a16:rowId xmlns:a16="http://schemas.microsoft.com/office/drawing/2014/main" val="2857449912"/>
                  </a:ext>
                </a:extLst>
              </a:tr>
              <a:tr h="467654">
                <a:tc>
                  <a:txBody>
                    <a:bodyPr/>
                    <a:lstStyle/>
                    <a:p>
                      <a:pPr algn="just">
                        <a:lnSpc>
                          <a:spcPct val="100000"/>
                        </a:lnSpc>
                      </a:pPr>
                      <a:r>
                        <a:rPr lang="en-ID" sz="800" dirty="0">
                          <a:solidFill>
                            <a:schemeClr val="tx1"/>
                          </a:solidFill>
                          <a:latin typeface="Verdana" panose="020B0604030504040204" pitchFamily="34" charset="0"/>
                          <a:ea typeface="Verdana" panose="020B0604030504040204" pitchFamily="34" charset="0"/>
                        </a:rPr>
                        <a:t>Job Rotation</a:t>
                      </a:r>
                    </a:p>
                  </a:txBody>
                  <a:tcPr>
                    <a:solidFill>
                      <a:schemeClr val="bg1"/>
                    </a:solidFill>
                  </a:tcPr>
                </a:tc>
                <a:tc>
                  <a:txBody>
                    <a:bodyPr/>
                    <a:lstStyle/>
                    <a:p>
                      <a:pPr algn="ctr">
                        <a:lnSpc>
                          <a:spcPct val="100000"/>
                        </a:lnSpc>
                      </a:pPr>
                      <a:r>
                        <a:rPr lang="en-US" sz="800" dirty="0">
                          <a:solidFill>
                            <a:schemeClr val="tx1"/>
                          </a:solidFill>
                          <a:latin typeface="Verdana" panose="020B0604030504040204" pitchFamily="34" charset="0"/>
                          <a:ea typeface="Verdana" panose="020B0604030504040204" pitchFamily="34" charset="0"/>
                        </a:rPr>
                        <a:t>3</a:t>
                      </a:r>
                      <a:endParaRPr lang="en-ID" sz="800" dirty="0">
                        <a:solidFill>
                          <a:schemeClr val="tx1"/>
                        </a:solidFill>
                        <a:latin typeface="Verdana" panose="020B0604030504040204" pitchFamily="34" charset="0"/>
                        <a:ea typeface="Verdana" panose="020B0604030504040204" pitchFamily="34" charset="0"/>
                      </a:endParaRPr>
                    </a:p>
                  </a:txBody>
                  <a:tcPr>
                    <a:solidFill>
                      <a:schemeClr val="bg1"/>
                    </a:solidFill>
                  </a:tcPr>
                </a:tc>
                <a:tc>
                  <a:txBody>
                    <a:bodyPr/>
                    <a:lstStyle/>
                    <a:p>
                      <a:pPr algn="just">
                        <a:lnSpc>
                          <a:spcPct val="100000"/>
                        </a:lnSpc>
                      </a:pPr>
                      <a:r>
                        <a:rPr lang="en-ID" sz="800" dirty="0" err="1">
                          <a:solidFill>
                            <a:schemeClr val="tx1"/>
                          </a:solidFill>
                          <a:latin typeface="Verdana" panose="020B0604030504040204" pitchFamily="34" charset="0"/>
                          <a:ea typeface="Verdana" panose="020B0604030504040204" pitchFamily="34" charset="0"/>
                        </a:rPr>
                        <a:t>Lakukan</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rotasi</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kerja</a:t>
                      </a:r>
                      <a:r>
                        <a:rPr lang="en-ID" sz="800" dirty="0">
                          <a:solidFill>
                            <a:schemeClr val="tx1"/>
                          </a:solidFill>
                          <a:latin typeface="Verdana" panose="020B0604030504040204" pitchFamily="34" charset="0"/>
                          <a:ea typeface="Verdana" panose="020B0604030504040204" pitchFamily="34" charset="0"/>
                        </a:rPr>
                        <a:t> lateral </a:t>
                      </a:r>
                      <a:r>
                        <a:rPr lang="en-ID" sz="800" dirty="0" err="1">
                          <a:solidFill>
                            <a:schemeClr val="tx1"/>
                          </a:solidFill>
                          <a:latin typeface="Verdana" panose="020B0604030504040204" pitchFamily="34" charset="0"/>
                          <a:ea typeface="Verdana" panose="020B0604030504040204" pitchFamily="34" charset="0"/>
                        </a:rPr>
                        <a:t>atau</a:t>
                      </a:r>
                      <a:r>
                        <a:rPr lang="en-ID" sz="800" dirty="0">
                          <a:solidFill>
                            <a:schemeClr val="tx1"/>
                          </a:solidFill>
                          <a:latin typeface="Verdana" panose="020B0604030504040204" pitchFamily="34" charset="0"/>
                          <a:ea typeface="Verdana" panose="020B0604030504040204" pitchFamily="34" charset="0"/>
                        </a:rPr>
                        <a:t> </a:t>
                      </a:r>
                      <a:r>
                        <a:rPr lang="en-ID" sz="800" i="1" dirty="0">
                          <a:solidFill>
                            <a:schemeClr val="tx1"/>
                          </a:solidFill>
                          <a:latin typeface="Verdana" panose="020B0604030504040204" pitchFamily="34" charset="0"/>
                          <a:ea typeface="Verdana" panose="020B0604030504040204" pitchFamily="34" charset="0"/>
                        </a:rPr>
                        <a:t>job enrichment</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sebelum</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karyawan</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menyentuh</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angka</a:t>
                      </a:r>
                      <a:r>
                        <a:rPr lang="en-ID" sz="800" dirty="0">
                          <a:solidFill>
                            <a:schemeClr val="tx1"/>
                          </a:solidFill>
                          <a:latin typeface="Verdana" panose="020B0604030504040204" pitchFamily="34" charset="0"/>
                          <a:ea typeface="Verdana" panose="020B0604030504040204" pitchFamily="34" charset="0"/>
                        </a:rPr>
                        <a:t> masa </a:t>
                      </a:r>
                      <a:r>
                        <a:rPr lang="en-ID" sz="800" dirty="0" err="1">
                          <a:solidFill>
                            <a:schemeClr val="tx1"/>
                          </a:solidFill>
                          <a:latin typeface="Verdana" panose="020B0604030504040204" pitchFamily="34" charset="0"/>
                          <a:ea typeface="Verdana" panose="020B0604030504040204" pitchFamily="34" charset="0"/>
                        </a:rPr>
                        <a:t>kerja</a:t>
                      </a:r>
                      <a:r>
                        <a:rPr lang="en-ID" sz="800" dirty="0">
                          <a:solidFill>
                            <a:schemeClr val="tx1"/>
                          </a:solidFill>
                          <a:latin typeface="Verdana" panose="020B0604030504040204" pitchFamily="34" charset="0"/>
                          <a:ea typeface="Verdana" panose="020B0604030504040204" pitchFamily="34" charset="0"/>
                        </a:rPr>
                        <a:t> 4 </a:t>
                      </a:r>
                      <a:r>
                        <a:rPr lang="en-ID" sz="800" dirty="0" err="1">
                          <a:solidFill>
                            <a:schemeClr val="tx1"/>
                          </a:solidFill>
                          <a:latin typeface="Verdana" panose="020B0604030504040204" pitchFamily="34" charset="0"/>
                          <a:ea typeface="Verdana" panose="020B0604030504040204" pitchFamily="34" charset="0"/>
                        </a:rPr>
                        <a:t>tahun</a:t>
                      </a:r>
                      <a:r>
                        <a:rPr lang="en-ID" sz="800" dirty="0">
                          <a:solidFill>
                            <a:schemeClr val="tx1"/>
                          </a:solidFill>
                          <a:latin typeface="Verdana" panose="020B0604030504040204" pitchFamily="34" charset="0"/>
                          <a:ea typeface="Verdana" panose="020B0604030504040204" pitchFamily="34" charset="0"/>
                        </a:rPr>
                        <a:t> di </a:t>
                      </a:r>
                      <a:r>
                        <a:rPr lang="en-ID" sz="800" dirty="0" err="1">
                          <a:solidFill>
                            <a:schemeClr val="tx1"/>
                          </a:solidFill>
                          <a:latin typeface="Verdana" panose="020B0604030504040204" pitchFamily="34" charset="0"/>
                          <a:ea typeface="Verdana" panose="020B0604030504040204" pitchFamily="34" charset="0"/>
                        </a:rPr>
                        <a:t>peran</a:t>
                      </a:r>
                      <a:r>
                        <a:rPr lang="en-ID" sz="800" dirty="0">
                          <a:solidFill>
                            <a:schemeClr val="tx1"/>
                          </a:solidFill>
                          <a:latin typeface="Verdana" panose="020B0604030504040204" pitchFamily="34" charset="0"/>
                          <a:ea typeface="Verdana" panose="020B0604030504040204" pitchFamily="34" charset="0"/>
                        </a:rPr>
                        <a:t> yang </a:t>
                      </a:r>
                      <a:r>
                        <a:rPr lang="en-ID" sz="800" dirty="0" err="1">
                          <a:solidFill>
                            <a:schemeClr val="tx1"/>
                          </a:solidFill>
                          <a:latin typeface="Verdana" panose="020B0604030504040204" pitchFamily="34" charset="0"/>
                          <a:ea typeface="Verdana" panose="020B0604030504040204" pitchFamily="34" charset="0"/>
                        </a:rPr>
                        <a:t>sama</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YearsInCurrentRole</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untuk</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menghindari</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kejenuhan</a:t>
                      </a:r>
                      <a:r>
                        <a:rPr lang="en-ID" sz="800" dirty="0">
                          <a:solidFill>
                            <a:schemeClr val="tx1"/>
                          </a:solidFill>
                          <a:latin typeface="Verdana" panose="020B0604030504040204" pitchFamily="34" charset="0"/>
                          <a:ea typeface="Verdana" panose="020B0604030504040204" pitchFamily="34" charset="0"/>
                        </a:rPr>
                        <a:t> </a:t>
                      </a:r>
                      <a:r>
                        <a:rPr lang="en-ID" sz="800" dirty="0" err="1">
                          <a:solidFill>
                            <a:schemeClr val="tx1"/>
                          </a:solidFill>
                          <a:latin typeface="Verdana" panose="020B0604030504040204" pitchFamily="34" charset="0"/>
                          <a:ea typeface="Verdana" panose="020B0604030504040204" pitchFamily="34" charset="0"/>
                        </a:rPr>
                        <a:t>karier</a:t>
                      </a:r>
                      <a:r>
                        <a:rPr lang="en-ID" sz="800" dirty="0">
                          <a:solidFill>
                            <a:schemeClr val="tx1"/>
                          </a:solidFill>
                          <a:latin typeface="Verdana" panose="020B0604030504040204" pitchFamily="34" charset="0"/>
                          <a:ea typeface="Verdana" panose="020B0604030504040204" pitchFamily="34" charset="0"/>
                        </a:rPr>
                        <a:t>.</a:t>
                      </a:r>
                    </a:p>
                  </a:txBody>
                  <a:tcPr>
                    <a:solidFill>
                      <a:schemeClr val="bg1"/>
                    </a:solidFill>
                  </a:tcPr>
                </a:tc>
                <a:extLst>
                  <a:ext uri="{0D108BD9-81ED-4DB2-BD59-A6C34878D82A}">
                    <a16:rowId xmlns:a16="http://schemas.microsoft.com/office/drawing/2014/main" val="1927370281"/>
                  </a:ext>
                </a:extLst>
              </a:tr>
            </a:tbl>
          </a:graphicData>
        </a:graphic>
      </p:graphicFrame>
      <p:sp>
        <p:nvSpPr>
          <p:cNvPr id="10" name="TextBox 9">
            <a:extLst>
              <a:ext uri="{FF2B5EF4-FFF2-40B4-BE49-F238E27FC236}">
                <a16:creationId xmlns:a16="http://schemas.microsoft.com/office/drawing/2014/main" id="{3F51B723-42CE-4104-BFA8-54E6DC5B2846}"/>
              </a:ext>
            </a:extLst>
          </p:cNvPr>
          <p:cNvSpPr txBox="1"/>
          <p:nvPr/>
        </p:nvSpPr>
        <p:spPr>
          <a:xfrm>
            <a:off x="100635" y="3948980"/>
            <a:ext cx="204163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
                <a:srgbClr val="FFB600"/>
              </a:buClr>
              <a:buSzPts val="1800"/>
              <a:buFont typeface="Raleway Light"/>
              <a:buNone/>
              <a:tabLst/>
              <a:defRPr/>
            </a:pPr>
            <a:r>
              <a:rPr kumimoji="0" lang="en-ID" sz="1600" b="1" i="0" u="none" strike="noStrike" kern="0" cap="none" spc="0" normalizeH="0" baseline="0" noProof="0" dirty="0">
                <a:ln>
                  <a:noFill/>
                </a:ln>
                <a:solidFill>
                  <a:srgbClr val="000000"/>
                </a:solidFill>
                <a:effectLst/>
                <a:highlight>
                  <a:srgbClr val="FFFF00"/>
                </a:highlight>
                <a:uLnTx/>
                <a:uFillTx/>
                <a:latin typeface="Raleway Light"/>
                <a:sym typeface="Raleway Light"/>
              </a:rPr>
              <a:t>Recommendation:</a:t>
            </a:r>
          </a:p>
        </p:txBody>
      </p:sp>
    </p:spTree>
    <p:extLst>
      <p:ext uri="{BB962C8B-B14F-4D97-AF65-F5344CB8AC3E}">
        <p14:creationId xmlns:p14="http://schemas.microsoft.com/office/powerpoint/2010/main" val="644502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94"/>
        <p:cNvGrpSpPr/>
        <p:nvPr/>
      </p:nvGrpSpPr>
      <p:grpSpPr>
        <a:xfrm>
          <a:off x="0" y="0"/>
          <a:ext cx="0" cy="0"/>
          <a:chOff x="0" y="0"/>
          <a:chExt cx="0" cy="0"/>
        </a:xfrm>
      </p:grpSpPr>
      <p:sp>
        <p:nvSpPr>
          <p:cNvPr id="295" name="Google Shape;295;p19"/>
          <p:cNvSpPr txBox="1">
            <a:spLocks noGrp="1"/>
          </p:cNvSpPr>
          <p:nvPr>
            <p:ph type="ctrTitle"/>
          </p:nvPr>
        </p:nvSpPr>
        <p:spPr>
          <a:xfrm>
            <a:off x="37649" y="-17066"/>
            <a:ext cx="6133500" cy="638443"/>
          </a:xfrm>
          <a:prstGeom prst="rect">
            <a:avLst/>
          </a:prstGeom>
        </p:spPr>
        <p:txBody>
          <a:bodyPr spcFirstLastPara="1" wrap="square" lIns="91425" tIns="91425" rIns="91425" bIns="91425" anchor="t" anchorCtr="0">
            <a:noAutofit/>
          </a:bodyPr>
          <a:lstStyle/>
          <a:p>
            <a:r>
              <a:rPr lang="en" sz="2700" dirty="0">
                <a:solidFill>
                  <a:schemeClr val="dk2"/>
                </a:solidFill>
              </a:rPr>
              <a:t>Background of Project</a:t>
            </a:r>
            <a:endParaRPr sz="2700" dirty="0">
              <a:solidFill>
                <a:schemeClr val="dk2"/>
              </a:solidFill>
            </a:endParaRPr>
          </a:p>
        </p:txBody>
      </p:sp>
      <p:pic>
        <p:nvPicPr>
          <p:cNvPr id="16" name="Picture 15">
            <a:extLst>
              <a:ext uri="{FF2B5EF4-FFF2-40B4-BE49-F238E27FC236}">
                <a16:creationId xmlns:a16="http://schemas.microsoft.com/office/drawing/2014/main" id="{B65BF2B8-DA13-4333-AD5B-2232FBF34B5E}"/>
              </a:ext>
            </a:extLst>
          </p:cNvPr>
          <p:cNvPicPr>
            <a:picLocks noChangeAspect="1"/>
          </p:cNvPicPr>
          <p:nvPr/>
        </p:nvPicPr>
        <p:blipFill>
          <a:blip r:embed="rId3"/>
          <a:stretch>
            <a:fillRect/>
          </a:stretch>
        </p:blipFill>
        <p:spPr>
          <a:xfrm>
            <a:off x="118736" y="512379"/>
            <a:ext cx="4079329" cy="2719552"/>
          </a:xfrm>
          <a:prstGeom prst="rect">
            <a:avLst/>
          </a:prstGeom>
        </p:spPr>
      </p:pic>
      <p:pic>
        <p:nvPicPr>
          <p:cNvPr id="35" name="Picture 34">
            <a:extLst>
              <a:ext uri="{FF2B5EF4-FFF2-40B4-BE49-F238E27FC236}">
                <a16:creationId xmlns:a16="http://schemas.microsoft.com/office/drawing/2014/main" id="{F59BB04B-56EC-4A28-B542-0552BAF8EAC8}"/>
              </a:ext>
            </a:extLst>
          </p:cNvPr>
          <p:cNvPicPr>
            <a:picLocks noChangeAspect="1"/>
          </p:cNvPicPr>
          <p:nvPr/>
        </p:nvPicPr>
        <p:blipFill>
          <a:blip r:embed="rId4"/>
          <a:stretch>
            <a:fillRect/>
          </a:stretch>
        </p:blipFill>
        <p:spPr>
          <a:xfrm>
            <a:off x="4198065" y="567558"/>
            <a:ext cx="4827611" cy="2081049"/>
          </a:xfrm>
          <a:prstGeom prst="rect">
            <a:avLst/>
          </a:prstGeom>
          <a:ln w="25400">
            <a:solidFill>
              <a:srgbClr val="08F84D"/>
            </a:solidFill>
          </a:ln>
        </p:spPr>
      </p:pic>
      <p:sp>
        <p:nvSpPr>
          <p:cNvPr id="36" name="Arrow: Right 35">
            <a:extLst>
              <a:ext uri="{FF2B5EF4-FFF2-40B4-BE49-F238E27FC236}">
                <a16:creationId xmlns:a16="http://schemas.microsoft.com/office/drawing/2014/main" id="{CB4AB48E-CA54-4C5E-8BA7-B963A087707E}"/>
              </a:ext>
            </a:extLst>
          </p:cNvPr>
          <p:cNvSpPr/>
          <p:nvPr/>
        </p:nvSpPr>
        <p:spPr>
          <a:xfrm>
            <a:off x="6611870" y="4558876"/>
            <a:ext cx="2262352" cy="5846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anose="020B0604030504040204" pitchFamily="34" charset="0"/>
                <a:ea typeface="Verdana" panose="020B0604030504040204" pitchFamily="34" charset="0"/>
                <a:hlinkClick r:id="rId5"/>
              </a:rPr>
              <a:t>Data Source</a:t>
            </a:r>
            <a:endParaRPr lang="en-ID" sz="1200" b="1" dirty="0">
              <a:solidFill>
                <a:schemeClr val="tx1"/>
              </a:solidFill>
              <a:latin typeface="Verdana" panose="020B0604030504040204" pitchFamily="34" charset="0"/>
              <a:ea typeface="Verdana" panose="020B0604030504040204" pitchFamily="34" charset="0"/>
            </a:endParaRPr>
          </a:p>
        </p:txBody>
      </p:sp>
      <p:sp>
        <p:nvSpPr>
          <p:cNvPr id="41" name="TextBox 40">
            <a:extLst>
              <a:ext uri="{FF2B5EF4-FFF2-40B4-BE49-F238E27FC236}">
                <a16:creationId xmlns:a16="http://schemas.microsoft.com/office/drawing/2014/main" id="{184D294A-BF00-4B88-A273-40E8003BD512}"/>
              </a:ext>
            </a:extLst>
          </p:cNvPr>
          <p:cNvSpPr txBox="1"/>
          <p:nvPr/>
        </p:nvSpPr>
        <p:spPr>
          <a:xfrm>
            <a:off x="4225956" y="2723374"/>
            <a:ext cx="4799307" cy="1835502"/>
          </a:xfrm>
          <a:prstGeom prst="rect">
            <a:avLst/>
          </a:prstGeom>
          <a:gradFill>
            <a:gsLst>
              <a:gs pos="4000">
                <a:srgbClr val="02FE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marL="285750" indent="-285750" algn="just">
              <a:lnSpc>
                <a:spcPct val="150000"/>
              </a:lnSpc>
              <a:buFont typeface="Wingdings" panose="05000000000000000000" pitchFamily="2" charset="2"/>
              <a:buChar char="q"/>
            </a:pPr>
            <a:r>
              <a:rPr lang="en-US" sz="1100" dirty="0">
                <a:latin typeface="Verdana" panose="020B0604030504040204" pitchFamily="34" charset="0"/>
                <a:ea typeface="Verdana" panose="020B0604030504040204" pitchFamily="34" charset="0"/>
              </a:rPr>
              <a:t>Income vs Attrition: Higher pay tends to lower attrition, but it’s not the only driver.</a:t>
            </a:r>
          </a:p>
          <a:p>
            <a:pPr marL="285750" indent="-285750" algn="just">
              <a:lnSpc>
                <a:spcPct val="150000"/>
              </a:lnSpc>
              <a:buFont typeface="Wingdings" panose="05000000000000000000" pitchFamily="2" charset="2"/>
              <a:buChar char="q"/>
            </a:pPr>
            <a:r>
              <a:rPr lang="en-US" sz="1100" dirty="0">
                <a:latin typeface="Verdana" panose="020B0604030504040204" pitchFamily="34" charset="0"/>
                <a:ea typeface="Verdana" panose="020B0604030504040204" pitchFamily="34" charset="0"/>
              </a:rPr>
              <a:t>Sales Department: Despite offering the highest income, attrition remains high due to non-financial pressures such as workload and role demands.</a:t>
            </a:r>
          </a:p>
          <a:p>
            <a:pPr marL="285750" indent="-285750" algn="just">
              <a:lnSpc>
                <a:spcPct val="150000"/>
              </a:lnSpc>
              <a:buFont typeface="Wingdings" panose="05000000000000000000" pitchFamily="2" charset="2"/>
              <a:buChar char="q"/>
            </a:pPr>
            <a:r>
              <a:rPr lang="en-US" sz="1100" dirty="0">
                <a:latin typeface="Verdana" panose="020B0604030504040204" pitchFamily="34" charset="0"/>
                <a:ea typeface="Verdana" panose="020B0604030504040204" pitchFamily="34" charset="0"/>
              </a:rPr>
              <a:t>R&amp;D Department: Shows stronger stability with moderate pay, reflecting balanced compensation and job satisfaction.</a:t>
            </a:r>
            <a:endParaRPr lang="en-ID" sz="1100" dirty="0">
              <a:latin typeface="Verdana" panose="020B0604030504040204" pitchFamily="34" charset="0"/>
              <a:ea typeface="Verdana" panose="020B0604030504040204" pitchFamily="34" charset="0"/>
            </a:endParaRPr>
          </a:p>
        </p:txBody>
      </p:sp>
      <p:sp>
        <p:nvSpPr>
          <p:cNvPr id="43" name="TextBox 42">
            <a:extLst>
              <a:ext uri="{FF2B5EF4-FFF2-40B4-BE49-F238E27FC236}">
                <a16:creationId xmlns:a16="http://schemas.microsoft.com/office/drawing/2014/main" id="{39E7461D-C080-461F-9D9E-5EF099367BA8}"/>
              </a:ext>
            </a:extLst>
          </p:cNvPr>
          <p:cNvSpPr txBox="1"/>
          <p:nvPr/>
        </p:nvSpPr>
        <p:spPr>
          <a:xfrm>
            <a:off x="37649" y="3389325"/>
            <a:ext cx="4160416" cy="1200329"/>
          </a:xfrm>
          <a:prstGeom prst="rect">
            <a:avLst/>
          </a:prstGeom>
          <a:noFill/>
        </p:spPr>
        <p:txBody>
          <a:bodyPr wrap="square">
            <a:spAutoFit/>
          </a:bodyPr>
          <a:lstStyle/>
          <a:p>
            <a:pPr algn="just"/>
            <a:r>
              <a:rPr lang="en-US" sz="1200" b="1" dirty="0">
                <a:highlight>
                  <a:srgbClr val="00FF00"/>
                </a:highlight>
                <a:latin typeface="Verdana" panose="020B0604030504040204" pitchFamily="34" charset="0"/>
                <a:ea typeface="Verdana" panose="020B0604030504040204" pitchFamily="34" charset="0"/>
              </a:rPr>
              <a:t>Business Insight: </a:t>
            </a:r>
          </a:p>
          <a:p>
            <a:pPr algn="just"/>
            <a:r>
              <a:rPr lang="en-US" sz="1200" dirty="0">
                <a:latin typeface="Verdana" panose="020B0604030504040204" pitchFamily="34" charset="0"/>
                <a:ea typeface="Verdana" panose="020B0604030504040204" pitchFamily="34" charset="0"/>
              </a:rPr>
              <a:t>Compensation impacts attrition, but department-specific factors like workload, role clarity, and leadership are equally important. Effective retention strategies should blend fair pay practices with targeted employee engagement initiatives.</a:t>
            </a:r>
            <a:endParaRPr lang="en-ID" sz="1200" dirty="0">
              <a:latin typeface="Verdana" panose="020B0604030504040204" pitchFamily="34" charset="0"/>
              <a:ea typeface="Verdan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3" name="Google Shape;303;p20"/>
          <p:cNvSpPr txBox="1">
            <a:spLocks noGrp="1"/>
          </p:cNvSpPr>
          <p:nvPr>
            <p:ph type="ctrTitle" idx="4294967295"/>
          </p:nvPr>
        </p:nvSpPr>
        <p:spPr>
          <a:xfrm>
            <a:off x="461726" y="90941"/>
            <a:ext cx="6133500" cy="547800"/>
          </a:xfrm>
          <a:prstGeom prst="rect">
            <a:avLst/>
          </a:prstGeom>
        </p:spPr>
        <p:txBody>
          <a:bodyPr spcFirstLastPara="1" wrap="square" lIns="91425" tIns="91425" rIns="91425" bIns="91425" anchor="t" anchorCtr="0">
            <a:noAutofit/>
          </a:bodyPr>
          <a:lstStyle/>
          <a:p>
            <a:r>
              <a:rPr lang="en" sz="2700" dirty="0">
                <a:solidFill>
                  <a:schemeClr val="lt1"/>
                </a:solidFill>
              </a:rPr>
              <a:t>Methodology</a:t>
            </a:r>
            <a:endParaRPr sz="2700" dirty="0">
              <a:solidFill>
                <a:schemeClr val="lt1"/>
              </a:solidFill>
            </a:endParaRPr>
          </a:p>
        </p:txBody>
      </p:sp>
      <p:sp>
        <p:nvSpPr>
          <p:cNvPr id="304" name="Google Shape;304;p20"/>
          <p:cNvSpPr/>
          <p:nvPr/>
        </p:nvSpPr>
        <p:spPr>
          <a:xfrm>
            <a:off x="575526" y="2558625"/>
            <a:ext cx="645900" cy="547800"/>
          </a:xfrm>
          <a:prstGeom prst="rect">
            <a:avLst/>
          </a:prstGeom>
          <a:solidFill>
            <a:schemeClr val="lt2"/>
          </a:solidFill>
          <a:ln>
            <a:noFill/>
          </a:ln>
        </p:spPr>
        <p:txBody>
          <a:bodyPr spcFirstLastPara="1" wrap="square" lIns="91425" tIns="91425" rIns="91425" bIns="91425" anchor="ctr" anchorCtr="0">
            <a:noAutofit/>
          </a:bodyPr>
          <a:lstStyle/>
          <a:p>
            <a:pPr algn="ctr"/>
            <a:r>
              <a:rPr lang="en" sz="1500" b="1">
                <a:latin typeface="Lexend"/>
                <a:ea typeface="Lexend"/>
                <a:cs typeface="Lexend"/>
                <a:sym typeface="Lexend"/>
              </a:rPr>
              <a:t>1</a:t>
            </a:r>
            <a:endParaRPr sz="1500" b="1">
              <a:latin typeface="Lexend"/>
              <a:ea typeface="Lexend"/>
              <a:cs typeface="Lexend"/>
              <a:sym typeface="Lexend"/>
            </a:endParaRPr>
          </a:p>
        </p:txBody>
      </p:sp>
      <p:sp>
        <p:nvSpPr>
          <p:cNvPr id="305" name="Google Shape;305;p20"/>
          <p:cNvSpPr/>
          <p:nvPr/>
        </p:nvSpPr>
        <p:spPr>
          <a:xfrm>
            <a:off x="1932815" y="2558625"/>
            <a:ext cx="645900" cy="547800"/>
          </a:xfrm>
          <a:prstGeom prst="rect">
            <a:avLst/>
          </a:prstGeom>
          <a:solidFill>
            <a:schemeClr val="lt2"/>
          </a:solidFill>
          <a:ln>
            <a:noFill/>
          </a:ln>
        </p:spPr>
        <p:txBody>
          <a:bodyPr spcFirstLastPara="1" wrap="square" lIns="91425" tIns="91425" rIns="91425" bIns="91425" anchor="ctr" anchorCtr="0">
            <a:noAutofit/>
          </a:bodyPr>
          <a:lstStyle/>
          <a:p>
            <a:pPr algn="ctr"/>
            <a:r>
              <a:rPr lang="en" sz="1500" b="1">
                <a:latin typeface="Lexend"/>
                <a:ea typeface="Lexend"/>
                <a:cs typeface="Lexend"/>
                <a:sym typeface="Lexend"/>
              </a:rPr>
              <a:t>2</a:t>
            </a:r>
            <a:endParaRPr sz="1500" b="1">
              <a:latin typeface="Lexend"/>
              <a:ea typeface="Lexend"/>
              <a:cs typeface="Lexend"/>
              <a:sym typeface="Lexend"/>
            </a:endParaRPr>
          </a:p>
        </p:txBody>
      </p:sp>
      <p:cxnSp>
        <p:nvCxnSpPr>
          <p:cNvPr id="306" name="Google Shape;306;p20"/>
          <p:cNvCxnSpPr>
            <a:stCxn id="304" idx="3"/>
            <a:endCxn id="305" idx="1"/>
          </p:cNvCxnSpPr>
          <p:nvPr/>
        </p:nvCxnSpPr>
        <p:spPr>
          <a:xfrm>
            <a:off x="1221426" y="2832525"/>
            <a:ext cx="711300" cy="0"/>
          </a:xfrm>
          <a:prstGeom prst="straightConnector1">
            <a:avLst/>
          </a:prstGeom>
          <a:noFill/>
          <a:ln w="28575" cap="flat" cmpd="sng">
            <a:solidFill>
              <a:schemeClr val="lt2"/>
            </a:solidFill>
            <a:prstDash val="solid"/>
            <a:round/>
            <a:headEnd type="none" w="med" len="med"/>
            <a:tailEnd type="none" w="med" len="med"/>
          </a:ln>
        </p:spPr>
      </p:cxnSp>
      <p:sp>
        <p:nvSpPr>
          <p:cNvPr id="307" name="Google Shape;307;p20"/>
          <p:cNvSpPr/>
          <p:nvPr/>
        </p:nvSpPr>
        <p:spPr>
          <a:xfrm>
            <a:off x="3290106" y="2558625"/>
            <a:ext cx="645900" cy="547800"/>
          </a:xfrm>
          <a:prstGeom prst="rect">
            <a:avLst/>
          </a:prstGeom>
          <a:solidFill>
            <a:schemeClr val="lt2"/>
          </a:solidFill>
          <a:ln>
            <a:noFill/>
          </a:ln>
        </p:spPr>
        <p:txBody>
          <a:bodyPr spcFirstLastPara="1" wrap="square" lIns="91425" tIns="91425" rIns="91425" bIns="91425" anchor="ctr" anchorCtr="0">
            <a:noAutofit/>
          </a:bodyPr>
          <a:lstStyle/>
          <a:p>
            <a:pPr algn="ctr"/>
            <a:r>
              <a:rPr lang="en" sz="1500" b="1">
                <a:latin typeface="Lexend"/>
                <a:ea typeface="Lexend"/>
                <a:cs typeface="Lexend"/>
                <a:sym typeface="Lexend"/>
              </a:rPr>
              <a:t>3</a:t>
            </a:r>
            <a:endParaRPr sz="1500" b="1">
              <a:latin typeface="Lexend"/>
              <a:ea typeface="Lexend"/>
              <a:cs typeface="Lexend"/>
              <a:sym typeface="Lexend"/>
            </a:endParaRPr>
          </a:p>
        </p:txBody>
      </p:sp>
      <p:sp>
        <p:nvSpPr>
          <p:cNvPr id="308" name="Google Shape;308;p20"/>
          <p:cNvSpPr/>
          <p:nvPr/>
        </p:nvSpPr>
        <p:spPr>
          <a:xfrm>
            <a:off x="4647395" y="2558625"/>
            <a:ext cx="645900" cy="547800"/>
          </a:xfrm>
          <a:prstGeom prst="rect">
            <a:avLst/>
          </a:prstGeom>
          <a:solidFill>
            <a:schemeClr val="lt2"/>
          </a:solidFill>
          <a:ln>
            <a:noFill/>
          </a:ln>
        </p:spPr>
        <p:txBody>
          <a:bodyPr spcFirstLastPara="1" wrap="square" lIns="91425" tIns="91425" rIns="91425" bIns="91425" anchor="ctr" anchorCtr="0">
            <a:noAutofit/>
          </a:bodyPr>
          <a:lstStyle/>
          <a:p>
            <a:pPr algn="ctr"/>
            <a:r>
              <a:rPr lang="en" sz="1500" b="1">
                <a:latin typeface="Lexend"/>
                <a:ea typeface="Lexend"/>
                <a:cs typeface="Lexend"/>
                <a:sym typeface="Lexend"/>
              </a:rPr>
              <a:t>4</a:t>
            </a:r>
            <a:endParaRPr sz="1500" b="1">
              <a:latin typeface="Lexend"/>
              <a:ea typeface="Lexend"/>
              <a:cs typeface="Lexend"/>
              <a:sym typeface="Lexend"/>
            </a:endParaRPr>
          </a:p>
        </p:txBody>
      </p:sp>
      <p:cxnSp>
        <p:nvCxnSpPr>
          <p:cNvPr id="309" name="Google Shape;309;p20"/>
          <p:cNvCxnSpPr>
            <a:stCxn id="305" idx="3"/>
            <a:endCxn id="307" idx="1"/>
          </p:cNvCxnSpPr>
          <p:nvPr/>
        </p:nvCxnSpPr>
        <p:spPr>
          <a:xfrm>
            <a:off x="2578715" y="2832525"/>
            <a:ext cx="711300" cy="0"/>
          </a:xfrm>
          <a:prstGeom prst="straightConnector1">
            <a:avLst/>
          </a:prstGeom>
          <a:noFill/>
          <a:ln w="28575" cap="flat" cmpd="sng">
            <a:solidFill>
              <a:schemeClr val="lt2"/>
            </a:solidFill>
            <a:prstDash val="solid"/>
            <a:round/>
            <a:headEnd type="none" w="med" len="med"/>
            <a:tailEnd type="none" w="med" len="med"/>
          </a:ln>
        </p:spPr>
      </p:cxnSp>
      <p:cxnSp>
        <p:nvCxnSpPr>
          <p:cNvPr id="310" name="Google Shape;310;p20"/>
          <p:cNvCxnSpPr>
            <a:stCxn id="307" idx="3"/>
            <a:endCxn id="308" idx="1"/>
          </p:cNvCxnSpPr>
          <p:nvPr/>
        </p:nvCxnSpPr>
        <p:spPr>
          <a:xfrm>
            <a:off x="3936006" y="2832525"/>
            <a:ext cx="711300" cy="0"/>
          </a:xfrm>
          <a:prstGeom prst="straightConnector1">
            <a:avLst/>
          </a:prstGeom>
          <a:noFill/>
          <a:ln w="28575" cap="flat" cmpd="sng">
            <a:solidFill>
              <a:schemeClr val="lt2"/>
            </a:solidFill>
            <a:prstDash val="solid"/>
            <a:round/>
            <a:headEnd type="none" w="med" len="med"/>
            <a:tailEnd type="none" w="med" len="med"/>
          </a:ln>
        </p:spPr>
      </p:cxnSp>
      <p:cxnSp>
        <p:nvCxnSpPr>
          <p:cNvPr id="311" name="Google Shape;311;p20"/>
          <p:cNvCxnSpPr>
            <a:stCxn id="308" idx="3"/>
            <a:endCxn id="312" idx="1"/>
          </p:cNvCxnSpPr>
          <p:nvPr/>
        </p:nvCxnSpPr>
        <p:spPr>
          <a:xfrm>
            <a:off x="5293295" y="2832525"/>
            <a:ext cx="711300" cy="0"/>
          </a:xfrm>
          <a:prstGeom prst="straightConnector1">
            <a:avLst/>
          </a:prstGeom>
          <a:noFill/>
          <a:ln w="28575" cap="flat" cmpd="sng">
            <a:solidFill>
              <a:schemeClr val="lt2"/>
            </a:solidFill>
            <a:prstDash val="solid"/>
            <a:round/>
            <a:headEnd type="none" w="med" len="med"/>
            <a:tailEnd type="none" w="med" len="med"/>
          </a:ln>
        </p:spPr>
      </p:cxnSp>
      <p:sp>
        <p:nvSpPr>
          <p:cNvPr id="312" name="Google Shape;312;p20"/>
          <p:cNvSpPr/>
          <p:nvPr/>
        </p:nvSpPr>
        <p:spPr>
          <a:xfrm>
            <a:off x="6004686" y="2558625"/>
            <a:ext cx="645900" cy="547800"/>
          </a:xfrm>
          <a:prstGeom prst="rect">
            <a:avLst/>
          </a:prstGeom>
          <a:solidFill>
            <a:schemeClr val="lt2"/>
          </a:solidFill>
          <a:ln>
            <a:noFill/>
          </a:ln>
        </p:spPr>
        <p:txBody>
          <a:bodyPr spcFirstLastPara="1" wrap="square" lIns="91425" tIns="91425" rIns="91425" bIns="91425" anchor="ctr" anchorCtr="0">
            <a:noAutofit/>
          </a:bodyPr>
          <a:lstStyle/>
          <a:p>
            <a:pPr algn="ctr"/>
            <a:r>
              <a:rPr lang="en" sz="1500" b="1">
                <a:latin typeface="Lexend"/>
                <a:ea typeface="Lexend"/>
                <a:cs typeface="Lexend"/>
                <a:sym typeface="Lexend"/>
              </a:rPr>
              <a:t>5</a:t>
            </a:r>
            <a:endParaRPr sz="1500" b="1">
              <a:latin typeface="Lexend"/>
              <a:ea typeface="Lexend"/>
              <a:cs typeface="Lexend"/>
              <a:sym typeface="Lexend"/>
            </a:endParaRPr>
          </a:p>
        </p:txBody>
      </p:sp>
      <p:sp>
        <p:nvSpPr>
          <p:cNvPr id="313" name="Google Shape;313;p20"/>
          <p:cNvSpPr/>
          <p:nvPr/>
        </p:nvSpPr>
        <p:spPr>
          <a:xfrm>
            <a:off x="7361975" y="2558625"/>
            <a:ext cx="645900" cy="547800"/>
          </a:xfrm>
          <a:prstGeom prst="rect">
            <a:avLst/>
          </a:prstGeom>
          <a:solidFill>
            <a:schemeClr val="lt2"/>
          </a:solidFill>
          <a:ln>
            <a:noFill/>
          </a:ln>
        </p:spPr>
        <p:txBody>
          <a:bodyPr spcFirstLastPara="1" wrap="square" lIns="91425" tIns="91425" rIns="91425" bIns="91425" anchor="ctr" anchorCtr="0">
            <a:noAutofit/>
          </a:bodyPr>
          <a:lstStyle/>
          <a:p>
            <a:pPr algn="ctr"/>
            <a:r>
              <a:rPr lang="en" sz="1500" b="1">
                <a:latin typeface="Lexend"/>
                <a:ea typeface="Lexend"/>
                <a:cs typeface="Lexend"/>
                <a:sym typeface="Lexend"/>
              </a:rPr>
              <a:t>6</a:t>
            </a:r>
            <a:endParaRPr sz="1500" b="1">
              <a:latin typeface="Lexend"/>
              <a:ea typeface="Lexend"/>
              <a:cs typeface="Lexend"/>
              <a:sym typeface="Lexend"/>
            </a:endParaRPr>
          </a:p>
        </p:txBody>
      </p:sp>
      <p:cxnSp>
        <p:nvCxnSpPr>
          <p:cNvPr id="314" name="Google Shape;314;p20"/>
          <p:cNvCxnSpPr>
            <a:stCxn id="312" idx="3"/>
            <a:endCxn id="313" idx="1"/>
          </p:cNvCxnSpPr>
          <p:nvPr/>
        </p:nvCxnSpPr>
        <p:spPr>
          <a:xfrm>
            <a:off x="6650586" y="2832525"/>
            <a:ext cx="711300" cy="0"/>
          </a:xfrm>
          <a:prstGeom prst="straightConnector1">
            <a:avLst/>
          </a:prstGeom>
          <a:noFill/>
          <a:ln w="28575" cap="flat" cmpd="sng">
            <a:solidFill>
              <a:schemeClr val="lt2"/>
            </a:solidFill>
            <a:prstDash val="solid"/>
            <a:round/>
            <a:headEnd type="none" w="med" len="med"/>
            <a:tailEnd type="none" w="med" len="med"/>
          </a:ln>
        </p:spPr>
      </p:cxnSp>
      <p:sp>
        <p:nvSpPr>
          <p:cNvPr id="315" name="Google Shape;315;p20"/>
          <p:cNvSpPr txBox="1"/>
          <p:nvPr/>
        </p:nvSpPr>
        <p:spPr>
          <a:xfrm>
            <a:off x="480737" y="1568347"/>
            <a:ext cx="1809900" cy="884945"/>
          </a:xfrm>
          <a:prstGeom prst="rect">
            <a:avLst/>
          </a:prstGeom>
          <a:noFill/>
          <a:ln>
            <a:noFill/>
          </a:ln>
        </p:spPr>
        <p:txBody>
          <a:bodyPr spcFirstLastPara="1" wrap="square" lIns="91425" tIns="91425" rIns="91425" bIns="91425" anchor="t" anchorCtr="0">
            <a:noAutofit/>
          </a:bodyPr>
          <a:lstStyle/>
          <a:p>
            <a:r>
              <a:rPr lang="en" sz="1300" b="1" dirty="0">
                <a:solidFill>
                  <a:schemeClr val="lt1"/>
                </a:solidFill>
                <a:latin typeface="Lexend"/>
                <a:ea typeface="Lexend"/>
                <a:cs typeface="Lexend"/>
                <a:sym typeface="Lexend"/>
              </a:rPr>
              <a:t>1. Problem Understanding: SMART Framework</a:t>
            </a:r>
            <a:endParaRPr sz="1300" b="1" dirty="0">
              <a:solidFill>
                <a:schemeClr val="lt1"/>
              </a:solidFill>
              <a:latin typeface="Lexend"/>
              <a:ea typeface="Lexend"/>
              <a:cs typeface="Lexend"/>
              <a:sym typeface="Lexend"/>
            </a:endParaRPr>
          </a:p>
        </p:txBody>
      </p:sp>
      <p:sp>
        <p:nvSpPr>
          <p:cNvPr id="316" name="Google Shape;316;p20"/>
          <p:cNvSpPr txBox="1"/>
          <p:nvPr/>
        </p:nvSpPr>
        <p:spPr>
          <a:xfrm>
            <a:off x="2578715" y="738863"/>
            <a:ext cx="3227293" cy="1769641"/>
          </a:xfrm>
          <a:prstGeom prst="rect">
            <a:avLst/>
          </a:prstGeom>
          <a:noFill/>
          <a:ln>
            <a:noFill/>
          </a:ln>
        </p:spPr>
        <p:txBody>
          <a:bodyPr spcFirstLastPara="1" wrap="square" lIns="91425" tIns="91425" rIns="91425" bIns="91425" anchor="t" anchorCtr="0">
            <a:noAutofit/>
          </a:bodyPr>
          <a:lstStyle/>
          <a:p>
            <a:pPr algn="just"/>
            <a:r>
              <a:rPr lang="en" sz="1200" b="1" dirty="0">
                <a:solidFill>
                  <a:schemeClr val="bg1"/>
                </a:solidFill>
                <a:latin typeface="Lexend" panose="020B0604020202020204" charset="0"/>
                <a:ea typeface="Lexend"/>
                <a:cs typeface="Lexend"/>
                <a:sym typeface="Lexend"/>
              </a:rPr>
              <a:t>3. Exploratory Data Analysis: </a:t>
            </a:r>
            <a:r>
              <a:rPr lang="en-ID" sz="1200" b="1" dirty="0">
                <a:solidFill>
                  <a:schemeClr val="bg1"/>
                </a:solidFill>
                <a:latin typeface="Lexend" panose="020B0604020202020204" charset="0"/>
                <a:ea typeface="Lexend"/>
                <a:cs typeface="Lexend"/>
                <a:sym typeface="Lexend"/>
              </a:rPr>
              <a:t>Profiling</a:t>
            </a:r>
          </a:p>
          <a:p>
            <a:pPr marL="228600" indent="-228600" algn="just">
              <a:buClr>
                <a:schemeClr val="bg1"/>
              </a:buClr>
              <a:buFont typeface="Wingdings" panose="05000000000000000000" pitchFamily="2" charset="2"/>
              <a:buChar char="q"/>
            </a:pPr>
            <a:r>
              <a:rPr lang="nn-NO" sz="1200" b="1" dirty="0">
                <a:solidFill>
                  <a:schemeClr val="bg1"/>
                </a:solidFill>
                <a:latin typeface="Lexend" panose="020B0604020202020204" charset="0"/>
              </a:rPr>
              <a:t>Profiling &amp; Pemahaman Variabel (Data Auditing)</a:t>
            </a:r>
          </a:p>
          <a:p>
            <a:pPr marL="228600" indent="-228600" algn="just">
              <a:buClr>
                <a:schemeClr val="bg1"/>
              </a:buClr>
              <a:buFont typeface="Wingdings" panose="05000000000000000000" pitchFamily="2" charset="2"/>
              <a:buChar char="q"/>
            </a:pPr>
            <a:r>
              <a:rPr lang="nn-NO" sz="1200" b="1" dirty="0">
                <a:solidFill>
                  <a:schemeClr val="bg1"/>
                </a:solidFill>
                <a:latin typeface="Lexend" panose="020B0604020202020204" charset="0"/>
              </a:rPr>
              <a:t>Analisis Univariat (Analisis Tunggal Variabel</a:t>
            </a:r>
          </a:p>
          <a:p>
            <a:pPr marL="228600" indent="-228600" algn="just">
              <a:buClr>
                <a:schemeClr val="bg1"/>
              </a:buClr>
              <a:buFont typeface="Wingdings" panose="05000000000000000000" pitchFamily="2" charset="2"/>
              <a:buChar char="q"/>
            </a:pPr>
            <a:r>
              <a:rPr lang="en-ID" sz="1200" b="1" dirty="0" err="1">
                <a:solidFill>
                  <a:schemeClr val="bg1"/>
                </a:solidFill>
                <a:latin typeface="Lexend" panose="020B0604020202020204" charset="0"/>
              </a:rPr>
              <a:t>Analisis</a:t>
            </a:r>
            <a:r>
              <a:rPr lang="en-ID" sz="1200" b="1" dirty="0">
                <a:solidFill>
                  <a:schemeClr val="bg1"/>
                </a:solidFill>
                <a:latin typeface="Lexend" panose="020B0604020202020204" charset="0"/>
              </a:rPr>
              <a:t> </a:t>
            </a:r>
            <a:r>
              <a:rPr lang="en-ID" sz="1200" b="1" dirty="0" err="1">
                <a:solidFill>
                  <a:schemeClr val="bg1"/>
                </a:solidFill>
                <a:latin typeface="Lexend" panose="020B0604020202020204" charset="0"/>
              </a:rPr>
              <a:t>Bivariat</a:t>
            </a:r>
            <a:r>
              <a:rPr lang="en-ID" sz="1200" b="1" dirty="0">
                <a:solidFill>
                  <a:schemeClr val="bg1"/>
                </a:solidFill>
                <a:latin typeface="Lexend" panose="020B0604020202020204" charset="0"/>
              </a:rPr>
              <a:t> (</a:t>
            </a:r>
            <a:r>
              <a:rPr lang="en-ID" sz="1200" b="1" dirty="0" err="1">
                <a:solidFill>
                  <a:schemeClr val="bg1"/>
                </a:solidFill>
                <a:latin typeface="Lexend" panose="020B0604020202020204" charset="0"/>
              </a:rPr>
              <a:t>Analisis</a:t>
            </a:r>
            <a:r>
              <a:rPr lang="en-ID" sz="1200" b="1" dirty="0">
                <a:solidFill>
                  <a:schemeClr val="bg1"/>
                </a:solidFill>
                <a:latin typeface="Lexend" panose="020B0604020202020204" charset="0"/>
              </a:rPr>
              <a:t> Silang </a:t>
            </a:r>
            <a:r>
              <a:rPr lang="en-ID" sz="1200" b="1" dirty="0" err="1">
                <a:solidFill>
                  <a:schemeClr val="bg1"/>
                </a:solidFill>
                <a:latin typeface="Lexend" panose="020B0604020202020204" charset="0"/>
              </a:rPr>
              <a:t>Hubungan</a:t>
            </a:r>
            <a:r>
              <a:rPr lang="en-ID" sz="1200" b="1" dirty="0">
                <a:solidFill>
                  <a:schemeClr val="bg1"/>
                </a:solidFill>
                <a:latin typeface="Lexend" panose="020B0604020202020204" charset="0"/>
              </a:rPr>
              <a:t> </a:t>
            </a:r>
            <a:r>
              <a:rPr lang="en-ID" sz="1200" b="1" dirty="0" err="1">
                <a:solidFill>
                  <a:schemeClr val="bg1"/>
                </a:solidFill>
                <a:latin typeface="Lexend" panose="020B0604020202020204" charset="0"/>
              </a:rPr>
              <a:t>Dua</a:t>
            </a:r>
            <a:r>
              <a:rPr lang="en-ID" sz="1200" b="1" dirty="0">
                <a:solidFill>
                  <a:schemeClr val="bg1"/>
                </a:solidFill>
                <a:latin typeface="Lexend" panose="020B0604020202020204" charset="0"/>
              </a:rPr>
              <a:t> </a:t>
            </a:r>
            <a:r>
              <a:rPr lang="en-ID" sz="1200" b="1" dirty="0" err="1">
                <a:solidFill>
                  <a:schemeClr val="bg1"/>
                </a:solidFill>
                <a:latin typeface="Lexend" panose="020B0604020202020204" charset="0"/>
              </a:rPr>
              <a:t>Variabel</a:t>
            </a:r>
            <a:r>
              <a:rPr lang="en-ID" sz="1200" b="1" dirty="0">
                <a:solidFill>
                  <a:schemeClr val="bg1"/>
                </a:solidFill>
                <a:latin typeface="Lexend" panose="020B0604020202020204" charset="0"/>
              </a:rPr>
              <a:t>)</a:t>
            </a:r>
          </a:p>
          <a:p>
            <a:pPr marL="228600" indent="-228600" algn="just">
              <a:buClr>
                <a:schemeClr val="bg1"/>
              </a:buClr>
              <a:buFont typeface="Wingdings" panose="05000000000000000000" pitchFamily="2" charset="2"/>
              <a:buChar char="q"/>
            </a:pPr>
            <a:r>
              <a:rPr lang="en-ID" sz="1200" b="1" dirty="0">
                <a:solidFill>
                  <a:schemeClr val="bg1"/>
                </a:solidFill>
                <a:latin typeface="Lexend" panose="020B0604020202020204" charset="0"/>
              </a:rPr>
              <a:t>4. </a:t>
            </a:r>
            <a:r>
              <a:rPr lang="en-ID" sz="1200" b="1" dirty="0" err="1">
                <a:solidFill>
                  <a:schemeClr val="bg1"/>
                </a:solidFill>
                <a:latin typeface="Lexend" panose="020B0604020202020204" charset="0"/>
              </a:rPr>
              <a:t>Analisis</a:t>
            </a:r>
            <a:r>
              <a:rPr lang="en-ID" sz="1200" b="1" dirty="0">
                <a:solidFill>
                  <a:schemeClr val="bg1"/>
                </a:solidFill>
                <a:latin typeface="Lexend" panose="020B0604020202020204" charset="0"/>
              </a:rPr>
              <a:t> </a:t>
            </a:r>
            <a:r>
              <a:rPr lang="en-ID" sz="1200" b="1" dirty="0" err="1">
                <a:solidFill>
                  <a:schemeClr val="bg1"/>
                </a:solidFill>
                <a:latin typeface="Lexend" panose="020B0604020202020204" charset="0"/>
              </a:rPr>
              <a:t>Multivariat</a:t>
            </a:r>
            <a:r>
              <a:rPr lang="en-ID" sz="1200" b="1" dirty="0">
                <a:solidFill>
                  <a:schemeClr val="bg1"/>
                </a:solidFill>
                <a:latin typeface="Lexend" panose="020B0604020202020204" charset="0"/>
              </a:rPr>
              <a:t> &amp; </a:t>
            </a:r>
            <a:r>
              <a:rPr lang="en-ID" sz="1200" b="1" dirty="0" err="1">
                <a:solidFill>
                  <a:schemeClr val="bg1"/>
                </a:solidFill>
                <a:latin typeface="Lexend" panose="020B0604020202020204" charset="0"/>
              </a:rPr>
              <a:t>Deteksi</a:t>
            </a:r>
            <a:r>
              <a:rPr lang="en-ID" sz="1200" b="1" dirty="0">
                <a:solidFill>
                  <a:schemeClr val="bg1"/>
                </a:solidFill>
                <a:latin typeface="Lexend" panose="020B0604020202020204" charset="0"/>
              </a:rPr>
              <a:t> </a:t>
            </a:r>
            <a:r>
              <a:rPr lang="en-ID" sz="1200" b="1" dirty="0" err="1">
                <a:solidFill>
                  <a:schemeClr val="bg1"/>
                </a:solidFill>
                <a:latin typeface="Lexend" panose="020B0604020202020204" charset="0"/>
              </a:rPr>
              <a:t>Efek</a:t>
            </a:r>
            <a:r>
              <a:rPr lang="en-ID" sz="1200" b="1" dirty="0">
                <a:solidFill>
                  <a:schemeClr val="bg1"/>
                </a:solidFill>
                <a:latin typeface="Lexend" panose="020B0604020202020204" charset="0"/>
              </a:rPr>
              <a:t> </a:t>
            </a:r>
            <a:r>
              <a:rPr lang="en-ID" sz="1200" b="1" dirty="0" err="1">
                <a:solidFill>
                  <a:schemeClr val="bg1"/>
                </a:solidFill>
                <a:latin typeface="Lexend" panose="020B0604020202020204" charset="0"/>
              </a:rPr>
              <a:t>Pengganda</a:t>
            </a:r>
            <a:r>
              <a:rPr lang="en-ID" sz="1200" b="1" dirty="0">
                <a:solidFill>
                  <a:schemeClr val="bg1"/>
                </a:solidFill>
                <a:latin typeface="Lexend" panose="020B0604020202020204" charset="0"/>
              </a:rPr>
              <a:t> (Advanced EDA)</a:t>
            </a:r>
            <a:endParaRPr lang="nn-NO" sz="1200" b="1" dirty="0">
              <a:solidFill>
                <a:schemeClr val="bg1"/>
              </a:solidFill>
              <a:latin typeface="Lexend" panose="020B0604020202020204" charset="0"/>
            </a:endParaRPr>
          </a:p>
          <a:p>
            <a:endParaRPr sz="1300" b="1" dirty="0">
              <a:solidFill>
                <a:schemeClr val="lt1"/>
              </a:solidFill>
              <a:latin typeface="Lexend"/>
              <a:ea typeface="Lexend"/>
              <a:cs typeface="Lexend"/>
              <a:sym typeface="Lexend"/>
            </a:endParaRPr>
          </a:p>
        </p:txBody>
      </p:sp>
      <p:sp>
        <p:nvSpPr>
          <p:cNvPr id="317" name="Google Shape;317;p20"/>
          <p:cNvSpPr txBox="1"/>
          <p:nvPr/>
        </p:nvSpPr>
        <p:spPr>
          <a:xfrm>
            <a:off x="5941898" y="1049377"/>
            <a:ext cx="2981385" cy="1395742"/>
          </a:xfrm>
          <a:prstGeom prst="rect">
            <a:avLst/>
          </a:prstGeom>
          <a:noFill/>
          <a:ln>
            <a:noFill/>
          </a:ln>
        </p:spPr>
        <p:txBody>
          <a:bodyPr spcFirstLastPara="1" wrap="square" lIns="91425" tIns="91425" rIns="91425" bIns="91425" anchor="t" anchorCtr="0">
            <a:noAutofit/>
          </a:bodyPr>
          <a:lstStyle/>
          <a:p>
            <a:r>
              <a:rPr lang="en" sz="1300" b="1" dirty="0">
                <a:solidFill>
                  <a:schemeClr val="bg1"/>
                </a:solidFill>
                <a:latin typeface="Lexend" panose="020B0604020202020204" charset="0"/>
                <a:ea typeface="Lexend"/>
                <a:cs typeface="Lexend"/>
                <a:sym typeface="Lexend"/>
              </a:rPr>
              <a:t>5. Data Visualization: </a:t>
            </a:r>
          </a:p>
          <a:p>
            <a:pPr marL="285750" indent="-285750">
              <a:buClr>
                <a:schemeClr val="bg1"/>
              </a:buClr>
              <a:buFont typeface="Wingdings" panose="05000000000000000000" pitchFamily="2" charset="2"/>
              <a:buChar char="q"/>
            </a:pPr>
            <a:r>
              <a:rPr lang="en" sz="1300" b="1" dirty="0">
                <a:solidFill>
                  <a:schemeClr val="bg1"/>
                </a:solidFill>
                <a:latin typeface="Lexend" panose="020B0604020202020204" charset="0"/>
                <a:ea typeface="Lexend"/>
                <a:cs typeface="Lexend"/>
                <a:sym typeface="Lexend"/>
              </a:rPr>
              <a:t>Visual Information</a:t>
            </a:r>
          </a:p>
          <a:p>
            <a:pPr marL="285750" indent="-285750">
              <a:buClr>
                <a:schemeClr val="bg1"/>
              </a:buClr>
              <a:buFont typeface="Wingdings" panose="05000000000000000000" pitchFamily="2" charset="2"/>
              <a:buChar char="q"/>
            </a:pPr>
            <a:r>
              <a:rPr lang="it-IT" sz="1300" b="1" dirty="0">
                <a:solidFill>
                  <a:schemeClr val="bg1"/>
                </a:solidFill>
                <a:latin typeface="Lexend" panose="020B0604020202020204" charset="0"/>
              </a:rPr>
              <a:t>The Data-to-Ink Ratio </a:t>
            </a:r>
            <a:endParaRPr lang="en-ID" sz="1300" b="1" dirty="0">
              <a:solidFill>
                <a:schemeClr val="bg1"/>
              </a:solidFill>
              <a:latin typeface="Lexend" panose="020B0604020202020204" charset="0"/>
            </a:endParaRPr>
          </a:p>
          <a:p>
            <a:pPr marL="285750" indent="-285750">
              <a:buClr>
                <a:schemeClr val="bg1"/>
              </a:buClr>
              <a:buFont typeface="Wingdings" panose="05000000000000000000" pitchFamily="2" charset="2"/>
              <a:buChar char="q"/>
            </a:pPr>
            <a:r>
              <a:rPr lang="en-ID" sz="1300" b="1" i="1" dirty="0">
                <a:solidFill>
                  <a:schemeClr val="bg1"/>
                </a:solidFill>
                <a:latin typeface="Lexend" panose="020B0604020202020204" charset="0"/>
              </a:rPr>
              <a:t>Pre-attentive Attributes</a:t>
            </a:r>
          </a:p>
          <a:p>
            <a:pPr marL="285750" indent="-285750">
              <a:buClr>
                <a:schemeClr val="bg1"/>
              </a:buClr>
              <a:buFont typeface="Wingdings" panose="05000000000000000000" pitchFamily="2" charset="2"/>
              <a:buChar char="q"/>
            </a:pPr>
            <a:r>
              <a:rPr lang="en-ID" sz="1300" b="1" dirty="0">
                <a:solidFill>
                  <a:schemeClr val="bg1"/>
                </a:solidFill>
                <a:latin typeface="Lexend" panose="020B0604020202020204" charset="0"/>
              </a:rPr>
              <a:t>Chart Selection Framework</a:t>
            </a:r>
            <a:endParaRPr sz="1300" b="1" dirty="0">
              <a:solidFill>
                <a:schemeClr val="bg1"/>
              </a:solidFill>
              <a:latin typeface="Lexend" panose="020B0604020202020204" charset="0"/>
              <a:ea typeface="Lexend"/>
              <a:cs typeface="Lexend"/>
              <a:sym typeface="Lexend"/>
            </a:endParaRPr>
          </a:p>
        </p:txBody>
      </p:sp>
      <p:sp>
        <p:nvSpPr>
          <p:cNvPr id="318" name="Google Shape;318;p20"/>
          <p:cNvSpPr txBox="1"/>
          <p:nvPr/>
        </p:nvSpPr>
        <p:spPr>
          <a:xfrm>
            <a:off x="145174" y="3050632"/>
            <a:ext cx="4267801" cy="1899735"/>
          </a:xfrm>
          <a:prstGeom prst="rect">
            <a:avLst/>
          </a:prstGeom>
          <a:noFill/>
          <a:ln>
            <a:noFill/>
          </a:ln>
        </p:spPr>
        <p:txBody>
          <a:bodyPr spcFirstLastPara="1" wrap="square" lIns="91425" tIns="91425" rIns="91425" bIns="91425" anchor="t" anchorCtr="0">
            <a:noAutofit/>
          </a:bodyPr>
          <a:lstStyle/>
          <a:p>
            <a:r>
              <a:rPr lang="en" sz="1200" b="1" dirty="0">
                <a:solidFill>
                  <a:schemeClr val="lt1"/>
                </a:solidFill>
                <a:latin typeface="Lexend" panose="020B0604020202020204" charset="0"/>
                <a:ea typeface="Lexend"/>
                <a:cs typeface="Lexend"/>
                <a:sym typeface="Lexend"/>
              </a:rPr>
              <a:t>2. Data Preparation &amp; Data Cleaning: </a:t>
            </a:r>
          </a:p>
          <a:p>
            <a:pPr marL="228600" indent="-228600">
              <a:buClr>
                <a:schemeClr val="bg1"/>
              </a:buClr>
              <a:buFont typeface="Wingdings" panose="05000000000000000000" pitchFamily="2" charset="2"/>
              <a:buChar char="q"/>
            </a:pPr>
            <a:r>
              <a:rPr lang="nn-NO" sz="1200" b="1" dirty="0">
                <a:solidFill>
                  <a:schemeClr val="bg1"/>
                </a:solidFill>
                <a:latin typeface="Lexend" panose="020B0604020202020204" charset="0"/>
              </a:rPr>
              <a:t>Data Auditing &amp; Profiling (Pemeriksaan Struktur Awal</a:t>
            </a:r>
          </a:p>
          <a:p>
            <a:pPr marL="228600" indent="-228600">
              <a:buClr>
                <a:schemeClr val="bg1"/>
              </a:buClr>
              <a:buFont typeface="Wingdings" panose="05000000000000000000" pitchFamily="2" charset="2"/>
              <a:buChar char="q"/>
            </a:pPr>
            <a:r>
              <a:rPr lang="en-ID" sz="1200" b="1" dirty="0">
                <a:solidFill>
                  <a:schemeClr val="bg1"/>
                </a:solidFill>
                <a:latin typeface="Lexend" panose="020B0604020202020204" charset="0"/>
              </a:rPr>
              <a:t>Handling Missing Values (</a:t>
            </a:r>
            <a:r>
              <a:rPr lang="en-ID" sz="1200" b="1" dirty="0" err="1">
                <a:solidFill>
                  <a:schemeClr val="bg1"/>
                </a:solidFill>
                <a:latin typeface="Lexend" panose="020B0604020202020204" charset="0"/>
              </a:rPr>
              <a:t>Penanganan</a:t>
            </a:r>
            <a:r>
              <a:rPr lang="en-ID" sz="1200" b="1" dirty="0">
                <a:solidFill>
                  <a:schemeClr val="bg1"/>
                </a:solidFill>
                <a:latin typeface="Lexend" panose="020B0604020202020204" charset="0"/>
              </a:rPr>
              <a:t> Data </a:t>
            </a:r>
            <a:r>
              <a:rPr lang="en-ID" sz="1200" b="1" dirty="0" err="1">
                <a:solidFill>
                  <a:schemeClr val="bg1"/>
                </a:solidFill>
                <a:latin typeface="Lexend" panose="020B0604020202020204" charset="0"/>
              </a:rPr>
              <a:t>Kosong</a:t>
            </a:r>
            <a:r>
              <a:rPr lang="en-ID" sz="1200" b="1" dirty="0">
                <a:solidFill>
                  <a:schemeClr val="bg1"/>
                </a:solidFill>
                <a:latin typeface="Lexend" panose="020B0604020202020204" charset="0"/>
              </a:rPr>
              <a:t>)</a:t>
            </a:r>
          </a:p>
          <a:p>
            <a:pPr marL="228600" indent="-228600">
              <a:buClr>
                <a:schemeClr val="bg1"/>
              </a:buClr>
              <a:buFont typeface="Wingdings" panose="05000000000000000000" pitchFamily="2" charset="2"/>
              <a:buChar char="q"/>
            </a:pPr>
            <a:r>
              <a:rPr lang="en-ID" sz="1200" b="1" dirty="0">
                <a:solidFill>
                  <a:schemeClr val="bg1"/>
                </a:solidFill>
                <a:latin typeface="Lexend" panose="020B0604020202020204" charset="0"/>
              </a:rPr>
              <a:t>Handling Duplicates (</a:t>
            </a:r>
            <a:r>
              <a:rPr lang="en-ID" sz="1200" b="1" dirty="0" err="1">
                <a:solidFill>
                  <a:schemeClr val="bg1"/>
                </a:solidFill>
                <a:latin typeface="Lexend" panose="020B0604020202020204" charset="0"/>
              </a:rPr>
              <a:t>Penanganan</a:t>
            </a:r>
            <a:r>
              <a:rPr lang="en-ID" sz="1200" b="1" dirty="0">
                <a:solidFill>
                  <a:schemeClr val="bg1"/>
                </a:solidFill>
                <a:latin typeface="Lexend" panose="020B0604020202020204" charset="0"/>
              </a:rPr>
              <a:t> Data Ganda)</a:t>
            </a:r>
          </a:p>
          <a:p>
            <a:pPr marL="228600" indent="-228600">
              <a:buClr>
                <a:schemeClr val="bg1"/>
              </a:buClr>
              <a:buFont typeface="Wingdings" panose="05000000000000000000" pitchFamily="2" charset="2"/>
              <a:buChar char="q"/>
            </a:pPr>
            <a:r>
              <a:rPr lang="en-ID" sz="1200" b="1" dirty="0">
                <a:solidFill>
                  <a:schemeClr val="bg1"/>
                </a:solidFill>
                <a:latin typeface="Lexend" panose="020B0604020202020204" charset="0"/>
              </a:rPr>
              <a:t>Data Type &amp; Format Standardization (</a:t>
            </a:r>
            <a:r>
              <a:rPr lang="en-ID" sz="1200" b="1" dirty="0" err="1">
                <a:solidFill>
                  <a:schemeClr val="bg1"/>
                </a:solidFill>
                <a:latin typeface="Lexend" panose="020B0604020202020204" charset="0"/>
              </a:rPr>
              <a:t>Standardisasi</a:t>
            </a:r>
            <a:r>
              <a:rPr lang="en-ID" sz="1200" b="1" dirty="0">
                <a:solidFill>
                  <a:schemeClr val="bg1"/>
                </a:solidFill>
                <a:latin typeface="Lexend" panose="020B0604020202020204" charset="0"/>
              </a:rPr>
              <a:t> Format)</a:t>
            </a:r>
          </a:p>
          <a:p>
            <a:pPr marL="228600" indent="-228600">
              <a:buClr>
                <a:schemeClr val="bg1"/>
              </a:buClr>
              <a:buFont typeface="Wingdings" panose="05000000000000000000" pitchFamily="2" charset="2"/>
              <a:buChar char="q"/>
            </a:pPr>
            <a:r>
              <a:rPr lang="en-ID" sz="1200" b="1" dirty="0">
                <a:solidFill>
                  <a:schemeClr val="bg1"/>
                </a:solidFill>
                <a:latin typeface="Lexend" panose="020B0604020202020204" charset="0"/>
              </a:rPr>
              <a:t>Outlier Detection &amp; Handling (</a:t>
            </a:r>
            <a:r>
              <a:rPr lang="en-ID" sz="1200" b="1" dirty="0" err="1">
                <a:solidFill>
                  <a:schemeClr val="bg1"/>
                </a:solidFill>
                <a:latin typeface="Lexend" panose="020B0604020202020204" charset="0"/>
              </a:rPr>
              <a:t>Deteksi</a:t>
            </a:r>
            <a:r>
              <a:rPr lang="en-ID" sz="1200" b="1" dirty="0">
                <a:solidFill>
                  <a:schemeClr val="bg1"/>
                </a:solidFill>
                <a:latin typeface="Lexend" panose="020B0604020202020204" charset="0"/>
              </a:rPr>
              <a:t> Data </a:t>
            </a:r>
            <a:r>
              <a:rPr lang="en-ID" sz="1200" b="1" dirty="0" err="1">
                <a:solidFill>
                  <a:schemeClr val="bg1"/>
                </a:solidFill>
                <a:latin typeface="Lexend" panose="020B0604020202020204" charset="0"/>
              </a:rPr>
              <a:t>Pencilan</a:t>
            </a:r>
            <a:r>
              <a:rPr lang="en-ID" sz="1200" b="1" dirty="0">
                <a:solidFill>
                  <a:schemeClr val="bg1"/>
                </a:solidFill>
                <a:latin typeface="Lexend" panose="020B0604020202020204" charset="0"/>
              </a:rPr>
              <a:t>)</a:t>
            </a:r>
            <a:endParaRPr lang="en" sz="1200" b="1" dirty="0">
              <a:solidFill>
                <a:schemeClr val="bg1"/>
              </a:solidFill>
              <a:latin typeface="Lexend" panose="020B0604020202020204" charset="0"/>
              <a:ea typeface="Lexend"/>
              <a:cs typeface="Lexend"/>
              <a:sym typeface="Lexend"/>
            </a:endParaRPr>
          </a:p>
        </p:txBody>
      </p:sp>
      <p:sp>
        <p:nvSpPr>
          <p:cNvPr id="319" name="Google Shape;319;p20"/>
          <p:cNvSpPr txBox="1"/>
          <p:nvPr/>
        </p:nvSpPr>
        <p:spPr>
          <a:xfrm>
            <a:off x="4242554" y="3097966"/>
            <a:ext cx="2531548" cy="1395750"/>
          </a:xfrm>
          <a:prstGeom prst="rect">
            <a:avLst/>
          </a:prstGeom>
          <a:noFill/>
          <a:ln>
            <a:noFill/>
          </a:ln>
        </p:spPr>
        <p:txBody>
          <a:bodyPr spcFirstLastPara="1" wrap="square" lIns="91425" tIns="91425" rIns="91425" bIns="91425" anchor="t" anchorCtr="0">
            <a:noAutofit/>
          </a:bodyPr>
          <a:lstStyle/>
          <a:p>
            <a:r>
              <a:rPr lang="en" sz="1300" b="1" dirty="0">
                <a:solidFill>
                  <a:schemeClr val="lt1"/>
                </a:solidFill>
                <a:latin typeface="Lexend"/>
                <a:ea typeface="Lexend"/>
                <a:cs typeface="Lexend"/>
                <a:sym typeface="Lexend"/>
              </a:rPr>
              <a:t>4. Data Analysis: </a:t>
            </a:r>
          </a:p>
          <a:p>
            <a:pPr marL="285750" indent="-285750">
              <a:buClr>
                <a:schemeClr val="bg1"/>
              </a:buClr>
              <a:buFont typeface="Wingdings" panose="05000000000000000000" pitchFamily="2" charset="2"/>
              <a:buChar char="q"/>
            </a:pPr>
            <a:r>
              <a:rPr lang="en" sz="1200" b="1" dirty="0">
                <a:solidFill>
                  <a:schemeClr val="lt1"/>
                </a:solidFill>
                <a:latin typeface="Lexend"/>
                <a:ea typeface="Lexend"/>
                <a:cs typeface="Lexend"/>
                <a:sym typeface="Lexend"/>
              </a:rPr>
              <a:t>Descriptive Analytics</a:t>
            </a:r>
          </a:p>
          <a:p>
            <a:pPr marL="285750" indent="-285750">
              <a:buClr>
                <a:schemeClr val="bg1"/>
              </a:buClr>
              <a:buFont typeface="Wingdings" panose="05000000000000000000" pitchFamily="2" charset="2"/>
              <a:buChar char="q"/>
            </a:pPr>
            <a:r>
              <a:rPr lang="en" sz="1200" b="1" dirty="0">
                <a:solidFill>
                  <a:schemeClr val="lt1"/>
                </a:solidFill>
                <a:latin typeface="Lexend"/>
                <a:ea typeface="Lexend"/>
                <a:cs typeface="Lexend"/>
                <a:sym typeface="Lexend"/>
              </a:rPr>
              <a:t>Diagnostic Analytics</a:t>
            </a:r>
          </a:p>
          <a:p>
            <a:pPr marL="285750" indent="-285750">
              <a:buClr>
                <a:schemeClr val="bg1"/>
              </a:buClr>
              <a:buFont typeface="Wingdings" panose="05000000000000000000" pitchFamily="2" charset="2"/>
              <a:buChar char="q"/>
            </a:pPr>
            <a:r>
              <a:rPr lang="en-US" sz="1200" b="1" dirty="0">
                <a:solidFill>
                  <a:schemeClr val="lt1"/>
                </a:solidFill>
                <a:latin typeface="Lexend"/>
                <a:ea typeface="Lexend"/>
                <a:cs typeface="Lexend"/>
                <a:sym typeface="Lexend"/>
              </a:rPr>
              <a:t>Hypothesis Testing</a:t>
            </a:r>
          </a:p>
          <a:p>
            <a:pPr marL="285750" indent="-285750">
              <a:buClr>
                <a:schemeClr val="bg1"/>
              </a:buClr>
              <a:buFont typeface="Wingdings" panose="05000000000000000000" pitchFamily="2" charset="2"/>
              <a:buChar char="q"/>
            </a:pPr>
            <a:r>
              <a:rPr lang="en-US" sz="1200" b="1" dirty="0">
                <a:solidFill>
                  <a:schemeClr val="lt1"/>
                </a:solidFill>
                <a:latin typeface="Lexend"/>
                <a:ea typeface="Lexend"/>
                <a:cs typeface="Lexend"/>
                <a:sym typeface="Lexend"/>
              </a:rPr>
              <a:t>Predictive Analytics</a:t>
            </a:r>
            <a:endParaRPr sz="1200" b="1" dirty="0">
              <a:solidFill>
                <a:schemeClr val="lt1"/>
              </a:solidFill>
              <a:latin typeface="Lexend"/>
              <a:ea typeface="Lexend"/>
              <a:cs typeface="Lexend"/>
              <a:sym typeface="Lexend"/>
            </a:endParaRPr>
          </a:p>
        </p:txBody>
      </p:sp>
      <p:sp>
        <p:nvSpPr>
          <p:cNvPr id="320" name="Google Shape;320;p20"/>
          <p:cNvSpPr txBox="1"/>
          <p:nvPr/>
        </p:nvSpPr>
        <p:spPr>
          <a:xfrm>
            <a:off x="6774102" y="3097966"/>
            <a:ext cx="2224724" cy="1962764"/>
          </a:xfrm>
          <a:prstGeom prst="rect">
            <a:avLst/>
          </a:prstGeom>
          <a:noFill/>
          <a:ln>
            <a:noFill/>
          </a:ln>
        </p:spPr>
        <p:txBody>
          <a:bodyPr spcFirstLastPara="1" wrap="square" lIns="91425" tIns="91425" rIns="91425" bIns="91425" anchor="t" anchorCtr="0">
            <a:noAutofit/>
          </a:bodyPr>
          <a:lstStyle/>
          <a:p>
            <a:r>
              <a:rPr lang="en" sz="1300" b="1" dirty="0">
                <a:solidFill>
                  <a:schemeClr val="bg1"/>
                </a:solidFill>
                <a:latin typeface="Lexend" panose="020B0604020202020204" charset="0"/>
                <a:ea typeface="Lexend"/>
                <a:cs typeface="Lexend"/>
                <a:sym typeface="Lexend"/>
              </a:rPr>
              <a:t>6. </a:t>
            </a:r>
            <a:r>
              <a:rPr lang="en" sz="1200" b="1" dirty="0">
                <a:solidFill>
                  <a:schemeClr val="bg1"/>
                </a:solidFill>
                <a:latin typeface="Lexend" panose="020B0604020202020204" charset="0"/>
                <a:ea typeface="Lexend"/>
                <a:cs typeface="Lexend"/>
                <a:sym typeface="Lexend"/>
              </a:rPr>
              <a:t>Insight &amp; Recommendation: </a:t>
            </a:r>
          </a:p>
          <a:p>
            <a:pPr marL="228600" indent="-228600">
              <a:buClr>
                <a:schemeClr val="bg1"/>
              </a:buClr>
              <a:buFont typeface="Wingdings" panose="05000000000000000000" pitchFamily="2" charset="2"/>
              <a:buChar char="q"/>
            </a:pPr>
            <a:r>
              <a:rPr lang="fr-FR" sz="1200" b="1" dirty="0">
                <a:solidFill>
                  <a:schemeClr val="bg1"/>
                </a:solidFill>
                <a:latin typeface="Lexend" panose="020B0604020202020204" charset="0"/>
              </a:rPr>
              <a:t>Action </a:t>
            </a:r>
            <a:r>
              <a:rPr lang="fr-FR" sz="1200" b="1" dirty="0" err="1">
                <a:solidFill>
                  <a:schemeClr val="bg1"/>
                </a:solidFill>
                <a:latin typeface="Lexend" panose="020B0604020202020204" charset="0"/>
              </a:rPr>
              <a:t>Priority</a:t>
            </a:r>
            <a:r>
              <a:rPr lang="fr-FR" sz="1200" b="1" dirty="0">
                <a:solidFill>
                  <a:schemeClr val="bg1"/>
                </a:solidFill>
                <a:latin typeface="Lexend" panose="020B0604020202020204" charset="0"/>
              </a:rPr>
              <a:t> Matrix </a:t>
            </a:r>
          </a:p>
          <a:p>
            <a:pPr marL="228600" indent="-228600">
              <a:buClr>
                <a:schemeClr val="bg1"/>
              </a:buClr>
              <a:buFont typeface="Wingdings" panose="05000000000000000000" pitchFamily="2" charset="2"/>
              <a:buChar char="q"/>
            </a:pPr>
            <a:r>
              <a:rPr lang="en-ID" sz="1200" b="1" dirty="0">
                <a:solidFill>
                  <a:schemeClr val="bg1"/>
                </a:solidFill>
                <a:latin typeface="Lexend" panose="020B0604020202020204" charset="0"/>
              </a:rPr>
              <a:t>Prescriptive Analytics Framework</a:t>
            </a:r>
          </a:p>
          <a:p>
            <a:pPr marL="228600" indent="-228600">
              <a:buClr>
                <a:schemeClr val="bg1"/>
              </a:buClr>
              <a:buFont typeface="Wingdings" panose="05000000000000000000" pitchFamily="2" charset="2"/>
              <a:buChar char="q"/>
            </a:pPr>
            <a:r>
              <a:rPr lang="en-ID" sz="1200" b="1" dirty="0">
                <a:solidFill>
                  <a:schemeClr val="bg1"/>
                </a:solidFill>
                <a:latin typeface="Lexend" panose="020B0604020202020204" charset="0"/>
              </a:rPr>
              <a:t>5W + 1 H Operational framework</a:t>
            </a:r>
          </a:p>
          <a:p>
            <a:pPr marL="228600" indent="-228600">
              <a:buClr>
                <a:schemeClr val="bg1"/>
              </a:buClr>
              <a:buFont typeface="Wingdings" panose="05000000000000000000" pitchFamily="2" charset="2"/>
              <a:buChar char="q"/>
            </a:pPr>
            <a:r>
              <a:rPr lang="en-US" sz="1200" b="1" dirty="0">
                <a:solidFill>
                  <a:schemeClr val="bg1"/>
                </a:solidFill>
                <a:latin typeface="Lexend" panose="020B0604020202020204" charset="0"/>
              </a:rPr>
              <a:t>Success Metrics Tracking &amp; Feedback Loop</a:t>
            </a:r>
            <a:endParaRPr lang="en-ID" sz="1200" b="1" dirty="0">
              <a:solidFill>
                <a:schemeClr val="bg1"/>
              </a:solidFill>
              <a:latin typeface="Lexend"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24"/>
        <p:cNvGrpSpPr/>
        <p:nvPr/>
      </p:nvGrpSpPr>
      <p:grpSpPr>
        <a:xfrm>
          <a:off x="0" y="0"/>
          <a:ext cx="0" cy="0"/>
          <a:chOff x="0" y="0"/>
          <a:chExt cx="0" cy="0"/>
        </a:xfrm>
      </p:grpSpPr>
      <p:sp>
        <p:nvSpPr>
          <p:cNvPr id="325" name="Google Shape;325;p21"/>
          <p:cNvSpPr txBox="1">
            <a:spLocks noGrp="1"/>
          </p:cNvSpPr>
          <p:nvPr>
            <p:ph type="title"/>
          </p:nvPr>
        </p:nvSpPr>
        <p:spPr>
          <a:xfrm>
            <a:off x="236485" y="2"/>
            <a:ext cx="3180441" cy="585465"/>
          </a:xfrm>
          <a:prstGeom prst="rect">
            <a:avLst/>
          </a:prstGeom>
        </p:spPr>
        <p:txBody>
          <a:bodyPr spcFirstLastPara="1" wrap="square" lIns="91425" tIns="91425" rIns="91425" bIns="91425" anchor="t" anchorCtr="0">
            <a:noAutofit/>
          </a:bodyPr>
          <a:lstStyle/>
          <a:p>
            <a:r>
              <a:rPr lang="en" sz="2400" dirty="0"/>
              <a:t>Business Problem</a:t>
            </a:r>
            <a:endParaRPr sz="2400" dirty="0"/>
          </a:p>
        </p:txBody>
      </p:sp>
      <p:sp>
        <p:nvSpPr>
          <p:cNvPr id="6" name="TextBox 5">
            <a:extLst>
              <a:ext uri="{FF2B5EF4-FFF2-40B4-BE49-F238E27FC236}">
                <a16:creationId xmlns:a16="http://schemas.microsoft.com/office/drawing/2014/main" id="{30416492-1C00-48D7-8BDF-B2B1187E1F89}"/>
              </a:ext>
            </a:extLst>
          </p:cNvPr>
          <p:cNvSpPr txBox="1"/>
          <p:nvPr/>
        </p:nvSpPr>
        <p:spPr>
          <a:xfrm>
            <a:off x="310599" y="488734"/>
            <a:ext cx="8596919" cy="830997"/>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r>
              <a:rPr lang="en-ID" sz="1200" dirty="0">
                <a:solidFill>
                  <a:schemeClr val="bg2"/>
                </a:solidFill>
                <a:latin typeface="Verdana" panose="020B0604030504040204" pitchFamily="34" charset="0"/>
                <a:ea typeface="Verdana" panose="020B0604030504040204" pitchFamily="34" charset="0"/>
                <a:cs typeface="Times New Roman" panose="02020603050405020304" pitchFamily="18" charset="0"/>
              </a:rPr>
              <a:t>International Business Machine (IBM) Corporation attrition rate is 16.1% per year, exceeding the company’s target of ≤ 10%. The organization will reduce attrition to ≤ 10% within 12 months by implementing measurable and relevant employee retention programs, including mentoring, compensation review, and career path development, with quarterly progress evaluations.</a:t>
            </a:r>
          </a:p>
        </p:txBody>
      </p:sp>
      <p:pic>
        <p:nvPicPr>
          <p:cNvPr id="17" name="Picture 16">
            <a:extLst>
              <a:ext uri="{FF2B5EF4-FFF2-40B4-BE49-F238E27FC236}">
                <a16:creationId xmlns:a16="http://schemas.microsoft.com/office/drawing/2014/main" id="{F478C394-EDB3-4AD7-B327-C2BC808A212D}"/>
              </a:ext>
            </a:extLst>
          </p:cNvPr>
          <p:cNvPicPr>
            <a:picLocks noChangeAspect="1"/>
          </p:cNvPicPr>
          <p:nvPr/>
        </p:nvPicPr>
        <p:blipFill>
          <a:blip r:embed="rId3"/>
          <a:stretch>
            <a:fillRect/>
          </a:stretch>
        </p:blipFill>
        <p:spPr>
          <a:xfrm>
            <a:off x="310599" y="1319044"/>
            <a:ext cx="8596919" cy="37613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24"/>
        <p:cNvGrpSpPr/>
        <p:nvPr/>
      </p:nvGrpSpPr>
      <p:grpSpPr>
        <a:xfrm>
          <a:off x="0" y="0"/>
          <a:ext cx="0" cy="0"/>
          <a:chOff x="0" y="0"/>
          <a:chExt cx="0" cy="0"/>
        </a:xfrm>
      </p:grpSpPr>
      <p:sp>
        <p:nvSpPr>
          <p:cNvPr id="325" name="Google Shape;325;p21"/>
          <p:cNvSpPr txBox="1">
            <a:spLocks noGrp="1"/>
          </p:cNvSpPr>
          <p:nvPr>
            <p:ph type="title"/>
          </p:nvPr>
        </p:nvSpPr>
        <p:spPr>
          <a:xfrm>
            <a:off x="149774" y="118242"/>
            <a:ext cx="4112020" cy="465083"/>
          </a:xfrm>
          <a:prstGeom prst="rect">
            <a:avLst/>
          </a:prstGeom>
        </p:spPr>
        <p:txBody>
          <a:bodyPr spcFirstLastPara="1" wrap="square" lIns="91425" tIns="91425" rIns="91425" bIns="91425" anchor="t" anchorCtr="0">
            <a:noAutofit/>
          </a:bodyPr>
          <a:lstStyle/>
          <a:p>
            <a:r>
              <a:rPr lang="en" sz="2400" dirty="0"/>
              <a:t>KPI / Objective Analysis</a:t>
            </a:r>
            <a:endParaRPr sz="2400" dirty="0"/>
          </a:p>
        </p:txBody>
      </p:sp>
      <p:graphicFrame>
        <p:nvGraphicFramePr>
          <p:cNvPr id="5" name="Table 8">
            <a:extLst>
              <a:ext uri="{FF2B5EF4-FFF2-40B4-BE49-F238E27FC236}">
                <a16:creationId xmlns:a16="http://schemas.microsoft.com/office/drawing/2014/main" id="{EEEC5CDE-4155-4B72-845D-66A88A2744F7}"/>
              </a:ext>
            </a:extLst>
          </p:cNvPr>
          <p:cNvGraphicFramePr>
            <a:graphicFrameLocks noGrp="1"/>
          </p:cNvGraphicFramePr>
          <p:nvPr>
            <p:extLst>
              <p:ext uri="{D42A27DB-BD31-4B8C-83A1-F6EECF244321}">
                <p14:modId xmlns:p14="http://schemas.microsoft.com/office/powerpoint/2010/main" val="303129642"/>
              </p:ext>
            </p:extLst>
          </p:nvPr>
        </p:nvGraphicFramePr>
        <p:xfrm>
          <a:off x="31531" y="656242"/>
          <a:ext cx="9080939" cy="4556673"/>
        </p:xfrm>
        <a:graphic>
          <a:graphicData uri="http://schemas.openxmlformats.org/drawingml/2006/table">
            <a:tbl>
              <a:tblPr firstRow="1" bandRow="1">
                <a:tableStyleId>{3C2FFA5D-87B4-456A-9821-1D502468CF0F}</a:tableStyleId>
              </a:tblPr>
              <a:tblGrid>
                <a:gridCol w="1340215">
                  <a:extLst>
                    <a:ext uri="{9D8B030D-6E8A-4147-A177-3AD203B41FA5}">
                      <a16:colId xmlns:a16="http://schemas.microsoft.com/office/drawing/2014/main" val="409670932"/>
                    </a:ext>
                  </a:extLst>
                </a:gridCol>
                <a:gridCol w="1410868">
                  <a:extLst>
                    <a:ext uri="{9D8B030D-6E8A-4147-A177-3AD203B41FA5}">
                      <a16:colId xmlns:a16="http://schemas.microsoft.com/office/drawing/2014/main" val="1327255818"/>
                    </a:ext>
                  </a:extLst>
                </a:gridCol>
                <a:gridCol w="1718441">
                  <a:extLst>
                    <a:ext uri="{9D8B030D-6E8A-4147-A177-3AD203B41FA5}">
                      <a16:colId xmlns:a16="http://schemas.microsoft.com/office/drawing/2014/main" val="2219758758"/>
                    </a:ext>
                  </a:extLst>
                </a:gridCol>
                <a:gridCol w="4611415">
                  <a:extLst>
                    <a:ext uri="{9D8B030D-6E8A-4147-A177-3AD203B41FA5}">
                      <a16:colId xmlns:a16="http://schemas.microsoft.com/office/drawing/2014/main" val="484230043"/>
                    </a:ext>
                  </a:extLst>
                </a:gridCol>
              </a:tblGrid>
              <a:tr h="291513">
                <a:tc>
                  <a:txBody>
                    <a:bodyPr/>
                    <a:lstStyle/>
                    <a:p>
                      <a:pPr algn="ctr">
                        <a:lnSpc>
                          <a:spcPct val="107000"/>
                        </a:lnSpc>
                        <a:spcAft>
                          <a:spcPts val="800"/>
                        </a:spcAft>
                      </a:pPr>
                      <a:r>
                        <a:rPr lang="en-ID" sz="1100" b="1" u="sng" dirty="0">
                          <a:solidFill>
                            <a:srgbClr val="0000FF"/>
                          </a:solidFill>
                          <a:effectLst/>
                          <a:latin typeface="Verdana" panose="020B0604030504040204" pitchFamily="34" charset="0"/>
                          <a:ea typeface="Verdana" panose="020B0604030504040204" pitchFamily="34" charset="0"/>
                          <a:cs typeface="Times New Roman" panose="02020603050405020304" pitchFamily="18" charset="0"/>
                          <a:hlinkClick r:id="rId3" action="ppaction://hlinkfile"/>
                        </a:rPr>
                        <a:t>Indicator</a:t>
                      </a:r>
                      <a:endParaRPr lang="en-ID" sz="1100" b="1" u="sng" dirty="0">
                        <a:effectLst/>
                        <a:latin typeface="Verdana" panose="020B0604030504040204" pitchFamily="34" charset="0"/>
                        <a:ea typeface="Verdana" panose="020B0604030504040204" pitchFamily="34" charset="0"/>
                        <a:cs typeface="Times New Roman" panose="02020603050405020304" pitchFamily="18" charset="0"/>
                      </a:endParaRPr>
                    </a:p>
                  </a:txBody>
                  <a:tcPr marL="9525" marR="9525" marT="9525" marB="9525" anchor="ctr">
                    <a:solidFill>
                      <a:srgbClr val="08F84D"/>
                    </a:solidFill>
                  </a:tcPr>
                </a:tc>
                <a:tc>
                  <a:txBody>
                    <a:bodyPr/>
                    <a:lstStyle/>
                    <a:p>
                      <a:pPr algn="ctr">
                        <a:lnSpc>
                          <a:spcPct val="107000"/>
                        </a:lnSpc>
                        <a:spcAft>
                          <a:spcPts val="800"/>
                        </a:spcAft>
                      </a:pPr>
                      <a:r>
                        <a:rPr lang="en-ID" sz="1100" b="1" u="sng" dirty="0">
                          <a:solidFill>
                            <a:srgbClr val="0000FF"/>
                          </a:solidFill>
                          <a:effectLst/>
                          <a:latin typeface="Verdana" panose="020B0604030504040204" pitchFamily="34" charset="0"/>
                          <a:ea typeface="Verdana" panose="020B0604030504040204" pitchFamily="34" charset="0"/>
                          <a:cs typeface="Times New Roman" panose="02020603050405020304" pitchFamily="18" charset="0"/>
                          <a:hlinkClick r:id="rId4" action="ppaction://hlinkfile"/>
                        </a:rPr>
                        <a:t>KPI Score</a:t>
                      </a:r>
                      <a:endParaRPr lang="en-ID" sz="1100" b="1" u="sng" dirty="0">
                        <a:effectLst/>
                        <a:latin typeface="Verdana" panose="020B0604030504040204" pitchFamily="34" charset="0"/>
                        <a:ea typeface="Verdana" panose="020B0604030504040204" pitchFamily="34" charset="0"/>
                        <a:cs typeface="Times New Roman" panose="02020603050405020304" pitchFamily="18" charset="0"/>
                      </a:endParaRPr>
                    </a:p>
                  </a:txBody>
                  <a:tcPr marL="9525" marR="9525" marT="9525" marB="9525" anchor="ctr">
                    <a:solidFill>
                      <a:srgbClr val="08F84D"/>
                    </a:solidFill>
                  </a:tcPr>
                </a:tc>
                <a:tc>
                  <a:txBody>
                    <a:bodyPr/>
                    <a:lstStyle/>
                    <a:p>
                      <a:pPr algn="ctr">
                        <a:lnSpc>
                          <a:spcPct val="107000"/>
                        </a:lnSpc>
                        <a:spcAft>
                          <a:spcPts val="800"/>
                        </a:spcAft>
                      </a:pPr>
                      <a:r>
                        <a:rPr lang="en-ID" sz="1100" b="1" u="sng" dirty="0">
                          <a:solidFill>
                            <a:srgbClr val="0000FF"/>
                          </a:solidFill>
                          <a:effectLst/>
                          <a:latin typeface="Verdana" panose="020B0604030504040204" pitchFamily="34" charset="0"/>
                          <a:ea typeface="Verdana" panose="020B0604030504040204" pitchFamily="34" charset="0"/>
                          <a:cs typeface="Times New Roman" panose="02020603050405020304" pitchFamily="18" charset="0"/>
                          <a:hlinkClick r:id="rId5" action="ppaction://hlinkfile"/>
                        </a:rPr>
                        <a:t>Target</a:t>
                      </a:r>
                      <a:endParaRPr lang="en-ID" sz="1100" b="1" u="sng" dirty="0">
                        <a:effectLst/>
                        <a:latin typeface="Verdana" panose="020B0604030504040204" pitchFamily="34" charset="0"/>
                        <a:ea typeface="Verdana" panose="020B0604030504040204" pitchFamily="34" charset="0"/>
                        <a:cs typeface="Times New Roman" panose="02020603050405020304" pitchFamily="18" charset="0"/>
                      </a:endParaRPr>
                    </a:p>
                  </a:txBody>
                  <a:tcPr marL="9525" marR="9525" marT="9525" marB="9525" anchor="ctr">
                    <a:solidFill>
                      <a:srgbClr val="08F84D"/>
                    </a:solidFill>
                  </a:tcPr>
                </a:tc>
                <a:tc>
                  <a:txBody>
                    <a:bodyPr/>
                    <a:lstStyle/>
                    <a:p>
                      <a:pPr algn="ctr">
                        <a:lnSpc>
                          <a:spcPct val="107000"/>
                        </a:lnSpc>
                        <a:spcAft>
                          <a:spcPts val="800"/>
                        </a:spcAft>
                      </a:pPr>
                      <a:r>
                        <a:rPr lang="en-ID" sz="1100" b="1" u="none" dirty="0">
                          <a:solidFill>
                            <a:srgbClr val="0000FF"/>
                          </a:solidFill>
                          <a:effectLst/>
                          <a:latin typeface="Verdana" panose="020B0604030504040204" pitchFamily="34" charset="0"/>
                          <a:ea typeface="Verdana" panose="020B0604030504040204" pitchFamily="34" charset="0"/>
                          <a:cs typeface="Times New Roman" panose="02020603050405020304" pitchFamily="18" charset="0"/>
                          <a:hlinkClick r:id="rId6" action="ppaction://hlinkfile"/>
                        </a:rPr>
                        <a:t>Objective Analysis</a:t>
                      </a:r>
                      <a:endParaRPr lang="en-ID" sz="1100" b="1" u="none" dirty="0">
                        <a:effectLst/>
                        <a:latin typeface="Verdana" panose="020B0604030504040204" pitchFamily="34" charset="0"/>
                        <a:ea typeface="Verdana" panose="020B0604030504040204" pitchFamily="34" charset="0"/>
                        <a:cs typeface="Times New Roman" panose="02020603050405020304" pitchFamily="18" charset="0"/>
                      </a:endParaRPr>
                    </a:p>
                  </a:txBody>
                  <a:tcPr marL="9525" marR="9525" marT="9525" marB="9525" anchor="ctr">
                    <a:solidFill>
                      <a:srgbClr val="08F84D"/>
                    </a:solidFill>
                  </a:tcPr>
                </a:tc>
                <a:extLst>
                  <a:ext uri="{0D108BD9-81ED-4DB2-BD59-A6C34878D82A}">
                    <a16:rowId xmlns:a16="http://schemas.microsoft.com/office/drawing/2014/main" val="21502090"/>
                  </a:ext>
                </a:extLst>
              </a:tr>
              <a:tr h="886560">
                <a:tc>
                  <a:txBody>
                    <a:bodyPr/>
                    <a:lstStyle/>
                    <a:p>
                      <a:pPr algn="l">
                        <a:lnSpc>
                          <a:spcPct val="100000"/>
                        </a:lnSpc>
                        <a:spcAft>
                          <a:spcPts val="0"/>
                        </a:spcAft>
                      </a:pPr>
                      <a:r>
                        <a:rPr lang="en-ID" sz="1100" b="1" dirty="0">
                          <a:effectLst/>
                          <a:latin typeface="Verdana" panose="020B0604030504040204" pitchFamily="34" charset="0"/>
                          <a:ea typeface="Verdana" panose="020B0604030504040204" pitchFamily="34" charset="0"/>
                          <a:cs typeface="Times New Roman" panose="02020603050405020304" pitchFamily="18" charset="0"/>
                        </a:rPr>
                        <a:t>Attrition Rate</a:t>
                      </a:r>
                      <a:endParaRPr lang="en-ID"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108000" marR="108000" marT="108000" marB="108000" anchor="ctr">
                    <a:solidFill>
                      <a:srgbClr val="08F84D">
                        <a:alpha val="40000"/>
                      </a:srgbClr>
                    </a:solidFill>
                  </a:tcPr>
                </a:tc>
                <a:tc>
                  <a:txBody>
                    <a:bodyPr/>
                    <a:lstStyle/>
                    <a:p>
                      <a:pPr algn="ctr">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16.12%</a:t>
                      </a:r>
                    </a:p>
                  </a:txBody>
                  <a:tcPr marL="108000" marR="108000" marT="108000" marB="108000" anchor="ctr">
                    <a:solidFill>
                      <a:srgbClr val="08F84D">
                        <a:alpha val="40000"/>
                      </a:srgbClr>
                    </a:solidFill>
                  </a:tcPr>
                </a:tc>
                <a:tc>
                  <a:txBody>
                    <a:bodyPr/>
                    <a:lstStyle/>
                    <a:p>
                      <a:pPr algn="ctr">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&lt; 10%</a:t>
                      </a:r>
                    </a:p>
                  </a:txBody>
                  <a:tcPr marL="108000" marR="108000" marT="108000" marB="108000" anchor="ctr">
                    <a:solidFill>
                      <a:srgbClr val="08F84D">
                        <a:alpha val="40000"/>
                      </a:srgbClr>
                    </a:solidFill>
                  </a:tcPr>
                </a:tc>
                <a:tc>
                  <a:txBody>
                    <a:bodyPr/>
                    <a:lstStyle/>
                    <a:p>
                      <a:pPr algn="just">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Employee turnover is significantly above the target. HR Managers and Management need intensive retention programs, especially in departments with the highest attrition.</a:t>
                      </a:r>
                    </a:p>
                  </a:txBody>
                  <a:tcPr marL="108000" marR="108000" marT="108000" marB="108000" anchor="ctr">
                    <a:solidFill>
                      <a:srgbClr val="08F84D">
                        <a:alpha val="40000"/>
                      </a:srgbClr>
                    </a:solidFill>
                  </a:tcPr>
                </a:tc>
                <a:extLst>
                  <a:ext uri="{0D108BD9-81ED-4DB2-BD59-A6C34878D82A}">
                    <a16:rowId xmlns:a16="http://schemas.microsoft.com/office/drawing/2014/main" val="4177216033"/>
                  </a:ext>
                </a:extLst>
              </a:tr>
              <a:tr h="886560">
                <a:tc>
                  <a:txBody>
                    <a:bodyPr/>
                    <a:lstStyle/>
                    <a:p>
                      <a:pPr algn="l">
                        <a:lnSpc>
                          <a:spcPct val="100000"/>
                        </a:lnSpc>
                        <a:spcAft>
                          <a:spcPts val="0"/>
                        </a:spcAft>
                      </a:pPr>
                      <a:r>
                        <a:rPr lang="en-ID" sz="1100" b="1" dirty="0">
                          <a:effectLst/>
                          <a:latin typeface="Verdana" panose="020B0604030504040204" pitchFamily="34" charset="0"/>
                          <a:ea typeface="Verdana" panose="020B0604030504040204" pitchFamily="34" charset="0"/>
                          <a:cs typeface="Times New Roman" panose="02020603050405020304" pitchFamily="18" charset="0"/>
                        </a:rPr>
                        <a:t>Employee Lifetime Value (ELV)</a:t>
                      </a:r>
                      <a:endParaRPr lang="en-ID"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108000" marR="108000" marT="108000" marB="108000" anchor="ctr">
                    <a:solidFill>
                      <a:srgbClr val="08F84D"/>
                    </a:solidFill>
                  </a:tcPr>
                </a:tc>
                <a:tc>
                  <a:txBody>
                    <a:bodyPr/>
                    <a:lstStyle/>
                    <a:p>
                      <a:pPr marL="171450"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Stayed (No): 7.37 years</a:t>
                      </a:r>
                    </a:p>
                    <a:p>
                      <a:pPr marL="171450"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Left (Yes): 5.13 years</a:t>
                      </a:r>
                    </a:p>
                  </a:txBody>
                  <a:tcPr marL="108000" marR="108000" marT="108000" marB="108000" anchor="ctr">
                    <a:solidFill>
                      <a:srgbClr val="08F84D"/>
                    </a:solidFill>
                  </a:tcPr>
                </a:tc>
                <a:tc>
                  <a:txBody>
                    <a:bodyPr/>
                    <a:lstStyle/>
                    <a:p>
                      <a:pPr marL="171450" lvl="1"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Stayed (No): &gt; 5 years </a:t>
                      </a:r>
                    </a:p>
                    <a:p>
                      <a:pPr marL="171450" lvl="1"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Left (Yes): &lt; 2 years</a:t>
                      </a:r>
                    </a:p>
                  </a:txBody>
                  <a:tcPr marL="108000" marR="108000" marT="108000" marB="108000" anchor="ctr">
                    <a:solidFill>
                      <a:srgbClr val="08F84D"/>
                    </a:solidFill>
                  </a:tcPr>
                </a:tc>
                <a:tc>
                  <a:txBody>
                    <a:bodyPr/>
                    <a:lstStyle/>
                    <a:p>
                      <a:pPr algn="just">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Employees who stayed already meet the target (&gt; 5 years), but those who left stayed too long (5 years vs. target &lt; 2 years). HR Managers and Management need strategies to identify at-risk employees earlier.</a:t>
                      </a:r>
                    </a:p>
                  </a:txBody>
                  <a:tcPr marL="108000" marR="108000" marT="108000" marB="108000" anchor="ctr">
                    <a:solidFill>
                      <a:srgbClr val="08F84D"/>
                    </a:solidFill>
                  </a:tcPr>
                </a:tc>
                <a:extLst>
                  <a:ext uri="{0D108BD9-81ED-4DB2-BD59-A6C34878D82A}">
                    <a16:rowId xmlns:a16="http://schemas.microsoft.com/office/drawing/2014/main" val="3261208927"/>
                  </a:ext>
                </a:extLst>
              </a:tr>
              <a:tr h="718920">
                <a:tc>
                  <a:txBody>
                    <a:bodyPr/>
                    <a:lstStyle/>
                    <a:p>
                      <a:pPr algn="l">
                        <a:lnSpc>
                          <a:spcPct val="100000"/>
                        </a:lnSpc>
                        <a:spcAft>
                          <a:spcPts val="0"/>
                        </a:spcAft>
                      </a:pPr>
                      <a:r>
                        <a:rPr lang="en-ID" sz="1100" b="1" dirty="0">
                          <a:effectLst/>
                          <a:latin typeface="Verdana" panose="020B0604030504040204" pitchFamily="34" charset="0"/>
                          <a:ea typeface="Verdana" panose="020B0604030504040204" pitchFamily="34" charset="0"/>
                          <a:cs typeface="Times New Roman" panose="02020603050405020304" pitchFamily="18" charset="0"/>
                        </a:rPr>
                        <a:t>Average Commute Threshold</a:t>
                      </a:r>
                      <a:endParaRPr lang="en-ID"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108000" marR="108000" marT="108000" marB="108000" anchor="ctr">
                    <a:solidFill>
                      <a:srgbClr val="08F84D">
                        <a:alpha val="40000"/>
                      </a:srgbClr>
                    </a:solidFill>
                  </a:tcPr>
                </a:tc>
                <a:tc>
                  <a:txBody>
                    <a:bodyPr/>
                    <a:lstStyle/>
                    <a:p>
                      <a:pPr algn="ctr">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10.63 km</a:t>
                      </a:r>
                    </a:p>
                  </a:txBody>
                  <a:tcPr marL="108000" marR="108000" marT="108000" marB="108000" anchor="ctr">
                    <a:solidFill>
                      <a:srgbClr val="08F84D">
                        <a:alpha val="40000"/>
                      </a:srgbClr>
                    </a:solidFill>
                  </a:tcPr>
                </a:tc>
                <a:tc>
                  <a:txBody>
                    <a:bodyPr/>
                    <a:lstStyle/>
                    <a:p>
                      <a:pPr algn="ctr">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&lt; 15 km (ideal)</a:t>
                      </a:r>
                    </a:p>
                  </a:txBody>
                  <a:tcPr marL="108000" marR="108000" marT="108000" marB="108000" anchor="ctr">
                    <a:solidFill>
                      <a:srgbClr val="08F84D">
                        <a:alpha val="40000"/>
                      </a:srgbClr>
                    </a:solidFill>
                  </a:tcPr>
                </a:tc>
                <a:tc>
                  <a:txBody>
                    <a:bodyPr/>
                    <a:lstStyle/>
                    <a:p>
                      <a:pPr algn="just">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The average commute distance is still within acceptable limits, but monitoring is needed since long commutes can increase attrition.</a:t>
                      </a:r>
                    </a:p>
                  </a:txBody>
                  <a:tcPr marL="108000" marR="108000" marT="108000" marB="108000" anchor="ctr">
                    <a:solidFill>
                      <a:srgbClr val="08F84D">
                        <a:alpha val="40000"/>
                      </a:srgbClr>
                    </a:solidFill>
                  </a:tcPr>
                </a:tc>
                <a:extLst>
                  <a:ext uri="{0D108BD9-81ED-4DB2-BD59-A6C34878D82A}">
                    <a16:rowId xmlns:a16="http://schemas.microsoft.com/office/drawing/2014/main" val="2595971653"/>
                  </a:ext>
                </a:extLst>
              </a:tr>
              <a:tr h="886560">
                <a:tc>
                  <a:txBody>
                    <a:bodyPr/>
                    <a:lstStyle/>
                    <a:p>
                      <a:pPr algn="l">
                        <a:lnSpc>
                          <a:spcPct val="100000"/>
                        </a:lnSpc>
                        <a:spcAft>
                          <a:spcPts val="0"/>
                        </a:spcAft>
                      </a:pPr>
                      <a:r>
                        <a:rPr lang="en-ID" sz="1100" b="1" dirty="0">
                          <a:effectLst/>
                          <a:latin typeface="Verdana" panose="020B0604030504040204" pitchFamily="34" charset="0"/>
                          <a:ea typeface="Verdana" panose="020B0604030504040204" pitchFamily="34" charset="0"/>
                          <a:cs typeface="Times New Roman" panose="02020603050405020304" pitchFamily="18" charset="0"/>
                        </a:rPr>
                        <a:t>Salary Competitiveness Ratio</a:t>
                      </a:r>
                      <a:endParaRPr lang="en-ID"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108000" marR="108000" marT="108000" marB="108000" anchor="ctr">
                    <a:solidFill>
                      <a:srgbClr val="08F84D"/>
                    </a:solidFill>
                  </a:tcPr>
                </a:tc>
                <a:tc>
                  <a:txBody>
                    <a:bodyPr/>
                    <a:lstStyle/>
                    <a:p>
                      <a:pPr algn="ctr">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1.00</a:t>
                      </a:r>
                    </a:p>
                  </a:txBody>
                  <a:tcPr marL="108000" marR="108000" marT="108000" marB="108000" anchor="ctr">
                    <a:solidFill>
                      <a:srgbClr val="08F84D"/>
                    </a:solidFill>
                  </a:tcPr>
                </a:tc>
                <a:tc>
                  <a:txBody>
                    <a:bodyPr/>
                    <a:lstStyle/>
                    <a:p>
                      <a:pPr algn="ctr">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 1.0</a:t>
                      </a:r>
                    </a:p>
                  </a:txBody>
                  <a:tcPr marL="108000" marR="108000" marT="108000" marB="108000" anchor="ctr">
                    <a:solidFill>
                      <a:srgbClr val="08F84D"/>
                    </a:solidFill>
                  </a:tcPr>
                </a:tc>
                <a:tc>
                  <a:txBody>
                    <a:bodyPr/>
                    <a:lstStyle/>
                    <a:p>
                      <a:pPr algn="just">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The ratio is equal to the company average. However, further analysis by education level is needed: bachelor’s degree (S1) employees tend to be under-indexed compared to master’s/PhD (S2/S3).</a:t>
                      </a:r>
                    </a:p>
                  </a:txBody>
                  <a:tcPr marL="108000" marR="108000" marT="108000" marB="108000" anchor="ctr">
                    <a:solidFill>
                      <a:srgbClr val="08F84D"/>
                    </a:solidFill>
                  </a:tcPr>
                </a:tc>
                <a:extLst>
                  <a:ext uri="{0D108BD9-81ED-4DB2-BD59-A6C34878D82A}">
                    <a16:rowId xmlns:a16="http://schemas.microsoft.com/office/drawing/2014/main" val="2319361016"/>
                  </a:ext>
                </a:extLst>
              </a:tr>
              <a:tr h="886560">
                <a:tc>
                  <a:txBody>
                    <a:bodyPr/>
                    <a:lstStyle/>
                    <a:p>
                      <a:pPr algn="l">
                        <a:lnSpc>
                          <a:spcPct val="100000"/>
                        </a:lnSpc>
                        <a:spcAft>
                          <a:spcPts val="0"/>
                        </a:spcAft>
                      </a:pPr>
                      <a:r>
                        <a:rPr lang="en-ID" sz="1100" b="1">
                          <a:effectLst/>
                          <a:latin typeface="Verdana" panose="020B0604030504040204" pitchFamily="34" charset="0"/>
                          <a:ea typeface="Verdana" panose="020B0604030504040204" pitchFamily="34" charset="0"/>
                          <a:cs typeface="Times New Roman" panose="02020603050405020304" pitchFamily="18" charset="0"/>
                        </a:rPr>
                        <a:t>Overtime Impact Ratio</a:t>
                      </a:r>
                      <a:endParaRPr lang="en-ID" sz="1100">
                        <a:effectLst/>
                        <a:latin typeface="Verdana" panose="020B0604030504040204" pitchFamily="34" charset="0"/>
                        <a:ea typeface="Verdana" panose="020B0604030504040204" pitchFamily="34" charset="0"/>
                        <a:cs typeface="Times New Roman" panose="02020603050405020304" pitchFamily="18" charset="0"/>
                      </a:endParaRPr>
                    </a:p>
                  </a:txBody>
                  <a:tcPr marL="108000" marR="108000" marT="108000" marB="108000" anchor="ctr">
                    <a:solidFill>
                      <a:srgbClr val="08F84D">
                        <a:alpha val="40000"/>
                      </a:srgbClr>
                    </a:solidFill>
                  </a:tcPr>
                </a:tc>
                <a:tc>
                  <a:txBody>
                    <a:bodyPr/>
                    <a:lstStyle/>
                    <a:p>
                      <a:pPr algn="ctr">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2.93</a:t>
                      </a:r>
                    </a:p>
                  </a:txBody>
                  <a:tcPr marL="108000" marR="108000" marT="108000" marB="108000" anchor="ctr">
                    <a:solidFill>
                      <a:srgbClr val="08F84D">
                        <a:alpha val="40000"/>
                      </a:srgbClr>
                    </a:solidFill>
                  </a:tcPr>
                </a:tc>
                <a:tc>
                  <a:txBody>
                    <a:bodyPr/>
                    <a:lstStyle/>
                    <a:p>
                      <a:pPr algn="ctr">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&lt; 2.0</a:t>
                      </a:r>
                    </a:p>
                  </a:txBody>
                  <a:tcPr marL="108000" marR="108000" marT="108000" marB="108000" anchor="ctr">
                    <a:solidFill>
                      <a:srgbClr val="08F84D">
                        <a:alpha val="40000"/>
                      </a:srgbClr>
                    </a:solidFill>
                  </a:tcPr>
                </a:tc>
                <a:tc>
                  <a:txBody>
                    <a:bodyPr/>
                    <a:lstStyle/>
                    <a:p>
                      <a:pPr algn="just">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The risk of resignation increases almost threefold for employees working overtime. HR Managers and Management need to implement work-life balance policies and ensure fair workload distribution.</a:t>
                      </a:r>
                    </a:p>
                  </a:txBody>
                  <a:tcPr marL="108000" marR="108000" marT="108000" marB="108000" anchor="ctr">
                    <a:solidFill>
                      <a:srgbClr val="08F84D">
                        <a:alpha val="40000"/>
                      </a:srgbClr>
                    </a:solidFill>
                  </a:tcPr>
                </a:tc>
                <a:extLst>
                  <a:ext uri="{0D108BD9-81ED-4DB2-BD59-A6C34878D82A}">
                    <a16:rowId xmlns:a16="http://schemas.microsoft.com/office/drawing/2014/main" val="3446379226"/>
                  </a:ext>
                </a:extLst>
              </a:tr>
            </a:tbl>
          </a:graphicData>
        </a:graphic>
      </p:graphicFrame>
    </p:spTree>
    <p:extLst>
      <p:ext uri="{BB962C8B-B14F-4D97-AF65-F5344CB8AC3E}">
        <p14:creationId xmlns:p14="http://schemas.microsoft.com/office/powerpoint/2010/main" val="4082519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24"/>
        <p:cNvGrpSpPr/>
        <p:nvPr/>
      </p:nvGrpSpPr>
      <p:grpSpPr>
        <a:xfrm>
          <a:off x="0" y="0"/>
          <a:ext cx="0" cy="0"/>
          <a:chOff x="0" y="0"/>
          <a:chExt cx="0" cy="0"/>
        </a:xfrm>
      </p:grpSpPr>
      <p:sp>
        <p:nvSpPr>
          <p:cNvPr id="325" name="Google Shape;325;p21"/>
          <p:cNvSpPr txBox="1">
            <a:spLocks noGrp="1"/>
          </p:cNvSpPr>
          <p:nvPr>
            <p:ph type="title"/>
          </p:nvPr>
        </p:nvSpPr>
        <p:spPr>
          <a:xfrm>
            <a:off x="149774" y="118242"/>
            <a:ext cx="4112020" cy="465083"/>
          </a:xfrm>
          <a:prstGeom prst="rect">
            <a:avLst/>
          </a:prstGeom>
        </p:spPr>
        <p:txBody>
          <a:bodyPr spcFirstLastPara="1" wrap="square" lIns="91425" tIns="91425" rIns="91425" bIns="91425" anchor="t" anchorCtr="0">
            <a:noAutofit/>
          </a:bodyPr>
          <a:lstStyle/>
          <a:p>
            <a:r>
              <a:rPr lang="en" sz="2400" dirty="0"/>
              <a:t>KPI / Objective Analysis</a:t>
            </a:r>
            <a:endParaRPr sz="2400" dirty="0"/>
          </a:p>
        </p:txBody>
      </p:sp>
      <p:graphicFrame>
        <p:nvGraphicFramePr>
          <p:cNvPr id="5" name="Table 8">
            <a:extLst>
              <a:ext uri="{FF2B5EF4-FFF2-40B4-BE49-F238E27FC236}">
                <a16:creationId xmlns:a16="http://schemas.microsoft.com/office/drawing/2014/main" id="{EEEC5CDE-4155-4B72-845D-66A88A2744F7}"/>
              </a:ext>
            </a:extLst>
          </p:cNvPr>
          <p:cNvGraphicFramePr>
            <a:graphicFrameLocks noGrp="1"/>
          </p:cNvGraphicFramePr>
          <p:nvPr>
            <p:extLst>
              <p:ext uri="{D42A27DB-BD31-4B8C-83A1-F6EECF244321}">
                <p14:modId xmlns:p14="http://schemas.microsoft.com/office/powerpoint/2010/main" val="1803440124"/>
              </p:ext>
            </p:extLst>
          </p:nvPr>
        </p:nvGraphicFramePr>
        <p:xfrm>
          <a:off x="31531" y="656242"/>
          <a:ext cx="9080939" cy="3192393"/>
        </p:xfrm>
        <a:graphic>
          <a:graphicData uri="http://schemas.openxmlformats.org/drawingml/2006/table">
            <a:tbl>
              <a:tblPr firstRow="1" bandRow="1">
                <a:tableStyleId>{3C2FFA5D-87B4-456A-9821-1D502468CF0F}</a:tableStyleId>
              </a:tblPr>
              <a:tblGrid>
                <a:gridCol w="1340215">
                  <a:extLst>
                    <a:ext uri="{9D8B030D-6E8A-4147-A177-3AD203B41FA5}">
                      <a16:colId xmlns:a16="http://schemas.microsoft.com/office/drawing/2014/main" val="409670932"/>
                    </a:ext>
                  </a:extLst>
                </a:gridCol>
                <a:gridCol w="1410868">
                  <a:extLst>
                    <a:ext uri="{9D8B030D-6E8A-4147-A177-3AD203B41FA5}">
                      <a16:colId xmlns:a16="http://schemas.microsoft.com/office/drawing/2014/main" val="1327255818"/>
                    </a:ext>
                  </a:extLst>
                </a:gridCol>
                <a:gridCol w="1718441">
                  <a:extLst>
                    <a:ext uri="{9D8B030D-6E8A-4147-A177-3AD203B41FA5}">
                      <a16:colId xmlns:a16="http://schemas.microsoft.com/office/drawing/2014/main" val="2219758758"/>
                    </a:ext>
                  </a:extLst>
                </a:gridCol>
                <a:gridCol w="4611415">
                  <a:extLst>
                    <a:ext uri="{9D8B030D-6E8A-4147-A177-3AD203B41FA5}">
                      <a16:colId xmlns:a16="http://schemas.microsoft.com/office/drawing/2014/main" val="484230043"/>
                    </a:ext>
                  </a:extLst>
                </a:gridCol>
              </a:tblGrid>
              <a:tr h="291513">
                <a:tc>
                  <a:txBody>
                    <a:bodyPr/>
                    <a:lstStyle/>
                    <a:p>
                      <a:pPr algn="ctr">
                        <a:lnSpc>
                          <a:spcPct val="107000"/>
                        </a:lnSpc>
                        <a:spcAft>
                          <a:spcPts val="800"/>
                        </a:spcAft>
                      </a:pPr>
                      <a:r>
                        <a:rPr lang="en-ID" sz="1100" b="1" u="sng" dirty="0">
                          <a:solidFill>
                            <a:srgbClr val="0000FF"/>
                          </a:solidFill>
                          <a:effectLst/>
                          <a:latin typeface="Verdana" panose="020B0604030504040204" pitchFamily="34" charset="0"/>
                          <a:ea typeface="Verdana" panose="020B0604030504040204" pitchFamily="34" charset="0"/>
                          <a:cs typeface="Times New Roman" panose="02020603050405020304" pitchFamily="18" charset="0"/>
                          <a:hlinkClick r:id="rId3" action="ppaction://hlinkfile"/>
                        </a:rPr>
                        <a:t>Indicator</a:t>
                      </a:r>
                      <a:endParaRPr lang="en-ID" sz="1100" b="1" u="sng" dirty="0">
                        <a:effectLst/>
                        <a:latin typeface="Verdana" panose="020B0604030504040204" pitchFamily="34" charset="0"/>
                        <a:ea typeface="Verdana" panose="020B0604030504040204" pitchFamily="34" charset="0"/>
                        <a:cs typeface="Times New Roman" panose="02020603050405020304" pitchFamily="18" charset="0"/>
                      </a:endParaRPr>
                    </a:p>
                  </a:txBody>
                  <a:tcPr marL="9525" marR="9525" marT="9525" marB="9525" anchor="ctr">
                    <a:solidFill>
                      <a:srgbClr val="08F84D"/>
                    </a:solidFill>
                  </a:tcPr>
                </a:tc>
                <a:tc>
                  <a:txBody>
                    <a:bodyPr/>
                    <a:lstStyle/>
                    <a:p>
                      <a:pPr marL="171450" indent="-171450" algn="ctr">
                        <a:lnSpc>
                          <a:spcPct val="107000"/>
                        </a:lnSpc>
                        <a:spcAft>
                          <a:spcPts val="800"/>
                        </a:spcAft>
                        <a:buFont typeface="Wingdings" panose="05000000000000000000" pitchFamily="2" charset="2"/>
                        <a:buChar char="q"/>
                      </a:pPr>
                      <a:r>
                        <a:rPr lang="en-ID" sz="1100" b="1" u="sng" dirty="0">
                          <a:solidFill>
                            <a:srgbClr val="0000FF"/>
                          </a:solidFill>
                          <a:effectLst/>
                          <a:latin typeface="Verdana" panose="020B0604030504040204" pitchFamily="34" charset="0"/>
                          <a:ea typeface="Verdana" panose="020B0604030504040204" pitchFamily="34" charset="0"/>
                          <a:cs typeface="Times New Roman" panose="02020603050405020304" pitchFamily="18" charset="0"/>
                          <a:hlinkClick r:id="rId4" action="ppaction://hlinkfile"/>
                        </a:rPr>
                        <a:t>KPI Score</a:t>
                      </a:r>
                      <a:endParaRPr lang="en-ID" sz="1100" b="1" u="sng" dirty="0">
                        <a:effectLst/>
                        <a:latin typeface="Verdana" panose="020B0604030504040204" pitchFamily="34" charset="0"/>
                        <a:ea typeface="Verdana" panose="020B0604030504040204" pitchFamily="34" charset="0"/>
                        <a:cs typeface="Times New Roman" panose="02020603050405020304" pitchFamily="18" charset="0"/>
                      </a:endParaRPr>
                    </a:p>
                  </a:txBody>
                  <a:tcPr marL="9525" marR="9525" marT="9525" marB="9525" anchor="ctr">
                    <a:solidFill>
                      <a:srgbClr val="08F84D"/>
                    </a:solidFill>
                  </a:tcPr>
                </a:tc>
                <a:tc>
                  <a:txBody>
                    <a:bodyPr/>
                    <a:lstStyle/>
                    <a:p>
                      <a:pPr algn="ctr">
                        <a:lnSpc>
                          <a:spcPct val="107000"/>
                        </a:lnSpc>
                        <a:spcAft>
                          <a:spcPts val="800"/>
                        </a:spcAft>
                      </a:pPr>
                      <a:r>
                        <a:rPr lang="en-ID" sz="1100" b="1" u="sng" dirty="0">
                          <a:solidFill>
                            <a:srgbClr val="0000FF"/>
                          </a:solidFill>
                          <a:effectLst/>
                          <a:latin typeface="Verdana" panose="020B0604030504040204" pitchFamily="34" charset="0"/>
                          <a:ea typeface="Verdana" panose="020B0604030504040204" pitchFamily="34" charset="0"/>
                          <a:cs typeface="Times New Roman" panose="02020603050405020304" pitchFamily="18" charset="0"/>
                          <a:hlinkClick r:id="rId5" action="ppaction://hlinkfile"/>
                        </a:rPr>
                        <a:t>Target</a:t>
                      </a:r>
                      <a:endParaRPr lang="en-ID" sz="1100" b="1" u="sng" dirty="0">
                        <a:effectLst/>
                        <a:latin typeface="Verdana" panose="020B0604030504040204" pitchFamily="34" charset="0"/>
                        <a:ea typeface="Verdana" panose="020B0604030504040204" pitchFamily="34" charset="0"/>
                        <a:cs typeface="Times New Roman" panose="02020603050405020304" pitchFamily="18" charset="0"/>
                      </a:endParaRPr>
                    </a:p>
                  </a:txBody>
                  <a:tcPr marL="9525" marR="9525" marT="9525" marB="9525" anchor="ctr">
                    <a:solidFill>
                      <a:srgbClr val="08F84D"/>
                    </a:solidFill>
                  </a:tcPr>
                </a:tc>
                <a:tc>
                  <a:txBody>
                    <a:bodyPr/>
                    <a:lstStyle/>
                    <a:p>
                      <a:pPr algn="ctr">
                        <a:lnSpc>
                          <a:spcPct val="107000"/>
                        </a:lnSpc>
                        <a:spcAft>
                          <a:spcPts val="800"/>
                        </a:spcAft>
                      </a:pPr>
                      <a:r>
                        <a:rPr lang="en-ID" sz="1100" b="1" u="none" dirty="0">
                          <a:solidFill>
                            <a:srgbClr val="0000FF"/>
                          </a:solidFill>
                          <a:effectLst/>
                          <a:latin typeface="Verdana" panose="020B0604030504040204" pitchFamily="34" charset="0"/>
                          <a:ea typeface="Verdana" panose="020B0604030504040204" pitchFamily="34" charset="0"/>
                          <a:cs typeface="Times New Roman" panose="02020603050405020304" pitchFamily="18" charset="0"/>
                          <a:hlinkClick r:id="rId6" action="ppaction://hlinkfile"/>
                        </a:rPr>
                        <a:t>Objective Analysis</a:t>
                      </a:r>
                      <a:endParaRPr lang="en-ID" sz="1100" b="1" u="none" dirty="0">
                        <a:effectLst/>
                        <a:latin typeface="Verdana" panose="020B0604030504040204" pitchFamily="34" charset="0"/>
                        <a:ea typeface="Verdana" panose="020B0604030504040204" pitchFamily="34" charset="0"/>
                        <a:cs typeface="Times New Roman" panose="02020603050405020304" pitchFamily="18" charset="0"/>
                      </a:endParaRPr>
                    </a:p>
                  </a:txBody>
                  <a:tcPr marL="9525" marR="9525" marT="9525" marB="9525" anchor="ctr">
                    <a:solidFill>
                      <a:srgbClr val="08F84D"/>
                    </a:solidFill>
                  </a:tcPr>
                </a:tc>
                <a:extLst>
                  <a:ext uri="{0D108BD9-81ED-4DB2-BD59-A6C34878D82A}">
                    <a16:rowId xmlns:a16="http://schemas.microsoft.com/office/drawing/2014/main" val="21502090"/>
                  </a:ext>
                </a:extLst>
              </a:tr>
              <a:tr h="1679040">
                <a:tc>
                  <a:txBody>
                    <a:bodyPr/>
                    <a:lstStyle/>
                    <a:p>
                      <a:pPr algn="l">
                        <a:lnSpc>
                          <a:spcPct val="100000"/>
                        </a:lnSpc>
                        <a:spcAft>
                          <a:spcPts val="0"/>
                        </a:spcAft>
                      </a:pPr>
                      <a:r>
                        <a:rPr lang="en-ID" sz="1100" b="1" dirty="0">
                          <a:effectLst/>
                          <a:latin typeface="Verdana" panose="020B0604030504040204" pitchFamily="34" charset="0"/>
                          <a:ea typeface="Verdana" panose="020B0604030504040204" pitchFamily="34" charset="0"/>
                          <a:cs typeface="Times New Roman" panose="02020603050405020304" pitchFamily="18" charset="0"/>
                        </a:rPr>
                        <a:t>Average Tenure in Role (Promotion Lag)</a:t>
                      </a:r>
                      <a:endParaRPr lang="en-ID"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108000" marR="108000" marT="108000" marB="108000" anchor="ctr">
                    <a:solidFill>
                      <a:srgbClr val="08F84D"/>
                    </a:solidFill>
                  </a:tcPr>
                </a:tc>
                <a:tc>
                  <a:txBody>
                    <a:bodyPr/>
                    <a:lstStyle/>
                    <a:p>
                      <a:pPr marL="171450"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Average tenure in current role: 4.23 years </a:t>
                      </a:r>
                    </a:p>
                    <a:p>
                      <a:pPr marL="171450"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Average years since last promotion: 2.19 years</a:t>
                      </a:r>
                    </a:p>
                  </a:txBody>
                  <a:tcPr marL="108000" marR="108000" marT="108000" marB="108000" anchor="ctr">
                    <a:solidFill>
                      <a:srgbClr val="08F84D"/>
                    </a:solidFill>
                  </a:tcPr>
                </a:tc>
                <a:tc>
                  <a:txBody>
                    <a:bodyPr/>
                    <a:lstStyle/>
                    <a:p>
                      <a:pPr marL="171450"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Current role: &lt; 3 years </a:t>
                      </a:r>
                    </a:p>
                    <a:p>
                      <a:pPr marL="171450"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Promotion: ≤ 2 years</a:t>
                      </a:r>
                    </a:p>
                  </a:txBody>
                  <a:tcPr marL="108000" marR="108000" marT="108000" marB="108000" anchor="ctr">
                    <a:solidFill>
                      <a:srgbClr val="08F84D"/>
                    </a:solidFill>
                  </a:tcPr>
                </a:tc>
                <a:tc>
                  <a:txBody>
                    <a:bodyPr/>
                    <a:lstStyle/>
                    <a:p>
                      <a:pPr algn="just">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Employees remain too long in the same role. Delayed promotions can reduce motivation. HR Managers and Management need clearer career paths.</a:t>
                      </a:r>
                    </a:p>
                  </a:txBody>
                  <a:tcPr marL="108000" marR="108000" marT="108000" marB="108000" anchor="ctr">
                    <a:solidFill>
                      <a:srgbClr val="08F84D"/>
                    </a:solidFill>
                  </a:tcPr>
                </a:tc>
                <a:extLst>
                  <a:ext uri="{0D108BD9-81ED-4DB2-BD59-A6C34878D82A}">
                    <a16:rowId xmlns:a16="http://schemas.microsoft.com/office/drawing/2014/main" val="1721621218"/>
                  </a:ext>
                </a:extLst>
              </a:tr>
              <a:tr h="1221840">
                <a:tc>
                  <a:txBody>
                    <a:bodyPr/>
                    <a:lstStyle/>
                    <a:p>
                      <a:pPr algn="l">
                        <a:lnSpc>
                          <a:spcPct val="100000"/>
                        </a:lnSpc>
                        <a:spcAft>
                          <a:spcPts val="0"/>
                        </a:spcAft>
                      </a:pPr>
                      <a:r>
                        <a:rPr lang="en-ID" sz="1100" b="1" dirty="0">
                          <a:effectLst/>
                          <a:latin typeface="Verdana" panose="020B0604030504040204" pitchFamily="34" charset="0"/>
                          <a:ea typeface="Verdana" panose="020B0604030504040204" pitchFamily="34" charset="0"/>
                          <a:cs typeface="Times New Roman" panose="02020603050405020304" pitchFamily="18" charset="0"/>
                        </a:rPr>
                        <a:t>Income to Job Level Ratio</a:t>
                      </a:r>
                      <a:endParaRPr lang="en-ID"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108000" marR="108000" marT="108000" marB="108000" anchor="ctr">
                    <a:solidFill>
                      <a:srgbClr val="08F84D">
                        <a:alpha val="40000"/>
                      </a:srgbClr>
                    </a:solidFill>
                  </a:tcPr>
                </a:tc>
                <a:tc>
                  <a:txBody>
                    <a:bodyPr/>
                    <a:lstStyle/>
                    <a:p>
                      <a:pPr marL="171450"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HR = $2.7 – $3.8</a:t>
                      </a:r>
                    </a:p>
                    <a:p>
                      <a:pPr marL="171450"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R&amp;D: $2.8 – $3.8 </a:t>
                      </a:r>
                    </a:p>
                    <a:p>
                      <a:pPr marL="171450" indent="-171450" algn="just">
                        <a:lnSpc>
                          <a:spcPct val="100000"/>
                        </a:lnSpc>
                        <a:spcAft>
                          <a:spcPts val="0"/>
                        </a:spcAft>
                        <a:buFont typeface="Wingdings" panose="05000000000000000000" pitchFamily="2" charset="2"/>
                        <a:buChar char="q"/>
                      </a:pPr>
                      <a:r>
                        <a:rPr lang="en-ID" sz="1100" dirty="0">
                          <a:effectLst/>
                          <a:latin typeface="Verdana" panose="020B0604030504040204" pitchFamily="34" charset="0"/>
                          <a:ea typeface="Verdana" panose="020B0604030504040204" pitchFamily="34" charset="0"/>
                          <a:cs typeface="Times New Roman" panose="02020603050405020304" pitchFamily="18" charset="0"/>
                        </a:rPr>
                        <a:t>Sales: $2.5 – $3.8</a:t>
                      </a:r>
                    </a:p>
                  </a:txBody>
                  <a:tcPr marL="108000" marR="108000" marT="108000" marB="108000" anchor="ctr">
                    <a:solidFill>
                      <a:srgbClr val="08F84D">
                        <a:alpha val="40000"/>
                      </a:srgbClr>
                    </a:solidFill>
                  </a:tcPr>
                </a:tc>
                <a:tc>
                  <a:txBody>
                    <a:bodyPr/>
                    <a:lstStyle/>
                    <a:p>
                      <a:pPr algn="ctr">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Ideal ratio: ≥ 1.0</a:t>
                      </a:r>
                    </a:p>
                  </a:txBody>
                  <a:tcPr marL="108000" marR="108000" marT="108000" marB="108000" anchor="ctr">
                    <a:solidFill>
                      <a:srgbClr val="08F84D">
                        <a:alpha val="40000"/>
                      </a:srgbClr>
                    </a:solidFill>
                  </a:tcPr>
                </a:tc>
                <a:tc>
                  <a:txBody>
                    <a:bodyPr/>
                    <a:lstStyle/>
                    <a:p>
                      <a:pPr algn="just">
                        <a:lnSpc>
                          <a:spcPct val="100000"/>
                        </a:lnSpc>
                        <a:spcAft>
                          <a:spcPts val="0"/>
                        </a:spcAft>
                      </a:pPr>
                      <a:r>
                        <a:rPr lang="en-ID" sz="1100" dirty="0">
                          <a:effectLst/>
                          <a:latin typeface="Verdana" panose="020B0604030504040204" pitchFamily="34" charset="0"/>
                          <a:ea typeface="Verdana" panose="020B0604030504040204" pitchFamily="34" charset="0"/>
                          <a:cs typeface="Times New Roman" panose="02020603050405020304" pitchFamily="18" charset="0"/>
                        </a:rPr>
                        <a:t>Analysis is needed to ensure compensation aligns with job level. If the ratio is &lt; 1.0, it indicates a gap between salary and job level.</a:t>
                      </a:r>
                    </a:p>
                  </a:txBody>
                  <a:tcPr marL="108000" marR="108000" marT="108000" marB="108000" anchor="ctr">
                    <a:solidFill>
                      <a:srgbClr val="08F84D">
                        <a:alpha val="40000"/>
                      </a:srgbClr>
                    </a:solidFill>
                  </a:tcPr>
                </a:tc>
                <a:extLst>
                  <a:ext uri="{0D108BD9-81ED-4DB2-BD59-A6C34878D82A}">
                    <a16:rowId xmlns:a16="http://schemas.microsoft.com/office/drawing/2014/main" val="2543938420"/>
                  </a:ext>
                </a:extLst>
              </a:tr>
            </a:tbl>
          </a:graphicData>
        </a:graphic>
      </p:graphicFrame>
    </p:spTree>
    <p:extLst>
      <p:ext uri="{BB962C8B-B14F-4D97-AF65-F5344CB8AC3E}">
        <p14:creationId xmlns:p14="http://schemas.microsoft.com/office/powerpoint/2010/main" val="288981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24"/>
        <p:cNvGrpSpPr/>
        <p:nvPr/>
      </p:nvGrpSpPr>
      <p:grpSpPr>
        <a:xfrm>
          <a:off x="0" y="0"/>
          <a:ext cx="0" cy="0"/>
          <a:chOff x="0" y="0"/>
          <a:chExt cx="0" cy="0"/>
        </a:xfrm>
      </p:grpSpPr>
      <p:sp>
        <p:nvSpPr>
          <p:cNvPr id="325" name="Google Shape;325;p21"/>
          <p:cNvSpPr txBox="1">
            <a:spLocks noGrp="1"/>
          </p:cNvSpPr>
          <p:nvPr>
            <p:ph type="title"/>
          </p:nvPr>
        </p:nvSpPr>
        <p:spPr>
          <a:xfrm>
            <a:off x="181304" y="132980"/>
            <a:ext cx="4616517" cy="505524"/>
          </a:xfrm>
          <a:prstGeom prst="rect">
            <a:avLst/>
          </a:prstGeom>
        </p:spPr>
        <p:txBody>
          <a:bodyPr spcFirstLastPara="1" wrap="square" lIns="91425" tIns="91425" rIns="91425" bIns="91425" anchor="t" anchorCtr="0">
            <a:noAutofit/>
          </a:bodyPr>
          <a:lstStyle/>
          <a:p>
            <a:r>
              <a:rPr lang="en" sz="2400" dirty="0"/>
              <a:t>KPI / Objective Analysis</a:t>
            </a:r>
            <a:endParaRPr sz="2400" dirty="0"/>
          </a:p>
        </p:txBody>
      </p:sp>
      <p:pic>
        <p:nvPicPr>
          <p:cNvPr id="1030" name="Picture 6">
            <a:extLst>
              <a:ext uri="{FF2B5EF4-FFF2-40B4-BE49-F238E27FC236}">
                <a16:creationId xmlns:a16="http://schemas.microsoft.com/office/drawing/2014/main" id="{A1141793-B54E-43C6-B4E7-0EDCAF8BF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304" y="701567"/>
            <a:ext cx="7672819" cy="3807372"/>
          </a:xfrm>
          <a:prstGeom prst="rect">
            <a:avLst/>
          </a:prstGeom>
          <a:noFill/>
          <a:extLst>
            <a:ext uri="{909E8E84-426E-40DD-AFC4-6F175D3DCCD1}">
              <a14:hiddenFill xmlns:a14="http://schemas.microsoft.com/office/drawing/2010/main">
                <a:solidFill>
                  <a:srgbClr val="FFFFFF"/>
                </a:solidFill>
              </a14:hiddenFill>
            </a:ext>
          </a:extLst>
        </p:spPr>
      </p:pic>
      <p:sp>
        <p:nvSpPr>
          <p:cNvPr id="15" name="Arrow: Right 14">
            <a:extLst>
              <a:ext uri="{FF2B5EF4-FFF2-40B4-BE49-F238E27FC236}">
                <a16:creationId xmlns:a16="http://schemas.microsoft.com/office/drawing/2014/main" id="{F73557AC-AE99-4DAA-ABE6-9A3A9DD68232}"/>
              </a:ext>
            </a:extLst>
          </p:cNvPr>
          <p:cNvSpPr/>
          <p:nvPr/>
        </p:nvSpPr>
        <p:spPr>
          <a:xfrm>
            <a:off x="7110249" y="4441936"/>
            <a:ext cx="1726324" cy="8552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hlinkClick r:id="rId4"/>
              </a:rPr>
              <a:t>Link </a:t>
            </a:r>
            <a:r>
              <a:rPr lang="en-US" b="1" dirty="0" err="1">
                <a:solidFill>
                  <a:schemeClr val="tx1"/>
                </a:solidFill>
                <a:hlinkClick r:id="rId4"/>
              </a:rPr>
              <a:t>Interaktif</a:t>
            </a:r>
            <a:endParaRPr lang="en-ID" b="1" dirty="0">
              <a:solidFill>
                <a:schemeClr val="tx1"/>
              </a:solidFill>
            </a:endParaRPr>
          </a:p>
        </p:txBody>
      </p:sp>
    </p:spTree>
    <p:extLst>
      <p:ext uri="{BB962C8B-B14F-4D97-AF65-F5344CB8AC3E}">
        <p14:creationId xmlns:p14="http://schemas.microsoft.com/office/powerpoint/2010/main" val="536802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24"/>
        <p:cNvGrpSpPr/>
        <p:nvPr/>
      </p:nvGrpSpPr>
      <p:grpSpPr>
        <a:xfrm>
          <a:off x="0" y="0"/>
          <a:ext cx="0" cy="0"/>
          <a:chOff x="0" y="0"/>
          <a:chExt cx="0" cy="0"/>
        </a:xfrm>
      </p:grpSpPr>
      <p:sp>
        <p:nvSpPr>
          <p:cNvPr id="325" name="Google Shape;325;p21"/>
          <p:cNvSpPr txBox="1">
            <a:spLocks noGrp="1"/>
          </p:cNvSpPr>
          <p:nvPr>
            <p:ph type="title"/>
          </p:nvPr>
        </p:nvSpPr>
        <p:spPr>
          <a:xfrm>
            <a:off x="351035" y="68805"/>
            <a:ext cx="2210863" cy="538168"/>
          </a:xfrm>
          <a:prstGeom prst="rect">
            <a:avLst/>
          </a:prstGeom>
        </p:spPr>
        <p:txBody>
          <a:bodyPr spcFirstLastPara="1" wrap="square" lIns="91425" tIns="91425" rIns="91425" bIns="91425" anchor="t" anchorCtr="0">
            <a:noAutofit/>
          </a:bodyPr>
          <a:lstStyle/>
          <a:p>
            <a:r>
              <a:rPr lang="en" sz="2400" dirty="0"/>
              <a:t>Hyphothesis</a:t>
            </a:r>
            <a:endParaRPr sz="2400" dirty="0"/>
          </a:p>
        </p:txBody>
      </p:sp>
      <p:graphicFrame>
        <p:nvGraphicFramePr>
          <p:cNvPr id="3" name="Table 3">
            <a:extLst>
              <a:ext uri="{FF2B5EF4-FFF2-40B4-BE49-F238E27FC236}">
                <a16:creationId xmlns:a16="http://schemas.microsoft.com/office/drawing/2014/main" id="{2C451570-97EB-4DC3-BC0A-2FF0E06646B2}"/>
              </a:ext>
            </a:extLst>
          </p:cNvPr>
          <p:cNvGraphicFramePr>
            <a:graphicFrameLocks noGrp="1"/>
          </p:cNvGraphicFramePr>
          <p:nvPr>
            <p:extLst>
              <p:ext uri="{D42A27DB-BD31-4B8C-83A1-F6EECF244321}">
                <p14:modId xmlns:p14="http://schemas.microsoft.com/office/powerpoint/2010/main" val="2724412987"/>
              </p:ext>
            </p:extLst>
          </p:nvPr>
        </p:nvGraphicFramePr>
        <p:xfrm>
          <a:off x="193126" y="768350"/>
          <a:ext cx="8757748" cy="4008120"/>
        </p:xfrm>
        <a:graphic>
          <a:graphicData uri="http://schemas.openxmlformats.org/drawingml/2006/table">
            <a:tbl>
              <a:tblPr firstRow="1" bandRow="1">
                <a:tableStyleId>{5C22544A-7EE6-4342-B048-85BDC9FD1C3A}</a:tableStyleId>
              </a:tblPr>
              <a:tblGrid>
                <a:gridCol w="1150883">
                  <a:extLst>
                    <a:ext uri="{9D8B030D-6E8A-4147-A177-3AD203B41FA5}">
                      <a16:colId xmlns:a16="http://schemas.microsoft.com/office/drawing/2014/main" val="765758394"/>
                    </a:ext>
                  </a:extLst>
                </a:gridCol>
                <a:gridCol w="1048407">
                  <a:extLst>
                    <a:ext uri="{9D8B030D-6E8A-4147-A177-3AD203B41FA5}">
                      <a16:colId xmlns:a16="http://schemas.microsoft.com/office/drawing/2014/main" val="1749545250"/>
                    </a:ext>
                  </a:extLst>
                </a:gridCol>
                <a:gridCol w="1284891">
                  <a:extLst>
                    <a:ext uri="{9D8B030D-6E8A-4147-A177-3AD203B41FA5}">
                      <a16:colId xmlns:a16="http://schemas.microsoft.com/office/drawing/2014/main" val="3669714250"/>
                    </a:ext>
                  </a:extLst>
                </a:gridCol>
                <a:gridCol w="2719552">
                  <a:extLst>
                    <a:ext uri="{9D8B030D-6E8A-4147-A177-3AD203B41FA5}">
                      <a16:colId xmlns:a16="http://schemas.microsoft.com/office/drawing/2014/main" val="1171199932"/>
                    </a:ext>
                  </a:extLst>
                </a:gridCol>
                <a:gridCol w="2554015">
                  <a:extLst>
                    <a:ext uri="{9D8B030D-6E8A-4147-A177-3AD203B41FA5}">
                      <a16:colId xmlns:a16="http://schemas.microsoft.com/office/drawing/2014/main" val="1311822204"/>
                    </a:ext>
                  </a:extLst>
                </a:gridCol>
              </a:tblGrid>
              <a:tr h="457200">
                <a:tc>
                  <a:txBody>
                    <a:bodyPr/>
                    <a:lstStyle/>
                    <a:p>
                      <a:pPr algn="ctr"/>
                      <a:r>
                        <a:rPr lang="en-US" sz="1200" b="1" dirty="0">
                          <a:solidFill>
                            <a:schemeClr val="tx1"/>
                          </a:solidFill>
                          <a:latin typeface="Verdana" panose="020B0604030504040204" pitchFamily="34" charset="0"/>
                          <a:ea typeface="Verdana" panose="020B0604030504040204" pitchFamily="34" charset="0"/>
                        </a:rPr>
                        <a:t>Problem</a:t>
                      </a:r>
                      <a:endParaRPr lang="en-ID" sz="1200" b="1"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US" sz="1200" b="1" dirty="0">
                          <a:solidFill>
                            <a:schemeClr val="tx1"/>
                          </a:solidFill>
                          <a:latin typeface="Verdana" panose="020B0604030504040204" pitchFamily="34" charset="0"/>
                          <a:ea typeface="Verdana" panose="020B0604030504040204" pitchFamily="34" charset="0"/>
                        </a:rPr>
                        <a:t>Strategic</a:t>
                      </a:r>
                      <a:endParaRPr lang="en-ID" sz="1200" b="1"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US" sz="1200" b="1" dirty="0">
                          <a:solidFill>
                            <a:schemeClr val="tx1"/>
                          </a:solidFill>
                          <a:latin typeface="Verdana" panose="020B0604030504040204" pitchFamily="34" charset="0"/>
                          <a:ea typeface="Verdana" panose="020B0604030504040204" pitchFamily="34" charset="0"/>
                        </a:rPr>
                        <a:t>Hypothesis</a:t>
                      </a:r>
                      <a:endParaRPr lang="en-ID" sz="1200" b="1"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ID" sz="1200" b="1">
                          <a:solidFill>
                            <a:schemeClr val="tx1"/>
                          </a:solidFill>
                          <a:latin typeface="Verdana" panose="020B0604030504040204" pitchFamily="34" charset="0"/>
                          <a:ea typeface="Verdana" panose="020B0604030504040204" pitchFamily="34" charset="0"/>
                        </a:rPr>
                        <a:t>Hypothesis Statement</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ID" sz="1200" b="1" dirty="0">
                          <a:solidFill>
                            <a:schemeClr val="tx1"/>
                          </a:solidFill>
                          <a:latin typeface="Verdana" panose="020B0604030504040204" pitchFamily="34" charset="0"/>
                          <a:ea typeface="Verdana" panose="020B0604030504040204" pitchFamily="34" charset="0"/>
                        </a:rPr>
                        <a:t>Testing Variables </a:t>
                      </a:r>
                    </a:p>
                    <a:p>
                      <a:pPr algn="ctr"/>
                      <a:r>
                        <a:rPr lang="en-ID" sz="1200" b="1" dirty="0">
                          <a:solidFill>
                            <a:schemeClr val="tx1"/>
                          </a:solidFill>
                          <a:latin typeface="Verdana" panose="020B0604030504040204" pitchFamily="34" charset="0"/>
                          <a:ea typeface="Verdana" panose="020B0604030504040204" pitchFamily="34" charset="0"/>
                        </a:rPr>
                        <a:t>(X ➔ Y)</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170779886"/>
                  </a:ext>
                </a:extLst>
              </a:tr>
              <a:tr h="762000">
                <a:tc rowSpan="4">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100" b="0" dirty="0">
                          <a:solidFill>
                            <a:schemeClr val="tx1"/>
                          </a:solidFill>
                          <a:latin typeface="Verdana" panose="020B0604030504040204" pitchFamily="34" charset="0"/>
                          <a:ea typeface="Verdana" panose="020B0604030504040204" pitchFamily="34" charset="0"/>
                        </a:rPr>
                        <a:t>Attrition Rate IBM 16.12% (Target ≤ 10% </a:t>
                      </a:r>
                      <a:r>
                        <a:rPr lang="en-US" sz="1100" b="0" dirty="0" err="1">
                          <a:solidFill>
                            <a:schemeClr val="tx1"/>
                          </a:solidFill>
                          <a:latin typeface="Verdana" panose="020B0604030504040204" pitchFamily="34" charset="0"/>
                          <a:ea typeface="Verdana" panose="020B0604030504040204" pitchFamily="34" charset="0"/>
                        </a:rPr>
                        <a:t>dalam</a:t>
                      </a:r>
                      <a:r>
                        <a:rPr lang="en-US" sz="1100" b="0" dirty="0">
                          <a:solidFill>
                            <a:schemeClr val="tx1"/>
                          </a:solidFill>
                          <a:latin typeface="Verdana" panose="020B0604030504040204" pitchFamily="34" charset="0"/>
                          <a:ea typeface="Verdana" panose="020B0604030504040204" pitchFamily="34" charset="0"/>
                        </a:rPr>
                        <a:t> 12 </a:t>
                      </a:r>
                      <a:r>
                        <a:rPr lang="en-US" sz="1100" b="0" dirty="0" err="1">
                          <a:solidFill>
                            <a:schemeClr val="tx1"/>
                          </a:solidFill>
                          <a:latin typeface="Verdana" panose="020B0604030504040204" pitchFamily="34" charset="0"/>
                          <a:ea typeface="Verdana" panose="020B0604030504040204" pitchFamily="34" charset="0"/>
                        </a:rPr>
                        <a:t>Bulan</a:t>
                      </a:r>
                      <a:endParaRPr lang="en-ID" sz="1100" b="0" dirty="0">
                        <a:solidFill>
                          <a:schemeClr val="tx1"/>
                        </a:solidFill>
                        <a:latin typeface="Verdana" panose="020B0604030504040204" pitchFamily="34" charset="0"/>
                        <a:ea typeface="Verdana" panose="020B0604030504040204" pitchFamily="34" charset="0"/>
                      </a:endParaRPr>
                    </a:p>
                    <a:p>
                      <a:pPr algn="just"/>
                      <a:endParaRPr lang="en-ID" sz="1100" b="0"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1100" b="0" dirty="0">
                          <a:solidFill>
                            <a:schemeClr val="tx1"/>
                          </a:solidFill>
                          <a:latin typeface="Verdana" panose="020B0604030504040204" pitchFamily="34" charset="0"/>
                          <a:ea typeface="Verdana" panose="020B0604030504040204" pitchFamily="34" charset="0"/>
                        </a:rPr>
                        <a:t>New Hire Retention </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ID" sz="1100" b="0" dirty="0">
                          <a:solidFill>
                            <a:schemeClr val="tx1"/>
                          </a:solidFill>
                          <a:latin typeface="Verdana" panose="020B0604030504040204" pitchFamily="34" charset="0"/>
                          <a:ea typeface="Verdana" panose="020B0604030504040204" pitchFamily="34" charset="0"/>
                        </a:rPr>
                        <a:t>H1: Weak Manager Relationship</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ID" sz="1100" b="1" dirty="0">
                          <a:solidFill>
                            <a:schemeClr val="tx1"/>
                          </a:solidFill>
                          <a:latin typeface="Verdana" panose="020B0604030504040204" pitchFamily="34" charset="0"/>
                          <a:ea typeface="Verdana" panose="020B0604030504040204" pitchFamily="34" charset="0"/>
                        </a:rPr>
                        <a:t>Early Attrition. </a:t>
                      </a:r>
                    </a:p>
                    <a:p>
                      <a:pPr algn="just"/>
                      <a:r>
                        <a:rPr lang="en-ID" sz="1100" b="0" i="0" u="none" strike="noStrike" cap="none" dirty="0">
                          <a:solidFill>
                            <a:schemeClr val="tx1"/>
                          </a:solidFill>
                          <a:effectLst/>
                          <a:latin typeface="Verdana" panose="020B0604030504040204" pitchFamily="34" charset="0"/>
                          <a:ea typeface="Verdana" panose="020B0604030504040204" pitchFamily="34" charset="0"/>
                          <a:cs typeface="+mn-cs"/>
                          <a:sym typeface="Arial"/>
                        </a:rPr>
                        <a:t>A short working relationship with the direct manager triggers high </a:t>
                      </a:r>
                      <a:r>
                        <a:rPr lang="en-ID" sz="1100" b="0" i="1" u="none" strike="noStrike" cap="none" dirty="0">
                          <a:solidFill>
                            <a:schemeClr val="tx1"/>
                          </a:solidFill>
                          <a:effectLst/>
                          <a:latin typeface="Verdana" panose="020B0604030504040204" pitchFamily="34" charset="0"/>
                          <a:ea typeface="Verdana" panose="020B0604030504040204" pitchFamily="34" charset="0"/>
                          <a:cs typeface="+mn-cs"/>
                          <a:sym typeface="Arial"/>
                        </a:rPr>
                        <a:t>early attrition</a:t>
                      </a:r>
                      <a:r>
                        <a:rPr lang="en-ID" sz="1100" b="0" i="0" u="none" strike="noStrike" cap="none" dirty="0">
                          <a:solidFill>
                            <a:schemeClr val="tx1"/>
                          </a:solidFill>
                          <a:effectLst/>
                          <a:latin typeface="Verdana" panose="020B0604030504040204" pitchFamily="34" charset="0"/>
                          <a:ea typeface="Verdana" panose="020B0604030504040204" pitchFamily="34" charset="0"/>
                          <a:cs typeface="+mn-cs"/>
                          <a:sym typeface="Arial"/>
                        </a:rPr>
                        <a:t> among new hires.</a:t>
                      </a:r>
                      <a:endParaRPr lang="en-ID" sz="1100" b="0"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marL="0" indent="0" algn="just">
                        <a:spcAft>
                          <a:spcPts val="0"/>
                        </a:spcAft>
                        <a:buFont typeface="Wingdings" panose="05000000000000000000" pitchFamily="2" charset="2"/>
                        <a:buNone/>
                      </a:pPr>
                      <a:r>
                        <a:rPr lang="en-US" sz="1100" b="0" dirty="0">
                          <a:solidFill>
                            <a:schemeClr val="tx1"/>
                          </a:solidFill>
                          <a:latin typeface="Verdana" panose="020B0604030504040204" pitchFamily="34" charset="0"/>
                          <a:ea typeface="Verdana" panose="020B0604030504040204" pitchFamily="34" charset="0"/>
                        </a:rPr>
                        <a:t>X: </a:t>
                      </a:r>
                      <a:r>
                        <a:rPr lang="en-US" sz="1100" b="0" dirty="0" err="1">
                          <a:solidFill>
                            <a:schemeClr val="tx1"/>
                          </a:solidFill>
                          <a:latin typeface="Verdana" panose="020B0604030504040204" pitchFamily="34" charset="0"/>
                          <a:ea typeface="Verdana" panose="020B0604030504040204" pitchFamily="34" charset="0"/>
                        </a:rPr>
                        <a:t>YearsWithCurrManager</a:t>
                      </a:r>
                      <a:r>
                        <a:rPr lang="en-US" sz="1100" b="0" dirty="0">
                          <a:solidFill>
                            <a:schemeClr val="tx1"/>
                          </a:solidFill>
                          <a:latin typeface="Verdana" panose="020B0604030504040204" pitchFamily="34" charset="0"/>
                          <a:ea typeface="Verdana" panose="020B0604030504040204" pitchFamily="34" charset="0"/>
                        </a:rPr>
                        <a:t> &lt; 2 years</a:t>
                      </a:r>
                    </a:p>
                    <a:p>
                      <a:pPr marL="0" indent="0" algn="just">
                        <a:spcAft>
                          <a:spcPts val="0"/>
                        </a:spcAft>
                        <a:buFont typeface="Wingdings" panose="05000000000000000000" pitchFamily="2" charset="2"/>
                        <a:buNone/>
                      </a:pPr>
                      <a:br>
                        <a:rPr lang="en-US" sz="1100" b="0" dirty="0">
                          <a:solidFill>
                            <a:schemeClr val="tx1"/>
                          </a:solidFill>
                          <a:latin typeface="Verdana" panose="020B0604030504040204" pitchFamily="34" charset="0"/>
                          <a:ea typeface="Verdana" panose="020B0604030504040204" pitchFamily="34" charset="0"/>
                        </a:rPr>
                      </a:br>
                      <a:r>
                        <a:rPr lang="en-US" sz="1100" b="0" dirty="0">
                          <a:solidFill>
                            <a:schemeClr val="tx1"/>
                          </a:solidFill>
                          <a:latin typeface="Verdana" panose="020B0604030504040204" pitchFamily="34" charset="0"/>
                          <a:ea typeface="Verdana" panose="020B0604030504040204" pitchFamily="34" charset="0"/>
                        </a:rPr>
                        <a:t>Y: </a:t>
                      </a:r>
                      <a:r>
                        <a:rPr lang="en-US" sz="1100" b="0" dirty="0" err="1">
                          <a:solidFill>
                            <a:schemeClr val="tx1"/>
                          </a:solidFill>
                          <a:latin typeface="Verdana" panose="020B0604030504040204" pitchFamily="34" charset="0"/>
                          <a:ea typeface="Verdana" panose="020B0604030504040204" pitchFamily="34" charset="0"/>
                        </a:rPr>
                        <a:t>JobInvolvement</a:t>
                      </a:r>
                      <a:r>
                        <a:rPr lang="en-US" sz="1100" b="0" dirty="0">
                          <a:solidFill>
                            <a:schemeClr val="tx1"/>
                          </a:solidFill>
                          <a:latin typeface="Verdana" panose="020B0604030504040204" pitchFamily="34" charset="0"/>
                          <a:ea typeface="Verdana" panose="020B0604030504040204" pitchFamily="34" charset="0"/>
                        </a:rPr>
                        <a:t> &amp; Attrition</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194942628"/>
                  </a:ext>
                </a:extLst>
              </a:tr>
              <a:tr h="929640">
                <a:tc vMerge="1">
                  <a:txBody>
                    <a:bodyPr/>
                    <a:lstStyle/>
                    <a:p>
                      <a:pPr algn="just"/>
                      <a:endParaRPr lang="en-ID" sz="1100" b="0" dirty="0">
                        <a:solidFill>
                          <a:schemeClr val="tx1"/>
                        </a:solidFill>
                        <a:latin typeface="Verdana" panose="020B0604030504040204" pitchFamily="34" charset="0"/>
                        <a:ea typeface="Verdana" panose="020B0604030504040204" pitchFamily="34" charset="0"/>
                      </a:endParaRPr>
                    </a:p>
                  </a:txBody>
                  <a:tcPr anchor="ctr">
                    <a:solidFill>
                      <a:srgbClr val="08F84D"/>
                    </a:solid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1100" b="0" dirty="0">
                          <a:solidFill>
                            <a:schemeClr val="tx1"/>
                          </a:solidFill>
                          <a:latin typeface="Verdana" panose="020B0604030504040204" pitchFamily="34" charset="0"/>
                          <a:ea typeface="Verdana" panose="020B0604030504040204" pitchFamily="34" charset="0"/>
                        </a:rPr>
                        <a:t>Fair Remuneration</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b="0" dirty="0">
                          <a:solidFill>
                            <a:schemeClr val="tx1"/>
                          </a:solidFill>
                          <a:latin typeface="Verdana" panose="020B0604030504040204" pitchFamily="34" charset="0"/>
                          <a:ea typeface="Verdana" panose="020B0604030504040204" pitchFamily="34" charset="0"/>
                        </a:rPr>
                        <a:t>H2: Pay Below Job Level Ratio</a:t>
                      </a:r>
                      <a:endParaRPr lang="en-ID" sz="1100" b="0"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ID" sz="1100" b="1" dirty="0">
                          <a:solidFill>
                            <a:schemeClr val="tx1"/>
                          </a:solidFill>
                          <a:latin typeface="Verdana" panose="020B0604030504040204" pitchFamily="34" charset="0"/>
                          <a:ea typeface="Verdana" panose="020B0604030504040204" pitchFamily="34" charset="0"/>
                        </a:rPr>
                        <a:t>Low Job Satisfaction. </a:t>
                      </a:r>
                    </a:p>
                    <a:p>
                      <a:pPr algn="just"/>
                      <a:r>
                        <a:rPr lang="en-US" sz="1100" b="0" dirty="0">
                          <a:solidFill>
                            <a:schemeClr val="tx1"/>
                          </a:solidFill>
                          <a:latin typeface="Verdana" panose="020B0604030504040204" pitchFamily="34" charset="0"/>
                          <a:ea typeface="Verdana" panose="020B0604030504040204" pitchFamily="34" charset="0"/>
                        </a:rPr>
                        <a:t>A pay-to-job-level ratio that falls below the department average decreases job satisfaction and drives voluntary turnover</a:t>
                      </a:r>
                      <a:endParaRPr lang="en-ID" sz="1100" b="0"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100" b="0" dirty="0">
                          <a:solidFill>
                            <a:schemeClr val="tx1"/>
                          </a:solidFill>
                          <a:latin typeface="Verdana" panose="020B0604030504040204" pitchFamily="34" charset="0"/>
                          <a:ea typeface="Verdana" panose="020B0604030504040204" pitchFamily="34" charset="0"/>
                        </a:rPr>
                        <a:t>X: </a:t>
                      </a:r>
                      <a:r>
                        <a:rPr lang="en-US" sz="1100" b="0" dirty="0" err="1">
                          <a:solidFill>
                            <a:schemeClr val="tx1"/>
                          </a:solidFill>
                          <a:latin typeface="Verdana" panose="020B0604030504040204" pitchFamily="34" charset="0"/>
                          <a:ea typeface="Verdana" panose="020B0604030504040204" pitchFamily="34" charset="0"/>
                        </a:rPr>
                        <a:t>Income_to_JobLevel_Ratio</a:t>
                      </a:r>
                      <a:endParaRPr lang="en-US" sz="1100" b="0" dirty="0">
                        <a:solidFill>
                          <a:schemeClr val="tx1"/>
                        </a:solidFill>
                        <a:latin typeface="Verdana" panose="020B0604030504040204" pitchFamily="34" charset="0"/>
                        <a:ea typeface="Verdana" panose="020B0604030504040204" pitchFamily="34" charset="0"/>
                      </a:endParaRPr>
                    </a:p>
                    <a:p>
                      <a:pPr algn="just">
                        <a:spcAft>
                          <a:spcPts val="0"/>
                        </a:spcAft>
                      </a:pPr>
                      <a:br>
                        <a:rPr lang="en-US" sz="1100" b="0" dirty="0">
                          <a:solidFill>
                            <a:schemeClr val="tx1"/>
                          </a:solidFill>
                          <a:latin typeface="Verdana" panose="020B0604030504040204" pitchFamily="34" charset="0"/>
                          <a:ea typeface="Verdana" panose="020B0604030504040204" pitchFamily="34" charset="0"/>
                        </a:rPr>
                      </a:br>
                      <a:r>
                        <a:rPr lang="en-US" sz="1100" b="0" dirty="0">
                          <a:solidFill>
                            <a:schemeClr val="tx1"/>
                          </a:solidFill>
                          <a:latin typeface="Verdana" panose="020B0604030504040204" pitchFamily="34" charset="0"/>
                          <a:ea typeface="Verdana" panose="020B0604030504040204" pitchFamily="34" charset="0"/>
                        </a:rPr>
                        <a:t>Y: </a:t>
                      </a:r>
                      <a:r>
                        <a:rPr lang="en-US" sz="1100" b="0" dirty="0" err="1">
                          <a:solidFill>
                            <a:schemeClr val="tx1"/>
                          </a:solidFill>
                          <a:latin typeface="Verdana" panose="020B0604030504040204" pitchFamily="34" charset="0"/>
                          <a:ea typeface="Verdana" panose="020B0604030504040204" pitchFamily="34" charset="0"/>
                        </a:rPr>
                        <a:t>JobSatisfaction</a:t>
                      </a:r>
                      <a:r>
                        <a:rPr lang="en-US" sz="1100" b="0" dirty="0">
                          <a:solidFill>
                            <a:schemeClr val="tx1"/>
                          </a:solidFill>
                          <a:latin typeface="Verdana" panose="020B0604030504040204" pitchFamily="34" charset="0"/>
                          <a:ea typeface="Verdana" panose="020B0604030504040204" pitchFamily="34" charset="0"/>
                        </a:rPr>
                        <a:t> &amp; Attrition</a:t>
                      </a:r>
                    </a:p>
                    <a:p>
                      <a:pPr algn="just">
                        <a:spcAft>
                          <a:spcPts val="0"/>
                        </a:spcAft>
                      </a:pPr>
                      <a:endParaRPr lang="en-ID" sz="1100" b="0"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863413674"/>
                  </a:ext>
                </a:extLst>
              </a:tr>
              <a:tr h="929640">
                <a:tc vMerge="1">
                  <a:txBody>
                    <a:bodyPr/>
                    <a:lstStyle/>
                    <a:p>
                      <a:pPr algn="just"/>
                      <a:endParaRPr lang="en-ID" sz="1100" b="0">
                        <a:solidFill>
                          <a:schemeClr val="tx1"/>
                        </a:solidFill>
                        <a:latin typeface="Verdana" panose="020B0604030504040204" pitchFamily="34" charset="0"/>
                        <a:ea typeface="Verdana" panose="020B0604030504040204" pitchFamily="34" charset="0"/>
                      </a:endParaRPr>
                    </a:p>
                  </a:txBody>
                  <a:tcPr anchor="ctr">
                    <a:solidFill>
                      <a:srgbClr val="08F84D"/>
                    </a:solid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1100" b="0" dirty="0">
                          <a:solidFill>
                            <a:schemeClr val="tx1"/>
                          </a:solidFill>
                          <a:latin typeface="Verdana" panose="020B0604030504040204" pitchFamily="34" charset="0"/>
                          <a:ea typeface="Verdana" panose="020B0604030504040204" pitchFamily="34" charset="0"/>
                        </a:rPr>
                        <a:t>Career Progression </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ID" sz="1100" b="0" dirty="0">
                          <a:solidFill>
                            <a:schemeClr val="tx1"/>
                          </a:solidFill>
                          <a:latin typeface="Verdana" panose="020B0604030504040204" pitchFamily="34" charset="0"/>
                          <a:ea typeface="Verdana" panose="020B0604030504040204" pitchFamily="34" charset="0"/>
                        </a:rPr>
                        <a:t>H3: Stagnant Promotion (Lag)</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ID" sz="1100" b="1" dirty="0">
                          <a:solidFill>
                            <a:schemeClr val="tx1"/>
                          </a:solidFill>
                          <a:latin typeface="Verdana" panose="020B0604030504040204" pitchFamily="34" charset="0"/>
                          <a:ea typeface="Verdana" panose="020B0604030504040204" pitchFamily="34" charset="0"/>
                        </a:rPr>
                        <a:t>Career Stagnation</a:t>
                      </a:r>
                    </a:p>
                    <a:p>
                      <a:pPr algn="just"/>
                      <a:r>
                        <a:rPr lang="en-US" sz="1100" b="0" dirty="0">
                          <a:solidFill>
                            <a:schemeClr val="tx1"/>
                          </a:solidFill>
                          <a:latin typeface="Verdana" panose="020B0604030504040204" pitchFamily="34" charset="0"/>
                          <a:ea typeface="Verdana" panose="020B0604030504040204" pitchFamily="34" charset="0"/>
                        </a:rPr>
                        <a:t>The longer the time elapsed since the last promotion, the higher the risk of </a:t>
                      </a:r>
                      <a:r>
                        <a:rPr lang="en-US" sz="1100" b="0" i="1" dirty="0">
                          <a:solidFill>
                            <a:schemeClr val="tx1"/>
                          </a:solidFill>
                          <a:latin typeface="Verdana" panose="020B0604030504040204" pitchFamily="34" charset="0"/>
                          <a:ea typeface="Verdana" panose="020B0604030504040204" pitchFamily="34" charset="0"/>
                        </a:rPr>
                        <a:t>attrition</a:t>
                      </a:r>
                      <a:r>
                        <a:rPr lang="en-US" sz="1100" b="0" dirty="0">
                          <a:solidFill>
                            <a:schemeClr val="tx1"/>
                          </a:solidFill>
                          <a:latin typeface="Verdana" panose="020B0604030504040204" pitchFamily="34" charset="0"/>
                          <a:ea typeface="Verdana" panose="020B0604030504040204" pitchFamily="34" charset="0"/>
                        </a:rPr>
                        <a:t> due to perceived career stagnation.</a:t>
                      </a:r>
                      <a:endParaRPr lang="en-ID" sz="1100" b="0"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100" b="0" dirty="0">
                          <a:solidFill>
                            <a:schemeClr val="tx1"/>
                          </a:solidFill>
                          <a:latin typeface="Verdana" panose="020B0604030504040204" pitchFamily="34" charset="0"/>
                          <a:ea typeface="Verdana" panose="020B0604030504040204" pitchFamily="34" charset="0"/>
                        </a:rPr>
                        <a:t>X: </a:t>
                      </a:r>
                      <a:r>
                        <a:rPr lang="en-US" sz="1100" b="0" dirty="0" err="1">
                          <a:solidFill>
                            <a:schemeClr val="tx1"/>
                          </a:solidFill>
                          <a:latin typeface="Verdana" panose="020B0604030504040204" pitchFamily="34" charset="0"/>
                          <a:ea typeface="Verdana" panose="020B0604030504040204" pitchFamily="34" charset="0"/>
                        </a:rPr>
                        <a:t>YearsSinceLastPromotion</a:t>
                      </a:r>
                      <a:endParaRPr lang="en-US" sz="1100" b="0" dirty="0">
                        <a:solidFill>
                          <a:schemeClr val="tx1"/>
                        </a:solidFill>
                        <a:latin typeface="Verdana" panose="020B0604030504040204" pitchFamily="34" charset="0"/>
                        <a:ea typeface="Verdana" panose="020B0604030504040204" pitchFamily="34" charset="0"/>
                      </a:endParaRPr>
                    </a:p>
                    <a:p>
                      <a:pPr algn="just">
                        <a:spcAft>
                          <a:spcPts val="0"/>
                        </a:spcAft>
                      </a:pPr>
                      <a:br>
                        <a:rPr lang="en-US" sz="1100" b="0" dirty="0">
                          <a:solidFill>
                            <a:schemeClr val="tx1"/>
                          </a:solidFill>
                          <a:latin typeface="Verdana" panose="020B0604030504040204" pitchFamily="34" charset="0"/>
                          <a:ea typeface="Verdana" panose="020B0604030504040204" pitchFamily="34" charset="0"/>
                        </a:rPr>
                      </a:br>
                      <a:r>
                        <a:rPr lang="en-US" sz="1100" b="0" dirty="0">
                          <a:solidFill>
                            <a:schemeClr val="tx1"/>
                          </a:solidFill>
                          <a:latin typeface="Verdana" panose="020B0604030504040204" pitchFamily="34" charset="0"/>
                          <a:ea typeface="Verdana" panose="020B0604030504040204" pitchFamily="34" charset="0"/>
                        </a:rPr>
                        <a:t>Y: </a:t>
                      </a:r>
                      <a:r>
                        <a:rPr lang="en-US" sz="1100" b="0" dirty="0" err="1">
                          <a:solidFill>
                            <a:schemeClr val="tx1"/>
                          </a:solidFill>
                          <a:latin typeface="Verdana" panose="020B0604030504040204" pitchFamily="34" charset="0"/>
                          <a:ea typeface="Verdana" panose="020B0604030504040204" pitchFamily="34" charset="0"/>
                        </a:rPr>
                        <a:t>YearsInCurrentRole</a:t>
                      </a:r>
                      <a:r>
                        <a:rPr lang="en-US" sz="1100" b="0" dirty="0">
                          <a:solidFill>
                            <a:schemeClr val="tx1"/>
                          </a:solidFill>
                          <a:latin typeface="Verdana" panose="020B0604030504040204" pitchFamily="34" charset="0"/>
                          <a:ea typeface="Verdana" panose="020B0604030504040204" pitchFamily="34" charset="0"/>
                        </a:rPr>
                        <a:t> &amp; Attrition</a:t>
                      </a:r>
                    </a:p>
                    <a:p>
                      <a:pPr algn="just">
                        <a:spcAft>
                          <a:spcPts val="0"/>
                        </a:spcAft>
                      </a:pPr>
                      <a:endParaRPr lang="en-ID" sz="1100" b="0"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971093360"/>
                  </a:ext>
                </a:extLst>
              </a:tr>
              <a:tr h="929640">
                <a:tc vMerge="1">
                  <a:txBody>
                    <a:bodyPr/>
                    <a:lstStyle/>
                    <a:p>
                      <a:pPr algn="just"/>
                      <a:endParaRPr lang="en-ID" sz="1100" b="0" dirty="0">
                        <a:solidFill>
                          <a:schemeClr val="tx1"/>
                        </a:solidFill>
                        <a:latin typeface="Verdana" panose="020B0604030504040204" pitchFamily="34" charset="0"/>
                        <a:ea typeface="Verdana" panose="020B0604030504040204" pitchFamily="34" charset="0"/>
                      </a:endParaRPr>
                    </a:p>
                  </a:txBody>
                  <a:tcPr anchor="ctr">
                    <a:solidFill>
                      <a:srgbClr val="08F84D"/>
                    </a:solidFill>
                  </a:tcPr>
                </a:tc>
                <a:tc>
                  <a:txBody>
                    <a:bodyPr/>
                    <a:lstStyle/>
                    <a:p>
                      <a:pPr algn="just"/>
                      <a:r>
                        <a:rPr lang="en-ID" sz="1100" b="0" dirty="0">
                          <a:solidFill>
                            <a:schemeClr val="tx1"/>
                          </a:solidFill>
                          <a:latin typeface="Verdana" panose="020B0604030504040204" pitchFamily="34" charset="0"/>
                          <a:ea typeface="Verdana" panose="020B0604030504040204" pitchFamily="34" charset="0"/>
                        </a:rPr>
                        <a:t>Work-life Balance</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ID" sz="1100" b="0" dirty="0">
                          <a:solidFill>
                            <a:schemeClr val="tx1"/>
                          </a:solidFill>
                          <a:latin typeface="Verdana" panose="020B0604030504040204" pitchFamily="34" charset="0"/>
                          <a:ea typeface="Verdana" panose="020B0604030504040204" pitchFamily="34" charset="0"/>
                        </a:rPr>
                        <a:t>H4: Overtime + Long Commute</a:t>
                      </a: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ID" sz="1100" b="1" dirty="0">
                          <a:solidFill>
                            <a:schemeClr val="tx1"/>
                          </a:solidFill>
                          <a:latin typeface="Verdana" panose="020B0604030504040204" pitchFamily="34" charset="0"/>
                          <a:ea typeface="Verdana" panose="020B0604030504040204" pitchFamily="34" charset="0"/>
                        </a:rPr>
                        <a:t>Acute Burnout.</a:t>
                      </a:r>
                    </a:p>
                    <a:p>
                      <a:pPr algn="just"/>
                      <a:r>
                        <a:rPr lang="en-US" sz="1100" b="0" dirty="0">
                          <a:solidFill>
                            <a:schemeClr val="tx1"/>
                          </a:solidFill>
                          <a:latin typeface="Verdana" panose="020B0604030504040204" pitchFamily="34" charset="0"/>
                          <a:ea typeface="Verdana" panose="020B0604030504040204" pitchFamily="34" charset="0"/>
                        </a:rPr>
                        <a:t>he combination of mandatory overtime and a long commute (&gt; 10.63 km) creates a compounding </a:t>
                      </a:r>
                      <a:r>
                        <a:rPr lang="en-US" sz="1100" b="0" i="1" dirty="0">
                          <a:solidFill>
                            <a:schemeClr val="tx1"/>
                          </a:solidFill>
                          <a:latin typeface="Verdana" panose="020B0604030504040204" pitchFamily="34" charset="0"/>
                          <a:ea typeface="Verdana" panose="020B0604030504040204" pitchFamily="34" charset="0"/>
                        </a:rPr>
                        <a:t>burnout</a:t>
                      </a:r>
                      <a:r>
                        <a:rPr lang="en-US" sz="1100" b="0" dirty="0">
                          <a:solidFill>
                            <a:schemeClr val="tx1"/>
                          </a:solidFill>
                          <a:latin typeface="Verdana" panose="020B0604030504040204" pitchFamily="34" charset="0"/>
                          <a:ea typeface="Verdana" panose="020B0604030504040204" pitchFamily="34" charset="0"/>
                        </a:rPr>
                        <a:t> effect.</a:t>
                      </a:r>
                      <a:endParaRPr lang="en-ID" sz="1100" b="0"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100" b="0" dirty="0">
                          <a:solidFill>
                            <a:schemeClr val="tx1"/>
                          </a:solidFill>
                          <a:latin typeface="Verdana" panose="020B0604030504040204" pitchFamily="34" charset="0"/>
                          <a:ea typeface="Verdana" panose="020B0604030504040204" pitchFamily="34" charset="0"/>
                        </a:rPr>
                        <a:t>X1: </a:t>
                      </a:r>
                      <a:r>
                        <a:rPr lang="en-US" sz="1100" b="0" dirty="0" err="1">
                          <a:solidFill>
                            <a:schemeClr val="tx1"/>
                          </a:solidFill>
                          <a:latin typeface="Verdana" panose="020B0604030504040204" pitchFamily="34" charset="0"/>
                          <a:ea typeface="Verdana" panose="020B0604030504040204" pitchFamily="34" charset="0"/>
                        </a:rPr>
                        <a:t>OverTime</a:t>
                      </a:r>
                      <a:r>
                        <a:rPr lang="en-US" sz="1100" b="0" dirty="0">
                          <a:solidFill>
                            <a:schemeClr val="tx1"/>
                          </a:solidFill>
                          <a:latin typeface="Verdana" panose="020B0604030504040204" pitchFamily="34" charset="0"/>
                          <a:ea typeface="Verdana" panose="020B0604030504040204" pitchFamily="34" charset="0"/>
                        </a:rPr>
                        <a:t> ('Yes') + </a:t>
                      </a:r>
                    </a:p>
                    <a:p>
                      <a:pPr algn="just">
                        <a:spcAft>
                          <a:spcPts val="0"/>
                        </a:spcAft>
                      </a:pPr>
                      <a:r>
                        <a:rPr lang="en-US" sz="1100" b="0" dirty="0">
                          <a:solidFill>
                            <a:schemeClr val="tx1"/>
                          </a:solidFill>
                          <a:latin typeface="Verdana" panose="020B0604030504040204" pitchFamily="34" charset="0"/>
                          <a:ea typeface="Verdana" panose="020B0604030504040204" pitchFamily="34" charset="0"/>
                        </a:rPr>
                        <a:t>X2: </a:t>
                      </a:r>
                      <a:r>
                        <a:rPr lang="en-US" sz="1100" b="0" dirty="0" err="1">
                          <a:solidFill>
                            <a:schemeClr val="tx1"/>
                          </a:solidFill>
                          <a:latin typeface="Verdana" panose="020B0604030504040204" pitchFamily="34" charset="0"/>
                          <a:ea typeface="Verdana" panose="020B0604030504040204" pitchFamily="34" charset="0"/>
                        </a:rPr>
                        <a:t>DistanceFromHome</a:t>
                      </a:r>
                      <a:endParaRPr lang="en-US" sz="1100" b="0" dirty="0">
                        <a:solidFill>
                          <a:schemeClr val="tx1"/>
                        </a:solidFill>
                        <a:latin typeface="Verdana" panose="020B0604030504040204" pitchFamily="34" charset="0"/>
                        <a:ea typeface="Verdana" panose="020B0604030504040204" pitchFamily="34" charset="0"/>
                      </a:endParaRPr>
                    </a:p>
                    <a:p>
                      <a:pPr algn="just">
                        <a:spcAft>
                          <a:spcPts val="0"/>
                        </a:spcAft>
                      </a:pPr>
                      <a:br>
                        <a:rPr lang="en-US" sz="1100" b="0" dirty="0">
                          <a:solidFill>
                            <a:schemeClr val="tx1"/>
                          </a:solidFill>
                          <a:latin typeface="Verdana" panose="020B0604030504040204" pitchFamily="34" charset="0"/>
                          <a:ea typeface="Verdana" panose="020B0604030504040204" pitchFamily="34" charset="0"/>
                        </a:rPr>
                      </a:br>
                      <a:r>
                        <a:rPr lang="en-US" sz="1100" b="0" dirty="0">
                          <a:solidFill>
                            <a:schemeClr val="tx1"/>
                          </a:solidFill>
                          <a:latin typeface="Verdana" panose="020B0604030504040204" pitchFamily="34" charset="0"/>
                          <a:ea typeface="Verdana" panose="020B0604030504040204" pitchFamily="34" charset="0"/>
                        </a:rPr>
                        <a:t>Y: </a:t>
                      </a:r>
                      <a:r>
                        <a:rPr lang="en-US" sz="1100" b="0" dirty="0" err="1">
                          <a:solidFill>
                            <a:schemeClr val="tx1"/>
                          </a:solidFill>
                          <a:latin typeface="Verdana" panose="020B0604030504040204" pitchFamily="34" charset="0"/>
                          <a:ea typeface="Verdana" panose="020B0604030504040204" pitchFamily="34" charset="0"/>
                        </a:rPr>
                        <a:t>WorkLifeBalance</a:t>
                      </a:r>
                      <a:r>
                        <a:rPr lang="en-US" sz="1100" b="0" dirty="0">
                          <a:solidFill>
                            <a:schemeClr val="tx1"/>
                          </a:solidFill>
                          <a:latin typeface="Verdana" panose="020B0604030504040204" pitchFamily="34" charset="0"/>
                          <a:ea typeface="Verdana" panose="020B0604030504040204" pitchFamily="34" charset="0"/>
                        </a:rPr>
                        <a:t> &amp; Attrition</a:t>
                      </a:r>
                    </a:p>
                    <a:p>
                      <a:pPr algn="just">
                        <a:spcAft>
                          <a:spcPts val="0"/>
                        </a:spcAft>
                      </a:pPr>
                      <a:endParaRPr lang="en-ID" sz="1100" b="0" dirty="0">
                        <a:solidFill>
                          <a:schemeClr val="tx1"/>
                        </a:solidFill>
                        <a:latin typeface="Verdana" panose="020B0604030504040204" pitchFamily="34" charset="0"/>
                        <a:ea typeface="Verdana" panose="020B0604030504040204" pitchFamily="34" charset="0"/>
                      </a:endParaRPr>
                    </a:p>
                  </a:txBody>
                  <a:tcPr anchor="ct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563332005"/>
                  </a:ext>
                </a:extLst>
              </a:tr>
            </a:tbl>
          </a:graphicData>
        </a:graphic>
      </p:graphicFrame>
    </p:spTree>
    <p:extLst>
      <p:ext uri="{BB962C8B-B14F-4D97-AF65-F5344CB8AC3E}">
        <p14:creationId xmlns:p14="http://schemas.microsoft.com/office/powerpoint/2010/main" val="1794757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181304" y="1"/>
            <a:ext cx="1868213" cy="606972"/>
          </a:xfrm>
          <a:prstGeom prst="rect">
            <a:avLst/>
          </a:prstGeom>
        </p:spPr>
        <p:txBody>
          <a:bodyPr spcFirstLastPara="1" wrap="square" lIns="91425" tIns="91425" rIns="91425" bIns="91425" anchor="t" anchorCtr="0">
            <a:noAutofit/>
          </a:bodyPr>
          <a:lstStyle/>
          <a:p>
            <a:r>
              <a:rPr lang="en" sz="3200" dirty="0"/>
              <a:t>Analysis</a:t>
            </a:r>
            <a:endParaRPr sz="3200" dirty="0"/>
          </a:p>
        </p:txBody>
      </p:sp>
      <p:pic>
        <p:nvPicPr>
          <p:cNvPr id="3074" name="Picture 2">
            <a:extLst>
              <a:ext uri="{FF2B5EF4-FFF2-40B4-BE49-F238E27FC236}">
                <a16:creationId xmlns:a16="http://schemas.microsoft.com/office/drawing/2014/main" id="{9D77F739-9067-4A66-B761-8B376B42D8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808" y="791485"/>
            <a:ext cx="2982072" cy="319719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B0771F0-B189-410F-83B9-86B0809421D5}"/>
              </a:ext>
            </a:extLst>
          </p:cNvPr>
          <p:cNvPicPr>
            <a:picLocks noChangeAspect="1"/>
          </p:cNvPicPr>
          <p:nvPr/>
        </p:nvPicPr>
        <p:blipFill>
          <a:blip r:embed="rId4"/>
          <a:stretch>
            <a:fillRect/>
          </a:stretch>
        </p:blipFill>
        <p:spPr>
          <a:xfrm>
            <a:off x="3474125" y="94407"/>
            <a:ext cx="5669876" cy="3493049"/>
          </a:xfrm>
          <a:prstGeom prst="rect">
            <a:avLst/>
          </a:prstGeom>
        </p:spPr>
      </p:pic>
      <p:sp>
        <p:nvSpPr>
          <p:cNvPr id="20" name="TextBox 19">
            <a:extLst>
              <a:ext uri="{FF2B5EF4-FFF2-40B4-BE49-F238E27FC236}">
                <a16:creationId xmlns:a16="http://schemas.microsoft.com/office/drawing/2014/main" id="{C36A21F4-2ADD-4BB4-B78A-9F1764B44E7A}"/>
              </a:ext>
            </a:extLst>
          </p:cNvPr>
          <p:cNvSpPr txBox="1"/>
          <p:nvPr/>
        </p:nvSpPr>
        <p:spPr>
          <a:xfrm>
            <a:off x="181304" y="3751329"/>
            <a:ext cx="3468411" cy="1277273"/>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r>
              <a:rPr lang="en-US" sz="1100" b="1" dirty="0">
                <a:latin typeface="Verdana" panose="020B0604030504040204" pitchFamily="34" charset="0"/>
                <a:ea typeface="Verdana" panose="020B0604030504040204" pitchFamily="34" charset="0"/>
              </a:rPr>
              <a:t>Insight Business: </a:t>
            </a:r>
          </a:p>
          <a:p>
            <a:pPr algn="just"/>
            <a:r>
              <a:rPr lang="en-US" sz="1100" dirty="0">
                <a:latin typeface="Verdana" panose="020B0604030504040204" pitchFamily="34" charset="0"/>
                <a:ea typeface="Verdana" panose="020B0604030504040204" pitchFamily="34" charset="0"/>
              </a:rPr>
              <a:t>IBM’s annual attrition rate of 16.12% is above the global benchmark of 10–12%, placing the company in a caution zone. Immediate HR interventions are required to stabilize workforce retention and align with industry standards</a:t>
            </a:r>
            <a:endParaRPr lang="en-ID" sz="1100" dirty="0">
              <a:latin typeface="Verdana" panose="020B0604030504040204" pitchFamily="34" charset="0"/>
              <a:ea typeface="Verdana" panose="020B0604030504040204" pitchFamily="34" charset="0"/>
            </a:endParaRPr>
          </a:p>
        </p:txBody>
      </p:sp>
      <p:sp>
        <p:nvSpPr>
          <p:cNvPr id="22" name="TextBox 21">
            <a:extLst>
              <a:ext uri="{FF2B5EF4-FFF2-40B4-BE49-F238E27FC236}">
                <a16:creationId xmlns:a16="http://schemas.microsoft.com/office/drawing/2014/main" id="{5F292224-774E-4C19-92F4-C17C49D133E1}"/>
              </a:ext>
            </a:extLst>
          </p:cNvPr>
          <p:cNvSpPr txBox="1"/>
          <p:nvPr/>
        </p:nvSpPr>
        <p:spPr>
          <a:xfrm>
            <a:off x="3941379" y="3588257"/>
            <a:ext cx="5115911" cy="1327671"/>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lnSpc>
                <a:spcPct val="150000"/>
              </a:lnSpc>
            </a:pPr>
            <a:r>
              <a:rPr lang="en-US" sz="1100" dirty="0">
                <a:latin typeface="Verdana" panose="020B0604030504040204" pitchFamily="34" charset="0"/>
                <a:ea typeface="Verdana" panose="020B0604030504040204" pitchFamily="34" charset="0"/>
              </a:rPr>
              <a:t>While IBM’s overall attrition rate is 16.1%, turnover is disproportionately concentrated in departments such as Sales.  Targeted retention programs in these areas are essential to stabilizing workforce performance and align with industry benchmarks</a:t>
            </a:r>
            <a:endParaRPr lang="en-ID" sz="11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15032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181304" y="189187"/>
            <a:ext cx="1868213" cy="465083"/>
          </a:xfrm>
          <a:prstGeom prst="rect">
            <a:avLst/>
          </a:prstGeom>
        </p:spPr>
        <p:txBody>
          <a:bodyPr spcFirstLastPara="1" wrap="square" lIns="91425" tIns="91425" rIns="91425" bIns="91425" anchor="t" anchorCtr="0">
            <a:noAutofit/>
          </a:bodyPr>
          <a:lstStyle/>
          <a:p>
            <a:r>
              <a:rPr lang="en" sz="3200" dirty="0"/>
              <a:t>Analysis</a:t>
            </a:r>
            <a:endParaRPr sz="3200" dirty="0"/>
          </a:p>
        </p:txBody>
      </p:sp>
      <p:pic>
        <p:nvPicPr>
          <p:cNvPr id="11" name="Picture 10">
            <a:extLst>
              <a:ext uri="{FF2B5EF4-FFF2-40B4-BE49-F238E27FC236}">
                <a16:creationId xmlns:a16="http://schemas.microsoft.com/office/drawing/2014/main" id="{3A5121E9-A594-4EC2-BD58-444F5F9C637E}"/>
              </a:ext>
            </a:extLst>
          </p:cNvPr>
          <p:cNvPicPr>
            <a:picLocks noChangeAspect="1"/>
          </p:cNvPicPr>
          <p:nvPr/>
        </p:nvPicPr>
        <p:blipFill>
          <a:blip r:embed="rId3"/>
          <a:stretch>
            <a:fillRect/>
          </a:stretch>
        </p:blipFill>
        <p:spPr>
          <a:xfrm>
            <a:off x="79522" y="859761"/>
            <a:ext cx="4311175" cy="2553476"/>
          </a:xfrm>
          <a:prstGeom prst="rect">
            <a:avLst/>
          </a:prstGeom>
        </p:spPr>
      </p:pic>
      <p:pic>
        <p:nvPicPr>
          <p:cNvPr id="2" name="Picture 1">
            <a:extLst>
              <a:ext uri="{FF2B5EF4-FFF2-40B4-BE49-F238E27FC236}">
                <a16:creationId xmlns:a16="http://schemas.microsoft.com/office/drawing/2014/main" id="{B1CC548E-6EEF-4554-8665-F91D10C02617}"/>
              </a:ext>
            </a:extLst>
          </p:cNvPr>
          <p:cNvPicPr>
            <a:picLocks noChangeAspect="1"/>
          </p:cNvPicPr>
          <p:nvPr/>
        </p:nvPicPr>
        <p:blipFill>
          <a:blip r:embed="rId4"/>
          <a:stretch>
            <a:fillRect/>
          </a:stretch>
        </p:blipFill>
        <p:spPr>
          <a:xfrm>
            <a:off x="4453762" y="746644"/>
            <a:ext cx="4587880" cy="2826463"/>
          </a:xfrm>
          <a:prstGeom prst="rect">
            <a:avLst/>
          </a:prstGeom>
        </p:spPr>
      </p:pic>
      <p:sp>
        <p:nvSpPr>
          <p:cNvPr id="8" name="TextBox 7">
            <a:extLst>
              <a:ext uri="{FF2B5EF4-FFF2-40B4-BE49-F238E27FC236}">
                <a16:creationId xmlns:a16="http://schemas.microsoft.com/office/drawing/2014/main" id="{9A284D42-E635-4A77-968B-28433BF6792C}"/>
              </a:ext>
            </a:extLst>
          </p:cNvPr>
          <p:cNvSpPr txBox="1"/>
          <p:nvPr/>
        </p:nvSpPr>
        <p:spPr>
          <a:xfrm>
            <a:off x="4667403" y="3573107"/>
            <a:ext cx="4374239" cy="1327671"/>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lnSpc>
                <a:spcPct val="150000"/>
              </a:lnSpc>
            </a:pPr>
            <a:r>
              <a:rPr lang="en-US" sz="1100" dirty="0">
                <a:latin typeface="Verdana" panose="020B0604030504040204" pitchFamily="34" charset="0"/>
                <a:ea typeface="Verdana" panose="020B0604030504040204" pitchFamily="34" charset="0"/>
              </a:rPr>
              <a:t>Interpretation: </a:t>
            </a:r>
          </a:p>
          <a:p>
            <a:pPr algn="just">
              <a:lnSpc>
                <a:spcPct val="150000"/>
              </a:lnSpc>
            </a:pPr>
            <a:r>
              <a:rPr lang="en-US" sz="1100" dirty="0">
                <a:latin typeface="Verdana" panose="020B0604030504040204" pitchFamily="34" charset="0"/>
                <a:ea typeface="Verdana" panose="020B0604030504040204" pitchFamily="34" charset="0"/>
              </a:rPr>
              <a:t>Attrition is highest among employees in their first year (34.9%) and then declines after the second year. This underscores the critical need for targeted retention strategies during the early employment phase</a:t>
            </a:r>
            <a:endParaRPr lang="en-ID" sz="11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0659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212835" y="-14540"/>
            <a:ext cx="1868213" cy="636405"/>
          </a:xfrm>
          <a:prstGeom prst="rect">
            <a:avLst/>
          </a:prstGeom>
        </p:spPr>
        <p:txBody>
          <a:bodyPr spcFirstLastPara="1" wrap="square" lIns="91425" tIns="91425" rIns="91425" bIns="91425" anchor="t" anchorCtr="0">
            <a:noAutofit/>
          </a:bodyPr>
          <a:lstStyle/>
          <a:p>
            <a:r>
              <a:rPr lang="en" sz="3200" dirty="0"/>
              <a:t>Analysis</a:t>
            </a:r>
            <a:endParaRPr sz="3200" dirty="0"/>
          </a:p>
        </p:txBody>
      </p:sp>
      <p:pic>
        <p:nvPicPr>
          <p:cNvPr id="4098" name="Picture 2">
            <a:extLst>
              <a:ext uri="{FF2B5EF4-FFF2-40B4-BE49-F238E27FC236}">
                <a16:creationId xmlns:a16="http://schemas.microsoft.com/office/drawing/2014/main" id="{63409DBA-0EB1-4F38-9EE6-A9EE899C6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6414" y="699943"/>
            <a:ext cx="4807586" cy="259743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4FF19C9-32A7-47C8-B2A0-24666F36AF53}"/>
              </a:ext>
            </a:extLst>
          </p:cNvPr>
          <p:cNvPicPr>
            <a:picLocks noChangeAspect="1"/>
          </p:cNvPicPr>
          <p:nvPr/>
        </p:nvPicPr>
        <p:blipFill>
          <a:blip r:embed="rId4"/>
          <a:stretch>
            <a:fillRect/>
          </a:stretch>
        </p:blipFill>
        <p:spPr>
          <a:xfrm>
            <a:off x="120292" y="682987"/>
            <a:ext cx="4216122" cy="2597432"/>
          </a:xfrm>
          <a:prstGeom prst="rect">
            <a:avLst/>
          </a:prstGeom>
        </p:spPr>
      </p:pic>
      <p:sp>
        <p:nvSpPr>
          <p:cNvPr id="8" name="TextBox 7">
            <a:extLst>
              <a:ext uri="{FF2B5EF4-FFF2-40B4-BE49-F238E27FC236}">
                <a16:creationId xmlns:a16="http://schemas.microsoft.com/office/drawing/2014/main" id="{33F1A6E5-30BC-4221-B00B-1FD6E32D5EEB}"/>
              </a:ext>
            </a:extLst>
          </p:cNvPr>
          <p:cNvSpPr txBox="1"/>
          <p:nvPr/>
        </p:nvSpPr>
        <p:spPr>
          <a:xfrm>
            <a:off x="0" y="3280418"/>
            <a:ext cx="5320862" cy="1785104"/>
          </a:xfrm>
          <a:prstGeom prst="rect">
            <a:avLst/>
          </a:prstGeom>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r>
              <a:rPr lang="en-ID" sz="1100" b="1" dirty="0">
                <a:latin typeface="Verdana" panose="020B0604030504040204" pitchFamily="34" charset="0"/>
                <a:ea typeface="Verdana" panose="020B0604030504040204" pitchFamily="34" charset="0"/>
              </a:rPr>
              <a:t>Interpretation: </a:t>
            </a:r>
          </a:p>
          <a:p>
            <a:pPr marL="228600" indent="-228600" algn="just">
              <a:buFont typeface="+mj-lt"/>
              <a:buAutoNum type="arabicPeriod"/>
            </a:pPr>
            <a:r>
              <a:rPr lang="en-ID" sz="1100" dirty="0">
                <a:latin typeface="Verdana" panose="020B0604030504040204" pitchFamily="34" charset="0"/>
                <a:ea typeface="Verdana" panose="020B0604030504040204" pitchFamily="34" charset="0"/>
              </a:rPr>
              <a:t>Angka </a:t>
            </a:r>
            <a:r>
              <a:rPr lang="en-ID" sz="1100" dirty="0" err="1">
                <a:latin typeface="Verdana" panose="020B0604030504040204" pitchFamily="34" charset="0"/>
                <a:ea typeface="Verdana" panose="020B0604030504040204" pitchFamily="34" charset="0"/>
              </a:rPr>
              <a:t>ini</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mengindikasikan</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adanya</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masalah</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besar</a:t>
            </a:r>
            <a:r>
              <a:rPr lang="en-ID" sz="1100" dirty="0">
                <a:latin typeface="Verdana" panose="020B0604030504040204" pitchFamily="34" charset="0"/>
                <a:ea typeface="Verdana" panose="020B0604030504040204" pitchFamily="34" charset="0"/>
              </a:rPr>
              <a:t> pada </a:t>
            </a:r>
            <a:r>
              <a:rPr lang="en-ID" sz="1100" dirty="0" err="1">
                <a:latin typeface="Verdana" panose="020B0604030504040204" pitchFamily="34" charset="0"/>
                <a:ea typeface="Verdana" panose="020B0604030504040204" pitchFamily="34" charset="0"/>
              </a:rPr>
              <a:t>fase</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awal</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pengalaman</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kerja</a:t>
            </a:r>
            <a:r>
              <a:rPr lang="en-ID" sz="1100" dirty="0">
                <a:latin typeface="Verdana" panose="020B0604030504040204" pitchFamily="34" charset="0"/>
                <a:ea typeface="Verdana" panose="020B0604030504040204" pitchFamily="34" charset="0"/>
              </a:rPr>
              <a:t> (Early Employee Experience).</a:t>
            </a:r>
          </a:p>
          <a:p>
            <a:pPr marL="228600" indent="-228600" algn="just">
              <a:buFont typeface="+mj-lt"/>
              <a:buAutoNum type="arabicPeriod"/>
            </a:pPr>
            <a:r>
              <a:rPr lang="en-ID" sz="1100" dirty="0" err="1">
                <a:latin typeface="Verdana" panose="020B0604030504040204" pitchFamily="34" charset="0"/>
                <a:ea typeface="Verdana" panose="020B0604030504040204" pitchFamily="34" charset="0"/>
              </a:rPr>
              <a:t>Karyawan</a:t>
            </a:r>
            <a:r>
              <a:rPr lang="en-ID" sz="1100" dirty="0">
                <a:latin typeface="Verdana" panose="020B0604030504040204" pitchFamily="34" charset="0"/>
                <a:ea typeface="Verdana" panose="020B0604030504040204" pitchFamily="34" charset="0"/>
              </a:rPr>
              <a:t> di </a:t>
            </a:r>
            <a:r>
              <a:rPr lang="en-ID" sz="1100" dirty="0" err="1">
                <a:latin typeface="Verdana" panose="020B0604030504040204" pitchFamily="34" charset="0"/>
                <a:ea typeface="Verdana" panose="020B0604030504040204" pitchFamily="34" charset="0"/>
              </a:rPr>
              <a:t>bawah</a:t>
            </a:r>
            <a:r>
              <a:rPr lang="en-ID" sz="1100" dirty="0">
                <a:latin typeface="Verdana" panose="020B0604030504040204" pitchFamily="34" charset="0"/>
                <a:ea typeface="Verdana" panose="020B0604030504040204" pitchFamily="34" charset="0"/>
              </a:rPr>
              <a:t> 25 </a:t>
            </a:r>
            <a:r>
              <a:rPr lang="en-ID" sz="1100" dirty="0" err="1">
                <a:latin typeface="Verdana" panose="020B0604030504040204" pitchFamily="34" charset="0"/>
                <a:ea typeface="Verdana" panose="020B0604030504040204" pitchFamily="34" charset="0"/>
              </a:rPr>
              <a:t>tahun</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biasanya</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merupakan</a:t>
            </a:r>
            <a:r>
              <a:rPr lang="en-ID" sz="1100" dirty="0">
                <a:latin typeface="Verdana" panose="020B0604030504040204" pitchFamily="34" charset="0"/>
                <a:ea typeface="Verdana" panose="020B0604030504040204" pitchFamily="34" charset="0"/>
              </a:rPr>
              <a:t> fresh graduates </a:t>
            </a:r>
            <a:r>
              <a:rPr lang="en-ID" sz="1100" dirty="0" err="1">
                <a:latin typeface="Verdana" panose="020B0604030504040204" pitchFamily="34" charset="0"/>
                <a:ea typeface="Verdana" panose="020B0604030504040204" pitchFamily="34" charset="0"/>
              </a:rPr>
              <a:t>atau</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karyawan</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tingkat</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awal</a:t>
            </a:r>
            <a:r>
              <a:rPr lang="en-ID" sz="1100" dirty="0">
                <a:latin typeface="Verdana" panose="020B0604030504040204" pitchFamily="34" charset="0"/>
                <a:ea typeface="Verdana" panose="020B0604030504040204" pitchFamily="34" charset="0"/>
              </a:rPr>
              <a:t> (entry-level). </a:t>
            </a:r>
            <a:r>
              <a:rPr lang="en-ID" sz="1100" dirty="0" err="1">
                <a:latin typeface="Verdana" panose="020B0604030504040204" pitchFamily="34" charset="0"/>
                <a:ea typeface="Verdana" panose="020B0604030504040204" pitchFamily="34" charset="0"/>
              </a:rPr>
              <a:t>Tingginya</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angka</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keluar</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ini</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umumnya</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disebabkan</a:t>
            </a:r>
            <a:r>
              <a:rPr lang="en-ID" sz="1100" dirty="0">
                <a:latin typeface="Verdana" panose="020B0604030504040204" pitchFamily="34" charset="0"/>
                <a:ea typeface="Verdana" panose="020B0604030504040204" pitchFamily="34" charset="0"/>
              </a:rPr>
              <a:t> oleh: </a:t>
            </a:r>
          </a:p>
          <a:p>
            <a:pPr marL="171450" indent="-171450" algn="just">
              <a:buFont typeface="Wingdings" panose="05000000000000000000" pitchFamily="2" charset="2"/>
              <a:buChar char="q"/>
            </a:pPr>
            <a:r>
              <a:rPr lang="en-ID" sz="1100" dirty="0">
                <a:latin typeface="Verdana" panose="020B0604030504040204" pitchFamily="34" charset="0"/>
                <a:ea typeface="Verdana" panose="020B0604030504040204" pitchFamily="34" charset="0"/>
              </a:rPr>
              <a:t>Proses </a:t>
            </a:r>
            <a:r>
              <a:rPr lang="en-ID" sz="1100" dirty="0" err="1">
                <a:latin typeface="Verdana" panose="020B0604030504040204" pitchFamily="34" charset="0"/>
                <a:ea typeface="Verdana" panose="020B0604030504040204" pitchFamily="34" charset="0"/>
              </a:rPr>
              <a:t>ekspektasi</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kerja</a:t>
            </a:r>
            <a:r>
              <a:rPr lang="en-ID" sz="1100" dirty="0">
                <a:latin typeface="Verdana" panose="020B0604030504040204" pitchFamily="34" charset="0"/>
                <a:ea typeface="Verdana" panose="020B0604030504040204" pitchFamily="34" charset="0"/>
              </a:rPr>
              <a:t> yang </a:t>
            </a:r>
            <a:r>
              <a:rPr lang="en-ID" sz="1100" dirty="0" err="1">
                <a:latin typeface="Verdana" panose="020B0604030504040204" pitchFamily="34" charset="0"/>
                <a:ea typeface="Verdana" panose="020B0604030504040204" pitchFamily="34" charset="0"/>
              </a:rPr>
              <a:t>tidak</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selaras</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saat</a:t>
            </a:r>
            <a:r>
              <a:rPr lang="en-ID" sz="1100" dirty="0">
                <a:latin typeface="Verdana" panose="020B0604030504040204" pitchFamily="34" charset="0"/>
                <a:ea typeface="Verdana" panose="020B0604030504040204" pitchFamily="34" charset="0"/>
              </a:rPr>
              <a:t> onboarding.</a:t>
            </a:r>
          </a:p>
          <a:p>
            <a:pPr marL="171450" indent="-171450" algn="just">
              <a:buFont typeface="Wingdings" panose="05000000000000000000" pitchFamily="2" charset="2"/>
              <a:buChar char="q"/>
            </a:pPr>
            <a:r>
              <a:rPr lang="en-ID" sz="1100" dirty="0" err="1">
                <a:latin typeface="Verdana" panose="020B0604030504040204" pitchFamily="34" charset="0"/>
                <a:ea typeface="Verdana" panose="020B0604030504040204" pitchFamily="34" charset="0"/>
              </a:rPr>
              <a:t>Kurangnya</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bimbingan</a:t>
            </a:r>
            <a:r>
              <a:rPr lang="en-ID" sz="1100" dirty="0">
                <a:latin typeface="Verdana" panose="020B0604030504040204" pitchFamily="34" charset="0"/>
                <a:ea typeface="Verdana" panose="020B0604030504040204" pitchFamily="34" charset="0"/>
              </a:rPr>
              <a:t> personal (mentoring) di </a:t>
            </a:r>
            <a:r>
              <a:rPr lang="en-ID" sz="1100" dirty="0" err="1">
                <a:latin typeface="Verdana" panose="020B0604030504040204" pitchFamily="34" charset="0"/>
                <a:ea typeface="Verdana" panose="020B0604030504040204" pitchFamily="34" charset="0"/>
              </a:rPr>
              <a:t>awal</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karier</a:t>
            </a:r>
            <a:r>
              <a:rPr lang="en-ID" sz="1100" dirty="0">
                <a:latin typeface="Verdana" panose="020B0604030504040204" pitchFamily="34" charset="0"/>
                <a:ea typeface="Verdana" panose="020B0604030504040204" pitchFamily="34" charset="0"/>
              </a:rPr>
              <a:t>.</a:t>
            </a:r>
          </a:p>
          <a:p>
            <a:pPr marL="171450" indent="-171450" algn="just">
              <a:buFont typeface="Wingdings" panose="05000000000000000000" pitchFamily="2" charset="2"/>
              <a:buChar char="q"/>
            </a:pPr>
            <a:r>
              <a:rPr lang="en-ID" sz="1100" dirty="0" err="1">
                <a:latin typeface="Verdana" panose="020B0604030504040204" pitchFamily="34" charset="0"/>
                <a:ea typeface="Verdana" panose="020B0604030504040204" pitchFamily="34" charset="0"/>
              </a:rPr>
              <a:t>Pencarian</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kompensasi</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instan</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atau</a:t>
            </a:r>
            <a:r>
              <a:rPr lang="en-ID" sz="1100" dirty="0">
                <a:latin typeface="Verdana" panose="020B0604030504040204" pitchFamily="34" charset="0"/>
                <a:ea typeface="Verdana" panose="020B0604030504040204" pitchFamily="34" charset="0"/>
              </a:rPr>
              <a:t> kultur </a:t>
            </a:r>
            <a:r>
              <a:rPr lang="en-ID" sz="1100" dirty="0" err="1">
                <a:latin typeface="Verdana" panose="020B0604030504040204" pitchFamily="34" charset="0"/>
                <a:ea typeface="Verdana" panose="020B0604030504040204" pitchFamily="34" charset="0"/>
              </a:rPr>
              <a:t>kerja</a:t>
            </a:r>
            <a:r>
              <a:rPr lang="en-ID" sz="1100" dirty="0">
                <a:latin typeface="Verdana" panose="020B0604030504040204" pitchFamily="34" charset="0"/>
                <a:ea typeface="Verdana" panose="020B0604030504040204" pitchFamily="34" charset="0"/>
              </a:rPr>
              <a:t> yang </a:t>
            </a:r>
            <a:r>
              <a:rPr lang="en-ID" sz="1100" dirty="0" err="1">
                <a:latin typeface="Verdana" panose="020B0604030504040204" pitchFamily="34" charset="0"/>
                <a:ea typeface="Verdana" panose="020B0604030504040204" pitchFamily="34" charset="0"/>
              </a:rPr>
              <a:t>lebih</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fleksibel</a:t>
            </a:r>
            <a:r>
              <a:rPr lang="en-ID" sz="1100" dirty="0">
                <a:latin typeface="Verdana" panose="020B0604030504040204" pitchFamily="34" charset="0"/>
                <a:ea typeface="Verdana" panose="020B0604030504040204" pitchFamily="34" charset="0"/>
              </a:rPr>
              <a:t> di </a:t>
            </a:r>
            <a:r>
              <a:rPr lang="en-ID" sz="1100" dirty="0" err="1">
                <a:latin typeface="Verdana" panose="020B0604030504040204" pitchFamily="34" charset="0"/>
                <a:ea typeface="Verdana" panose="020B0604030504040204" pitchFamily="34" charset="0"/>
              </a:rPr>
              <a:t>luar</a:t>
            </a:r>
            <a:r>
              <a:rPr lang="en-ID" sz="1100" dirty="0">
                <a:latin typeface="Verdana" panose="020B0604030504040204" pitchFamily="34" charset="0"/>
                <a:ea typeface="Verdana" panose="020B0604030504040204" pitchFamily="34" charset="0"/>
              </a:rPr>
              <a:t> </a:t>
            </a:r>
            <a:r>
              <a:rPr lang="en-ID" sz="1100" dirty="0" err="1">
                <a:latin typeface="Verdana" panose="020B0604030504040204" pitchFamily="34" charset="0"/>
                <a:ea typeface="Verdana" panose="020B0604030504040204" pitchFamily="34" charset="0"/>
              </a:rPr>
              <a:t>perusahaan</a:t>
            </a:r>
            <a:r>
              <a:rPr lang="en-ID" sz="1100" dirty="0">
                <a:latin typeface="Verdana" panose="020B0604030504040204" pitchFamily="34" charset="0"/>
                <a:ea typeface="Verdana" panose="020B0604030504040204" pitchFamily="34" charset="0"/>
              </a:rPr>
              <a:t>.</a:t>
            </a:r>
          </a:p>
        </p:txBody>
      </p:sp>
    </p:spTree>
    <p:extLst>
      <p:ext uri="{BB962C8B-B14F-4D97-AF65-F5344CB8AC3E}">
        <p14:creationId xmlns:p14="http://schemas.microsoft.com/office/powerpoint/2010/main" val="1588685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181304" y="156782"/>
            <a:ext cx="1868213" cy="465083"/>
          </a:xfrm>
          <a:prstGeom prst="rect">
            <a:avLst/>
          </a:prstGeom>
        </p:spPr>
        <p:txBody>
          <a:bodyPr spcFirstLastPara="1" wrap="square" lIns="91425" tIns="91425" rIns="91425" bIns="91425" anchor="t" anchorCtr="0">
            <a:noAutofit/>
          </a:bodyPr>
          <a:lstStyle/>
          <a:p>
            <a:r>
              <a:rPr lang="en" sz="3200" dirty="0"/>
              <a:t>Analysis</a:t>
            </a:r>
            <a:endParaRPr sz="3200" dirty="0"/>
          </a:p>
        </p:txBody>
      </p:sp>
      <p:sp>
        <p:nvSpPr>
          <p:cNvPr id="2" name="Rectangle 1">
            <a:extLst>
              <a:ext uri="{FF2B5EF4-FFF2-40B4-BE49-F238E27FC236}">
                <a16:creationId xmlns:a16="http://schemas.microsoft.com/office/drawing/2014/main" id="{F88874C5-FDB8-4118-8DF2-FE15353B1873}"/>
              </a:ext>
            </a:extLst>
          </p:cNvPr>
          <p:cNvSpPr>
            <a:spLocks noChangeArrowheads="1"/>
          </p:cNvSpPr>
          <p:nvPr/>
        </p:nvSpPr>
        <p:spPr bwMode="auto">
          <a:xfrm>
            <a:off x="5068613" y="1031781"/>
            <a:ext cx="3767959" cy="1862048"/>
          </a:xfrm>
          <a:prstGeom prst="rect">
            <a:avLst/>
          </a:prstGeom>
          <a:solidFill>
            <a:schemeClr val="tx1"/>
          </a:solidFill>
          <a:ln>
            <a:noFill/>
          </a:ln>
          <a:effec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ANALISIS EMPLOYEE LIFETIME VALUE (ELV) === Status Attrition Rata-rata Masa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Kerja</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Tahun</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No 7.369019 Yes 5.130802 ----------------------------------------------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Karyawan</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yang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keluar</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(Yes) rata-rata resign pada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tahun</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ke-5.13. Perusahaan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kehilangan</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potensi</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loyalitas</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waktu</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sebesar</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2.24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tahun</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per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karyawan</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dibandingkan</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dengan</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kelompok</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yang </a:t>
            </a:r>
            <a:r>
              <a:rPr kumimoji="0" lang="en-US" altLang="en-US" sz="1100" b="0" i="0" u="none" strike="noStrike" cap="none" normalizeH="0" baseline="0" dirty="0" err="1">
                <a:ln>
                  <a:noFill/>
                </a:ln>
                <a:solidFill>
                  <a:schemeClr val="bg1"/>
                </a:solidFill>
                <a:effectLst/>
                <a:latin typeface="Verdana" panose="020B0604030504040204" pitchFamily="34" charset="0"/>
                <a:ea typeface="Verdana" panose="020B0604030504040204" pitchFamily="34" charset="0"/>
              </a:rPr>
              <a:t>bertahan</a:t>
            </a: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(No).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p>
        </p:txBody>
      </p:sp>
      <p:pic>
        <p:nvPicPr>
          <p:cNvPr id="6146" name="Picture 2">
            <a:extLst>
              <a:ext uri="{FF2B5EF4-FFF2-40B4-BE49-F238E27FC236}">
                <a16:creationId xmlns:a16="http://schemas.microsoft.com/office/drawing/2014/main" id="{1D155B9A-99E6-41DA-8075-A0A74CC84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93" y="914399"/>
            <a:ext cx="4789640" cy="3567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487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181304" y="156782"/>
            <a:ext cx="1868213" cy="465083"/>
          </a:xfrm>
          <a:prstGeom prst="rect">
            <a:avLst/>
          </a:prstGeom>
        </p:spPr>
        <p:txBody>
          <a:bodyPr spcFirstLastPara="1" wrap="square" lIns="91425" tIns="91425" rIns="91425" bIns="91425" anchor="t" anchorCtr="0">
            <a:noAutofit/>
          </a:bodyPr>
          <a:lstStyle/>
          <a:p>
            <a:r>
              <a:rPr lang="en" sz="3200" dirty="0"/>
              <a:t>Analysis</a:t>
            </a:r>
            <a:endParaRPr sz="3200" dirty="0"/>
          </a:p>
        </p:txBody>
      </p:sp>
      <p:sp>
        <p:nvSpPr>
          <p:cNvPr id="2" name="Rectangle 1">
            <a:extLst>
              <a:ext uri="{FF2B5EF4-FFF2-40B4-BE49-F238E27FC236}">
                <a16:creationId xmlns:a16="http://schemas.microsoft.com/office/drawing/2014/main" id="{F88874C5-FDB8-4118-8DF2-FE15353B1873}"/>
              </a:ext>
            </a:extLst>
          </p:cNvPr>
          <p:cNvSpPr>
            <a:spLocks noChangeArrowheads="1"/>
          </p:cNvSpPr>
          <p:nvPr/>
        </p:nvSpPr>
        <p:spPr bwMode="auto">
          <a:xfrm>
            <a:off x="5194737" y="897527"/>
            <a:ext cx="3767959" cy="1523494"/>
          </a:xfrm>
          <a:prstGeom prst="rect">
            <a:avLst/>
          </a:prstGeom>
          <a:solidFill>
            <a:schemeClr val="tx1"/>
          </a:solidFill>
          <a:ln>
            <a:noFill/>
          </a:ln>
          <a:effec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ID" sz="1100" b="0" i="0" dirty="0">
                <a:solidFill>
                  <a:schemeClr val="bg1"/>
                </a:solidFill>
                <a:effectLst/>
                <a:latin typeface="Verdana" panose="020B0604030504040204" pitchFamily="34" charset="0"/>
                <a:ea typeface="Verdana" panose="020B0604030504040204" pitchFamily="34" charset="0"/>
              </a:rPr>
              <a:t>=== ANALISIS AMBANG BATAS RATA-RATA PERJALANAN === Status Attrition Rata-rata Jarak (km) No 8.915653 Yes 10.632911 -------------------------------------------------- </a:t>
            </a:r>
            <a:r>
              <a:rPr lang="en-ID" sz="1100" b="0" i="0" dirty="0" err="1">
                <a:solidFill>
                  <a:schemeClr val="bg1"/>
                </a:solidFill>
                <a:effectLst/>
                <a:latin typeface="Verdana" panose="020B0604030504040204" pitchFamily="34" charset="0"/>
                <a:ea typeface="Verdana" panose="020B0604030504040204" pitchFamily="34" charset="0"/>
              </a:rPr>
              <a:t>Ambang</a:t>
            </a:r>
            <a:r>
              <a:rPr lang="en-ID" sz="1100" b="0" i="0" dirty="0">
                <a:solidFill>
                  <a:schemeClr val="bg1"/>
                </a:solidFill>
                <a:effectLst/>
                <a:latin typeface="Verdana" panose="020B0604030504040204" pitchFamily="34" charset="0"/>
                <a:ea typeface="Verdana" panose="020B0604030504040204" pitchFamily="34" charset="0"/>
              </a:rPr>
              <a:t> Batas </a:t>
            </a:r>
            <a:r>
              <a:rPr lang="en-ID" sz="1100" b="0" i="0" dirty="0" err="1">
                <a:solidFill>
                  <a:schemeClr val="bg1"/>
                </a:solidFill>
                <a:effectLst/>
                <a:latin typeface="Verdana" panose="020B0604030504040204" pitchFamily="34" charset="0"/>
                <a:ea typeface="Verdana" panose="020B0604030504040204" pitchFamily="34" charset="0"/>
              </a:rPr>
              <a:t>Perjalanan</a:t>
            </a:r>
            <a:r>
              <a:rPr lang="en-ID" sz="1100" b="0" i="0" dirty="0">
                <a:solidFill>
                  <a:schemeClr val="bg1"/>
                </a:solidFill>
                <a:effectLst/>
                <a:latin typeface="Verdana" panose="020B0604030504040204" pitchFamily="34" charset="0"/>
                <a:ea typeface="Verdana" panose="020B0604030504040204" pitchFamily="34" charset="0"/>
              </a:rPr>
              <a:t> (Commute Threshold) </a:t>
            </a:r>
            <a:r>
              <a:rPr lang="en-ID" sz="1100" b="0" i="0" dirty="0" err="1">
                <a:solidFill>
                  <a:schemeClr val="bg1"/>
                </a:solidFill>
                <a:effectLst/>
                <a:latin typeface="Verdana" panose="020B0604030504040204" pitchFamily="34" charset="0"/>
                <a:ea typeface="Verdana" panose="020B0604030504040204" pitchFamily="34" charset="0"/>
              </a:rPr>
              <a:t>Karyawan</a:t>
            </a:r>
            <a:r>
              <a:rPr lang="en-ID" sz="1100" b="0" i="0" dirty="0">
                <a:solidFill>
                  <a:schemeClr val="bg1"/>
                </a:solidFill>
                <a:effectLst/>
                <a:latin typeface="Verdana" panose="020B0604030504040204" pitchFamily="34" charset="0"/>
                <a:ea typeface="Verdana" panose="020B0604030504040204" pitchFamily="34" charset="0"/>
              </a:rPr>
              <a:t> Resign: 10.63 km. </a:t>
            </a:r>
            <a:r>
              <a:rPr lang="en-ID" sz="1100" b="0" i="0" dirty="0" err="1">
                <a:solidFill>
                  <a:schemeClr val="bg1"/>
                </a:solidFill>
                <a:effectLst/>
                <a:latin typeface="Verdana" panose="020B0604030504040204" pitchFamily="34" charset="0"/>
                <a:ea typeface="Verdana" panose="020B0604030504040204" pitchFamily="34" charset="0"/>
              </a:rPr>
              <a:t>Karyawan</a:t>
            </a:r>
            <a:r>
              <a:rPr lang="en-ID" sz="1100" b="0" i="0" dirty="0">
                <a:solidFill>
                  <a:schemeClr val="bg1"/>
                </a:solidFill>
                <a:effectLst/>
                <a:latin typeface="Verdana" panose="020B0604030504040204" pitchFamily="34" charset="0"/>
                <a:ea typeface="Verdana" panose="020B0604030504040204" pitchFamily="34" charset="0"/>
              </a:rPr>
              <a:t> yang </a:t>
            </a:r>
            <a:r>
              <a:rPr lang="en-ID" sz="1100" b="0" i="0" dirty="0" err="1">
                <a:solidFill>
                  <a:schemeClr val="bg1"/>
                </a:solidFill>
                <a:effectLst/>
                <a:latin typeface="Verdana" panose="020B0604030504040204" pitchFamily="34" charset="0"/>
                <a:ea typeface="Verdana" panose="020B0604030504040204" pitchFamily="34" charset="0"/>
              </a:rPr>
              <a:t>keluar</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memiliki</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jarak</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rumah-kantor</a:t>
            </a:r>
            <a:r>
              <a:rPr lang="en-ID" sz="1100" b="0" i="0" dirty="0">
                <a:solidFill>
                  <a:schemeClr val="bg1"/>
                </a:solidFill>
                <a:effectLst/>
                <a:latin typeface="Verdana" panose="020B0604030504040204" pitchFamily="34" charset="0"/>
                <a:ea typeface="Verdana" panose="020B0604030504040204" pitchFamily="34" charset="0"/>
              </a:rPr>
              <a:t> rata-rata 1.72 km </a:t>
            </a:r>
            <a:r>
              <a:rPr lang="en-ID" sz="1100" b="0" i="0" dirty="0" err="1">
                <a:solidFill>
                  <a:schemeClr val="bg1"/>
                </a:solidFill>
                <a:effectLst/>
                <a:latin typeface="Verdana" panose="020B0604030504040204" pitchFamily="34" charset="0"/>
                <a:ea typeface="Verdana" panose="020B0604030504040204" pitchFamily="34" charset="0"/>
              </a:rPr>
              <a:t>lebih</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jauh</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dibandingkan</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mereka</a:t>
            </a:r>
            <a:r>
              <a:rPr lang="en-ID" sz="1100" b="0" i="0" dirty="0">
                <a:solidFill>
                  <a:schemeClr val="bg1"/>
                </a:solidFill>
                <a:effectLst/>
                <a:latin typeface="Verdana" panose="020B0604030504040204" pitchFamily="34" charset="0"/>
                <a:ea typeface="Verdana" panose="020B0604030504040204" pitchFamily="34" charset="0"/>
              </a:rPr>
              <a:t> yang </a:t>
            </a:r>
            <a:r>
              <a:rPr lang="en-ID" sz="1100" b="0" i="0" dirty="0" err="1">
                <a:solidFill>
                  <a:schemeClr val="bg1"/>
                </a:solidFill>
                <a:effectLst/>
                <a:latin typeface="Verdana" panose="020B0604030504040204" pitchFamily="34" charset="0"/>
                <a:ea typeface="Verdana" panose="020B0604030504040204" pitchFamily="34" charset="0"/>
              </a:rPr>
              <a:t>memilih</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untuk</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bertahan</a:t>
            </a:r>
            <a:r>
              <a:rPr lang="en-ID" sz="1100" b="0" i="0" dirty="0">
                <a:solidFill>
                  <a:schemeClr val="bg1"/>
                </a:solidFill>
                <a:effectLst/>
                <a:latin typeface="Verdana" panose="020B0604030504040204" pitchFamily="34" charset="0"/>
                <a:ea typeface="Verdana" panose="020B0604030504040204" pitchFamily="34" charset="0"/>
              </a:rPr>
              <a:t>.</a:t>
            </a:r>
            <a:endPar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endParaRPr>
          </a:p>
        </p:txBody>
      </p:sp>
      <p:pic>
        <p:nvPicPr>
          <p:cNvPr id="4" name="Picture 3">
            <a:extLst>
              <a:ext uri="{FF2B5EF4-FFF2-40B4-BE49-F238E27FC236}">
                <a16:creationId xmlns:a16="http://schemas.microsoft.com/office/drawing/2014/main" id="{5A2F8B22-505E-4644-B669-6E70EF9A6C83}"/>
              </a:ext>
            </a:extLst>
          </p:cNvPr>
          <p:cNvPicPr>
            <a:picLocks noChangeAspect="1"/>
          </p:cNvPicPr>
          <p:nvPr/>
        </p:nvPicPr>
        <p:blipFill>
          <a:blip r:embed="rId3"/>
          <a:stretch>
            <a:fillRect/>
          </a:stretch>
        </p:blipFill>
        <p:spPr>
          <a:xfrm>
            <a:off x="106417" y="884759"/>
            <a:ext cx="5162495" cy="3063920"/>
          </a:xfrm>
          <a:prstGeom prst="rect">
            <a:avLst/>
          </a:prstGeom>
        </p:spPr>
      </p:pic>
      <p:sp>
        <p:nvSpPr>
          <p:cNvPr id="9" name="TextBox 8">
            <a:extLst>
              <a:ext uri="{FF2B5EF4-FFF2-40B4-BE49-F238E27FC236}">
                <a16:creationId xmlns:a16="http://schemas.microsoft.com/office/drawing/2014/main" id="{7DA01983-74A7-41A9-B783-8C42F2FF10F1}"/>
              </a:ext>
            </a:extLst>
          </p:cNvPr>
          <p:cNvSpPr txBox="1"/>
          <p:nvPr/>
        </p:nvSpPr>
        <p:spPr>
          <a:xfrm>
            <a:off x="5269623" y="2722480"/>
            <a:ext cx="3693073" cy="1835502"/>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lnSpc>
                <a:spcPct val="150000"/>
              </a:lnSpc>
            </a:pPr>
            <a:r>
              <a:rPr lang="en-ID" sz="1100" b="1" dirty="0">
                <a:latin typeface="Verdana" panose="020B0604030504040204" pitchFamily="34" charset="0"/>
                <a:ea typeface="Verdana" panose="020B0604030504040204" pitchFamily="34" charset="0"/>
              </a:rPr>
              <a:t>Business Insight: </a:t>
            </a:r>
          </a:p>
          <a:p>
            <a:pPr algn="just">
              <a:lnSpc>
                <a:spcPct val="150000"/>
              </a:lnSpc>
            </a:pPr>
            <a:r>
              <a:rPr lang="en-US" sz="1100" dirty="0">
                <a:latin typeface="Verdana" panose="020B0604030504040204" pitchFamily="34" charset="0"/>
                <a:ea typeface="Verdana" panose="020B0604030504040204" pitchFamily="34" charset="0"/>
              </a:rPr>
              <a:t>The company can use the 10 km threshold as a benchmark for policy planning. Employees commuting beyond this distance may be prioritized for shuttle services, transportation allowances, or flexible work arrangements, subject to manufacturing operational feasibility.</a:t>
            </a:r>
            <a:endParaRPr lang="en-ID" sz="11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964362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87584" y="32593"/>
            <a:ext cx="2324540" cy="589272"/>
          </a:xfrm>
          <a:prstGeom prst="rect">
            <a:avLst/>
          </a:prstGeom>
        </p:spPr>
        <p:txBody>
          <a:bodyPr spcFirstLastPara="1" wrap="square" lIns="91425" tIns="91425" rIns="91425" bIns="91425" anchor="t" anchorCtr="0">
            <a:noAutofit/>
          </a:bodyPr>
          <a:lstStyle/>
          <a:p>
            <a:r>
              <a:rPr lang="en" sz="3200" dirty="0"/>
              <a:t>Analysis</a:t>
            </a:r>
            <a:endParaRPr sz="3200" dirty="0"/>
          </a:p>
        </p:txBody>
      </p:sp>
      <p:sp>
        <p:nvSpPr>
          <p:cNvPr id="2" name="Rectangle 1">
            <a:extLst>
              <a:ext uri="{FF2B5EF4-FFF2-40B4-BE49-F238E27FC236}">
                <a16:creationId xmlns:a16="http://schemas.microsoft.com/office/drawing/2014/main" id="{F88874C5-FDB8-4118-8DF2-FE15353B1873}"/>
              </a:ext>
            </a:extLst>
          </p:cNvPr>
          <p:cNvSpPr>
            <a:spLocks noChangeArrowheads="1"/>
          </p:cNvSpPr>
          <p:nvPr/>
        </p:nvSpPr>
        <p:spPr bwMode="auto">
          <a:xfrm>
            <a:off x="5194737" y="32593"/>
            <a:ext cx="3767959" cy="2539157"/>
          </a:xfrm>
          <a:prstGeom prst="rect">
            <a:avLst/>
          </a:prstGeom>
          <a:solidFill>
            <a:schemeClr val="tx1"/>
          </a:solidFill>
          <a:ln>
            <a:noFill/>
          </a:ln>
          <a:effec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ID" sz="1100" b="0" i="0" dirty="0">
                <a:solidFill>
                  <a:schemeClr val="bg1"/>
                </a:solidFill>
                <a:effectLst/>
                <a:latin typeface="Verdana" panose="020B0604030504040204" pitchFamily="34" charset="0"/>
                <a:ea typeface="Verdana" panose="020B0604030504040204" pitchFamily="34" charset="0"/>
              </a:rPr>
              <a:t>=== ANALISIS DAYA SAING GAJI INTERNAL === Rata-rata </a:t>
            </a:r>
            <a:r>
              <a:rPr lang="en-ID" sz="1100" b="0" i="0" dirty="0" err="1">
                <a:solidFill>
                  <a:schemeClr val="bg1"/>
                </a:solidFill>
                <a:effectLst/>
                <a:latin typeface="Verdana" panose="020B0604030504040204" pitchFamily="34" charset="0"/>
                <a:ea typeface="Verdana" panose="020B0604030504040204" pitchFamily="34" charset="0"/>
              </a:rPr>
              <a:t>Gaji</a:t>
            </a:r>
            <a:r>
              <a:rPr lang="en-ID" sz="1100" b="0" i="0" dirty="0">
                <a:solidFill>
                  <a:schemeClr val="bg1"/>
                </a:solidFill>
                <a:effectLst/>
                <a:latin typeface="Verdana" panose="020B0604030504040204" pitchFamily="34" charset="0"/>
                <a:ea typeface="Verdana" panose="020B0604030504040204" pitchFamily="34" charset="0"/>
              </a:rPr>
              <a:t> Perusahaan (</a:t>
            </a:r>
            <a:r>
              <a:rPr lang="en-ID" sz="1100" b="0" i="0" dirty="0" err="1">
                <a:solidFill>
                  <a:schemeClr val="bg1"/>
                </a:solidFill>
                <a:effectLst/>
                <a:latin typeface="Verdana" panose="020B0604030504040204" pitchFamily="34" charset="0"/>
                <a:ea typeface="Verdana" panose="020B0604030504040204" pitchFamily="34" charset="0"/>
              </a:rPr>
              <a:t>Semua</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Karyawan</a:t>
            </a:r>
            <a:r>
              <a:rPr lang="en-ID" sz="1100" b="0" i="0" dirty="0">
                <a:solidFill>
                  <a:schemeClr val="bg1"/>
                </a:solidFill>
                <a:effectLst/>
                <a:latin typeface="Verdana" panose="020B0604030504040204" pitchFamily="34" charset="0"/>
                <a:ea typeface="Verdana" panose="020B0604030504040204" pitchFamily="34" charset="0"/>
              </a:rPr>
              <a:t>) : $6502.93 Rata-rata </a:t>
            </a:r>
            <a:r>
              <a:rPr lang="en-ID" sz="1100" b="0" i="0" dirty="0" err="1">
                <a:solidFill>
                  <a:schemeClr val="bg1"/>
                </a:solidFill>
                <a:effectLst/>
                <a:latin typeface="Verdana" panose="020B0604030504040204" pitchFamily="34" charset="0"/>
                <a:ea typeface="Verdana" panose="020B0604030504040204" pitchFamily="34" charset="0"/>
              </a:rPr>
              <a:t>Gaji</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Lulusan</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Sarjana</a:t>
            </a:r>
            <a:r>
              <a:rPr lang="en-ID" sz="1100" b="0" i="0" dirty="0">
                <a:solidFill>
                  <a:schemeClr val="bg1"/>
                </a:solidFill>
                <a:effectLst/>
                <a:latin typeface="Verdana" panose="020B0604030504040204" pitchFamily="34" charset="0"/>
                <a:ea typeface="Verdana" panose="020B0604030504040204" pitchFamily="34" charset="0"/>
              </a:rPr>
              <a:t> (S1) : $6517.26 -------------------------------------------------- </a:t>
            </a:r>
            <a:r>
              <a:rPr lang="en-ID" sz="1100" b="0" i="0" dirty="0" err="1">
                <a:solidFill>
                  <a:schemeClr val="bg1"/>
                </a:solidFill>
                <a:effectLst/>
                <a:latin typeface="Verdana" panose="020B0604030504040204" pitchFamily="34" charset="0"/>
                <a:ea typeface="Verdana" panose="020B0604030504040204" pitchFamily="34" charset="0"/>
              </a:rPr>
              <a:t>Rasio</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Daya</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Saing</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Gaji</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Karyawan</a:t>
            </a:r>
            <a:r>
              <a:rPr lang="en-ID" sz="1100" b="0" i="0" dirty="0">
                <a:solidFill>
                  <a:schemeClr val="bg1"/>
                </a:solidFill>
                <a:effectLst/>
                <a:latin typeface="Verdana" panose="020B0604030504040204" pitchFamily="34" charset="0"/>
                <a:ea typeface="Verdana" panose="020B0604030504040204" pitchFamily="34" charset="0"/>
              </a:rPr>
              <a:t> S1 : 1.00 </a:t>
            </a:r>
            <a:r>
              <a:rPr lang="en-ID" sz="1100" b="0" i="0" dirty="0" err="1">
                <a:solidFill>
                  <a:schemeClr val="bg1"/>
                </a:solidFill>
                <a:effectLst/>
                <a:latin typeface="Verdana" panose="020B0604030504040204" pitchFamily="34" charset="0"/>
                <a:ea typeface="Verdana" panose="020B0604030504040204" pitchFamily="34" charset="0"/>
              </a:rPr>
              <a:t>Artinya</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Gaji</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lulusan</a:t>
            </a:r>
            <a:r>
              <a:rPr lang="en-ID" sz="1100" b="0" i="0" dirty="0">
                <a:solidFill>
                  <a:schemeClr val="bg1"/>
                </a:solidFill>
                <a:effectLst/>
                <a:latin typeface="Verdana" panose="020B0604030504040204" pitchFamily="34" charset="0"/>
                <a:ea typeface="Verdana" panose="020B0604030504040204" pitchFamily="34" charset="0"/>
              </a:rPr>
              <a:t> S1 </a:t>
            </a:r>
            <a:r>
              <a:rPr lang="en-ID" sz="1100" b="0" i="0" dirty="0" err="1">
                <a:solidFill>
                  <a:schemeClr val="bg1"/>
                </a:solidFill>
                <a:effectLst/>
                <a:latin typeface="Verdana" panose="020B0604030504040204" pitchFamily="34" charset="0"/>
                <a:ea typeface="Verdana" panose="020B0604030504040204" pitchFamily="34" charset="0"/>
              </a:rPr>
              <a:t>berada</a:t>
            </a:r>
            <a:r>
              <a:rPr lang="en-ID" sz="1100" b="0" i="0" dirty="0">
                <a:solidFill>
                  <a:schemeClr val="bg1"/>
                </a:solidFill>
                <a:effectLst/>
                <a:latin typeface="Verdana" panose="020B0604030504040204" pitchFamily="34" charset="0"/>
                <a:ea typeface="Verdana" panose="020B0604030504040204" pitchFamily="34" charset="0"/>
              </a:rPr>
              <a:t> di </a:t>
            </a:r>
            <a:r>
              <a:rPr lang="en-ID" sz="1100" b="0" i="0" dirty="0" err="1">
                <a:solidFill>
                  <a:schemeClr val="bg1"/>
                </a:solidFill>
                <a:effectLst/>
                <a:latin typeface="Verdana" panose="020B0604030504040204" pitchFamily="34" charset="0"/>
                <a:ea typeface="Verdana" panose="020B0604030504040204" pitchFamily="34" charset="0"/>
              </a:rPr>
              <a:t>angka</a:t>
            </a:r>
            <a:r>
              <a:rPr lang="en-ID" sz="1100" b="0" i="0" dirty="0">
                <a:solidFill>
                  <a:schemeClr val="bg1"/>
                </a:solidFill>
                <a:effectLst/>
                <a:latin typeface="Verdana" panose="020B0604030504040204" pitchFamily="34" charset="0"/>
                <a:ea typeface="Verdana" panose="020B0604030504040204" pitchFamily="34" charset="0"/>
              </a:rPr>
              <a:t> 100.2% </a:t>
            </a:r>
            <a:r>
              <a:rPr lang="en-ID" sz="1100" b="0" i="0" dirty="0" err="1">
                <a:solidFill>
                  <a:schemeClr val="bg1"/>
                </a:solidFill>
                <a:effectLst/>
                <a:latin typeface="Verdana" panose="020B0604030504040204" pitchFamily="34" charset="0"/>
                <a:ea typeface="Verdana" panose="020B0604030504040204" pitchFamily="34" charset="0"/>
              </a:rPr>
              <a:t>dari</a:t>
            </a:r>
            <a:r>
              <a:rPr lang="en-ID" sz="1100" b="0" i="0" dirty="0">
                <a:solidFill>
                  <a:schemeClr val="bg1"/>
                </a:solidFill>
                <a:effectLst/>
                <a:latin typeface="Verdana" panose="020B0604030504040204" pitchFamily="34" charset="0"/>
                <a:ea typeface="Verdana" panose="020B0604030504040204" pitchFamily="34" charset="0"/>
              </a:rPr>
              <a:t> rata-rata </a:t>
            </a:r>
            <a:r>
              <a:rPr lang="en-ID" sz="1100" b="0" i="0" dirty="0" err="1">
                <a:solidFill>
                  <a:schemeClr val="bg1"/>
                </a:solidFill>
                <a:effectLst/>
                <a:latin typeface="Verdana" panose="020B0604030504040204" pitchFamily="34" charset="0"/>
                <a:ea typeface="Verdana" panose="020B0604030504040204" pitchFamily="34" charset="0"/>
              </a:rPr>
              <a:t>gaji</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perusahaan</a:t>
            </a:r>
            <a:r>
              <a:rPr lang="en-ID" sz="1100" b="0" i="0" dirty="0">
                <a:solidFill>
                  <a:schemeClr val="bg1"/>
                </a:solidFill>
                <a:effectLst/>
                <a:latin typeface="Verdana" panose="020B0604030504040204" pitchFamily="34" charset="0"/>
                <a:ea typeface="Verdana" panose="020B0604030504040204" pitchFamily="34" charset="0"/>
              </a:rPr>
              <a:t>. ========================================= Detail Rata-rata </a:t>
            </a:r>
            <a:r>
              <a:rPr lang="en-ID" sz="1100" b="0" i="0" dirty="0" err="1">
                <a:solidFill>
                  <a:schemeClr val="bg1"/>
                </a:solidFill>
                <a:effectLst/>
                <a:latin typeface="Verdana" panose="020B0604030504040204" pitchFamily="34" charset="0"/>
                <a:ea typeface="Verdana" panose="020B0604030504040204" pitchFamily="34" charset="0"/>
              </a:rPr>
              <a:t>Gaji</a:t>
            </a:r>
            <a:r>
              <a:rPr lang="en-ID" sz="1100" b="0" i="0" dirty="0">
                <a:solidFill>
                  <a:schemeClr val="bg1"/>
                </a:solidFill>
                <a:effectLst/>
                <a:latin typeface="Verdana" panose="020B0604030504040204" pitchFamily="34" charset="0"/>
                <a:ea typeface="Verdana" panose="020B0604030504040204" pitchFamily="34" charset="0"/>
              </a:rPr>
              <a:t> per </a:t>
            </a:r>
            <a:r>
              <a:rPr lang="en-ID" sz="1100" b="0" i="0" dirty="0" err="1">
                <a:solidFill>
                  <a:schemeClr val="bg1"/>
                </a:solidFill>
                <a:effectLst/>
                <a:latin typeface="Verdana" panose="020B0604030504040204" pitchFamily="34" charset="0"/>
                <a:ea typeface="Verdana" panose="020B0604030504040204" pitchFamily="34" charset="0"/>
              </a:rPr>
              <a:t>Jenjang</a:t>
            </a:r>
            <a:r>
              <a:rPr lang="en-ID" sz="1100" b="0" i="0" dirty="0">
                <a:solidFill>
                  <a:schemeClr val="bg1"/>
                </a:solidFill>
                <a:effectLst/>
                <a:latin typeface="Verdana" panose="020B0604030504040204" pitchFamily="34" charset="0"/>
                <a:ea typeface="Verdana" panose="020B0604030504040204" pitchFamily="34" charset="0"/>
              </a:rPr>
              <a:t> Pendidikan: </a:t>
            </a:r>
            <a:r>
              <a:rPr lang="en-ID" sz="1100" b="0" i="0" dirty="0" err="1">
                <a:solidFill>
                  <a:schemeClr val="bg1"/>
                </a:solidFill>
                <a:effectLst/>
                <a:latin typeface="Verdana" panose="020B0604030504040204" pitchFamily="34" charset="0"/>
                <a:ea typeface="Verdana" panose="020B0604030504040204" pitchFamily="34" charset="0"/>
              </a:rPr>
              <a:t>Education_Level</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MonthlyIncome</a:t>
            </a:r>
            <a:r>
              <a:rPr lang="en-ID" sz="1100" b="0" i="0" dirty="0">
                <a:solidFill>
                  <a:schemeClr val="bg1"/>
                </a:solidFill>
                <a:effectLst/>
                <a:latin typeface="Verdana" panose="020B0604030504040204" pitchFamily="34" charset="0"/>
                <a:ea typeface="Verdana" panose="020B0604030504040204" pitchFamily="34" charset="0"/>
              </a:rPr>
              <a:t> 1. SMA / Below College 5640.570588 2. Diploma / College 6226.645390 3. </a:t>
            </a:r>
            <a:r>
              <a:rPr lang="en-ID" sz="1100" b="0" i="0" dirty="0" err="1">
                <a:solidFill>
                  <a:schemeClr val="bg1"/>
                </a:solidFill>
                <a:effectLst/>
                <a:latin typeface="Verdana" panose="020B0604030504040204" pitchFamily="34" charset="0"/>
                <a:ea typeface="Verdana" panose="020B0604030504040204" pitchFamily="34" charset="0"/>
              </a:rPr>
              <a:t>Sarjana</a:t>
            </a:r>
            <a:r>
              <a:rPr lang="en-ID" sz="1100" b="0" i="0" dirty="0">
                <a:solidFill>
                  <a:schemeClr val="bg1"/>
                </a:solidFill>
                <a:effectLst/>
                <a:latin typeface="Verdana" panose="020B0604030504040204" pitchFamily="34" charset="0"/>
                <a:ea typeface="Verdana" panose="020B0604030504040204" pitchFamily="34" charset="0"/>
              </a:rPr>
              <a:t> (S1) / Bachelor 6517.263986 4. Magister (S2) / Master 6832.402010 5. </a:t>
            </a:r>
            <a:r>
              <a:rPr lang="en-ID" sz="1100" b="0" i="0" dirty="0" err="1">
                <a:solidFill>
                  <a:schemeClr val="bg1"/>
                </a:solidFill>
                <a:effectLst/>
                <a:latin typeface="Verdana" panose="020B0604030504040204" pitchFamily="34" charset="0"/>
                <a:ea typeface="Verdana" panose="020B0604030504040204" pitchFamily="34" charset="0"/>
              </a:rPr>
              <a:t>Doktor</a:t>
            </a:r>
            <a:r>
              <a:rPr lang="en-ID" sz="1100" b="0" i="0" dirty="0">
                <a:solidFill>
                  <a:schemeClr val="bg1"/>
                </a:solidFill>
                <a:effectLst/>
                <a:latin typeface="Verdana" panose="020B0604030504040204" pitchFamily="34" charset="0"/>
                <a:ea typeface="Verdana" panose="020B0604030504040204" pitchFamily="34" charset="0"/>
              </a:rPr>
              <a:t> (S3) / Doctor 8277.645833</a:t>
            </a:r>
            <a:endPar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7DA01983-74A7-41A9-B783-8C42F2FF10F1}"/>
              </a:ext>
            </a:extLst>
          </p:cNvPr>
          <p:cNvSpPr txBox="1"/>
          <p:nvPr/>
        </p:nvSpPr>
        <p:spPr>
          <a:xfrm>
            <a:off x="5194737" y="2640759"/>
            <a:ext cx="3767959" cy="2412584"/>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lnSpc>
                <a:spcPct val="150000"/>
              </a:lnSpc>
            </a:pPr>
            <a:r>
              <a:rPr lang="en-ID" sz="1100" b="1" dirty="0">
                <a:latin typeface="Verdana" panose="020B0604030504040204" pitchFamily="34" charset="0"/>
                <a:ea typeface="Verdana" panose="020B0604030504040204" pitchFamily="34" charset="0"/>
              </a:rPr>
              <a:t>Business Insight: </a:t>
            </a:r>
          </a:p>
          <a:p>
            <a:pPr algn="just">
              <a:lnSpc>
                <a:spcPct val="150000"/>
              </a:lnSpc>
            </a:pPr>
            <a:r>
              <a:rPr lang="en-US" sz="1100" dirty="0">
                <a:latin typeface="Verdana" panose="020B0604030504040204" pitchFamily="34" charset="0"/>
                <a:ea typeface="Verdana" panose="020B0604030504040204" pitchFamily="34" charset="0"/>
              </a:rPr>
              <a:t>Salary ratios highlight how </a:t>
            </a:r>
            <a:r>
              <a:rPr lang="en-US" sz="1100" b="1" dirty="0">
                <a:latin typeface="Verdana" panose="020B0604030504040204" pitchFamily="34" charset="0"/>
                <a:ea typeface="Verdana" panose="020B0604030504040204" pitchFamily="34" charset="0"/>
              </a:rPr>
              <a:t>education level impacts compensation positioning</a:t>
            </a:r>
            <a:r>
              <a:rPr lang="en-US" sz="1100" dirty="0">
                <a:latin typeface="Verdana" panose="020B0604030504040204" pitchFamily="34" charset="0"/>
                <a:ea typeface="Verdana" panose="020B0604030504040204" pitchFamily="34" charset="0"/>
              </a:rPr>
              <a:t>. While S1 employees may cluster at entry-level pay, advanced degrees (S2/S3) often align with higher-value roles. HR can use this benchmark to design </a:t>
            </a:r>
            <a:r>
              <a:rPr lang="en-US" sz="1100" b="1" dirty="0">
                <a:latin typeface="Verdana" panose="020B0604030504040204" pitchFamily="34" charset="0"/>
                <a:ea typeface="Verdana" panose="020B0604030504040204" pitchFamily="34" charset="0"/>
              </a:rPr>
              <a:t>fair pay structures</a:t>
            </a:r>
            <a:r>
              <a:rPr lang="en-US" sz="1100" dirty="0">
                <a:latin typeface="Verdana" panose="020B0604030504040204" pitchFamily="34" charset="0"/>
                <a:ea typeface="Verdana" panose="020B0604030504040204" pitchFamily="34" charset="0"/>
              </a:rPr>
              <a:t>, ensure </a:t>
            </a:r>
            <a:r>
              <a:rPr lang="en-US" sz="1100" b="1" dirty="0">
                <a:latin typeface="Verdana" panose="020B0604030504040204" pitchFamily="34" charset="0"/>
                <a:ea typeface="Verdana" panose="020B0604030504040204" pitchFamily="34" charset="0"/>
              </a:rPr>
              <a:t>career progression pathways</a:t>
            </a:r>
            <a:r>
              <a:rPr lang="en-US" sz="1100" dirty="0">
                <a:latin typeface="Verdana" panose="020B0604030504040204" pitchFamily="34" charset="0"/>
                <a:ea typeface="Verdana" panose="020B0604030504040204" pitchFamily="34" charset="0"/>
              </a:rPr>
              <a:t>, and balance compensation equity across educational backgrounds.</a:t>
            </a:r>
            <a:endParaRPr lang="en-ID" sz="1100" dirty="0">
              <a:latin typeface="Verdana" panose="020B0604030504040204" pitchFamily="34" charset="0"/>
              <a:ea typeface="Verdana" panose="020B0604030504040204" pitchFamily="34" charset="0"/>
            </a:endParaRPr>
          </a:p>
        </p:txBody>
      </p:sp>
      <p:pic>
        <p:nvPicPr>
          <p:cNvPr id="3" name="Picture 2">
            <a:extLst>
              <a:ext uri="{FF2B5EF4-FFF2-40B4-BE49-F238E27FC236}">
                <a16:creationId xmlns:a16="http://schemas.microsoft.com/office/drawing/2014/main" id="{F58EDC62-D994-4D64-AC6D-A6F35C13B62B}"/>
              </a:ext>
            </a:extLst>
          </p:cNvPr>
          <p:cNvPicPr>
            <a:picLocks noChangeAspect="1"/>
          </p:cNvPicPr>
          <p:nvPr/>
        </p:nvPicPr>
        <p:blipFill>
          <a:blip r:embed="rId3"/>
          <a:stretch>
            <a:fillRect/>
          </a:stretch>
        </p:blipFill>
        <p:spPr>
          <a:xfrm>
            <a:off x="87584" y="621865"/>
            <a:ext cx="4981029" cy="2703938"/>
          </a:xfrm>
          <a:prstGeom prst="rect">
            <a:avLst/>
          </a:prstGeom>
        </p:spPr>
      </p:pic>
      <p:sp>
        <p:nvSpPr>
          <p:cNvPr id="8" name="TextBox 7">
            <a:extLst>
              <a:ext uri="{FF2B5EF4-FFF2-40B4-BE49-F238E27FC236}">
                <a16:creationId xmlns:a16="http://schemas.microsoft.com/office/drawing/2014/main" id="{991CBF2A-A1E1-497F-84BB-7C4B12792952}"/>
              </a:ext>
            </a:extLst>
          </p:cNvPr>
          <p:cNvSpPr txBox="1"/>
          <p:nvPr/>
        </p:nvSpPr>
        <p:spPr>
          <a:xfrm>
            <a:off x="87585" y="3325803"/>
            <a:ext cx="4981029" cy="1785104"/>
          </a:xfrm>
          <a:prstGeom prst="rect">
            <a:avLst/>
          </a:prstGeom>
          <a:gradFill>
            <a:gsLst>
              <a:gs pos="4000">
                <a:srgbClr val="02FE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r>
              <a:rPr lang="en-US" sz="1000" b="1" dirty="0">
                <a:latin typeface="Verdana" panose="020B0604030504040204" pitchFamily="34" charset="0"/>
                <a:ea typeface="Verdana" panose="020B0604030504040204" pitchFamily="34" charset="0"/>
              </a:rPr>
              <a:t>Interpretation:</a:t>
            </a:r>
          </a:p>
          <a:p>
            <a:pPr marL="171450" indent="-171450" algn="just">
              <a:buFont typeface="Wingdings" panose="05000000000000000000" pitchFamily="2" charset="2"/>
              <a:buChar char="q"/>
            </a:pPr>
            <a:r>
              <a:rPr lang="en-US" sz="1000" dirty="0">
                <a:latin typeface="Verdana" panose="020B0604030504040204" pitchFamily="34" charset="0"/>
                <a:ea typeface="Verdana" panose="020B0604030504040204" pitchFamily="34" charset="0"/>
              </a:rPr>
              <a:t>A ratio of 1.0 means the average salary of bachelor’s degree (S1) employees is exactly equal to the overall company average.</a:t>
            </a:r>
          </a:p>
          <a:p>
            <a:pPr marL="171450" indent="-171450" algn="just">
              <a:buFont typeface="Wingdings" panose="05000000000000000000" pitchFamily="2" charset="2"/>
              <a:buChar char="q"/>
            </a:pPr>
            <a:r>
              <a:rPr lang="en-US" sz="1000" dirty="0">
                <a:latin typeface="Verdana" panose="020B0604030504040204" pitchFamily="34" charset="0"/>
                <a:ea typeface="Verdana" panose="020B0604030504040204" pitchFamily="34" charset="0"/>
              </a:rPr>
              <a:t>A ratio below 1.0 (e.g., 0.98 or 0.99) indicates that S1 salaries are slightly lower than the company average. This is common when most S1 employees are in entry-level or junior roles, while managerial positions (which raise the overall average) are held by master’s (S2) or doctoral (S3) graduates.</a:t>
            </a:r>
          </a:p>
          <a:p>
            <a:pPr marL="171450" indent="-171450" algn="just">
              <a:buFont typeface="Wingdings" panose="05000000000000000000" pitchFamily="2" charset="2"/>
              <a:buChar char="q"/>
            </a:pPr>
            <a:r>
              <a:rPr lang="en-US" sz="1000" dirty="0">
                <a:latin typeface="Verdana" panose="020B0604030504040204" pitchFamily="34" charset="0"/>
                <a:ea typeface="Verdana" panose="020B0604030504040204" pitchFamily="34" charset="0"/>
              </a:rPr>
              <a:t>The red dashed line on the chart acts as a benchmark, showing which education levels are over-indexed (above average pay) and which are under-indexed (below average pay).</a:t>
            </a:r>
            <a:endParaRPr lang="en-ID" sz="10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72229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181304" y="104792"/>
            <a:ext cx="1868213" cy="465083"/>
          </a:xfrm>
          <a:prstGeom prst="rect">
            <a:avLst/>
          </a:prstGeom>
        </p:spPr>
        <p:txBody>
          <a:bodyPr spcFirstLastPara="1" wrap="square" lIns="91425" tIns="91425" rIns="91425" bIns="91425" anchor="t" anchorCtr="0">
            <a:noAutofit/>
          </a:bodyPr>
          <a:lstStyle/>
          <a:p>
            <a:r>
              <a:rPr lang="en" sz="3200" dirty="0"/>
              <a:t>Analysis</a:t>
            </a:r>
            <a:endParaRPr sz="3200" dirty="0"/>
          </a:p>
        </p:txBody>
      </p:sp>
      <p:sp>
        <p:nvSpPr>
          <p:cNvPr id="2" name="Rectangle 1">
            <a:extLst>
              <a:ext uri="{FF2B5EF4-FFF2-40B4-BE49-F238E27FC236}">
                <a16:creationId xmlns:a16="http://schemas.microsoft.com/office/drawing/2014/main" id="{F88874C5-FDB8-4118-8DF2-FE15353B1873}"/>
              </a:ext>
            </a:extLst>
          </p:cNvPr>
          <p:cNvSpPr>
            <a:spLocks noChangeArrowheads="1"/>
          </p:cNvSpPr>
          <p:nvPr/>
        </p:nvSpPr>
        <p:spPr bwMode="auto">
          <a:xfrm>
            <a:off x="4642944" y="152993"/>
            <a:ext cx="4311545" cy="1924266"/>
          </a:xfrm>
          <a:prstGeom prst="rect">
            <a:avLst/>
          </a:prstGeom>
          <a:solidFill>
            <a:schemeClr val="tx1"/>
          </a:solidFill>
          <a:ln>
            <a:noFill/>
          </a:ln>
          <a:effec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ID" sz="1100" b="0" i="0" dirty="0">
                <a:solidFill>
                  <a:schemeClr val="bg1"/>
                </a:solidFill>
                <a:effectLst/>
                <a:latin typeface="Verdana" panose="020B0604030504040204" pitchFamily="34" charset="0"/>
                <a:ea typeface="Verdana" panose="020B0604030504040204" pitchFamily="34" charset="0"/>
              </a:rPr>
              <a:t>=== ANALISIS RASIO DAMPAK KERJA LEMBUR (OVERTIME IMPACT RATIO) === Tingkat Attrition pada </a:t>
            </a:r>
            <a:r>
              <a:rPr lang="en-ID" sz="1100" b="0" i="0" dirty="0" err="1">
                <a:solidFill>
                  <a:schemeClr val="bg1"/>
                </a:solidFill>
                <a:effectLst/>
                <a:latin typeface="Verdana" panose="020B0604030504040204" pitchFamily="34" charset="0"/>
                <a:ea typeface="Verdana" panose="020B0604030504040204" pitchFamily="34" charset="0"/>
              </a:rPr>
              <a:t>Karyawan</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Lembur</a:t>
            </a:r>
            <a:r>
              <a:rPr lang="en-ID" sz="1100" b="0" i="0" dirty="0">
                <a:solidFill>
                  <a:schemeClr val="bg1"/>
                </a:solidFill>
                <a:effectLst/>
                <a:latin typeface="Verdana" panose="020B0604030504040204" pitchFamily="34" charset="0"/>
                <a:ea typeface="Verdana" panose="020B0604030504040204" pitchFamily="34" charset="0"/>
              </a:rPr>
              <a:t> (Overtime = Yes) : 30.53% Tingkat Attrition pada </a:t>
            </a:r>
            <a:r>
              <a:rPr lang="en-ID" sz="1100" b="0" i="0" dirty="0" err="1">
                <a:solidFill>
                  <a:schemeClr val="bg1"/>
                </a:solidFill>
                <a:effectLst/>
                <a:latin typeface="Verdana" panose="020B0604030504040204" pitchFamily="34" charset="0"/>
                <a:ea typeface="Verdana" panose="020B0604030504040204" pitchFamily="34" charset="0"/>
              </a:rPr>
              <a:t>Karyawan</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Biasa</a:t>
            </a:r>
            <a:r>
              <a:rPr lang="en-ID" sz="1100" b="0" i="0" dirty="0">
                <a:solidFill>
                  <a:schemeClr val="bg1"/>
                </a:solidFill>
                <a:effectLst/>
                <a:latin typeface="Verdana" panose="020B0604030504040204" pitchFamily="34" charset="0"/>
                <a:ea typeface="Verdana" panose="020B0604030504040204" pitchFamily="34" charset="0"/>
              </a:rPr>
              <a:t> (Overtime = No) : 10.44% ------------------------------------------------------------------ </a:t>
            </a:r>
            <a:r>
              <a:rPr lang="en-ID" sz="1100" b="0" i="0" dirty="0" err="1">
                <a:solidFill>
                  <a:schemeClr val="bg1"/>
                </a:solidFill>
                <a:effectLst/>
                <a:latin typeface="Verdana" panose="020B0604030504040204" pitchFamily="34" charset="0"/>
                <a:ea typeface="Verdana" panose="020B0604030504040204" pitchFamily="34" charset="0"/>
              </a:rPr>
              <a:t>Rasio</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Dampak</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Kerja</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Lembur</a:t>
            </a:r>
            <a:r>
              <a:rPr lang="en-ID" sz="1100" b="0" i="0" dirty="0">
                <a:solidFill>
                  <a:schemeClr val="bg1"/>
                </a:solidFill>
                <a:effectLst/>
                <a:latin typeface="Verdana" panose="020B0604030504040204" pitchFamily="34" charset="0"/>
                <a:ea typeface="Verdana" panose="020B0604030504040204" pitchFamily="34" charset="0"/>
              </a:rPr>
              <a:t> (Overtime Impact Ratio) : 2.93x </a:t>
            </a:r>
            <a:r>
              <a:rPr lang="en-ID" sz="1100" b="0" i="0" dirty="0" err="1">
                <a:solidFill>
                  <a:schemeClr val="bg1"/>
                </a:solidFill>
                <a:effectLst/>
                <a:latin typeface="Verdana" panose="020B0604030504040204" pitchFamily="34" charset="0"/>
                <a:ea typeface="Verdana" panose="020B0604030504040204" pitchFamily="34" charset="0"/>
              </a:rPr>
              <a:t>Lipat</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Artinya</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Karyawan</a:t>
            </a:r>
            <a:r>
              <a:rPr lang="en-ID" sz="1100" b="0" i="0" dirty="0">
                <a:solidFill>
                  <a:schemeClr val="bg1"/>
                </a:solidFill>
                <a:effectLst/>
                <a:latin typeface="Verdana" panose="020B0604030504040204" pitchFamily="34" charset="0"/>
                <a:ea typeface="Verdana" panose="020B0604030504040204" pitchFamily="34" charset="0"/>
              </a:rPr>
              <a:t> yang </a:t>
            </a:r>
            <a:r>
              <a:rPr lang="en-ID" sz="1100" b="0" i="0" dirty="0" err="1">
                <a:solidFill>
                  <a:schemeClr val="bg1"/>
                </a:solidFill>
                <a:effectLst/>
                <a:latin typeface="Verdana" panose="020B0604030504040204" pitchFamily="34" charset="0"/>
                <a:ea typeface="Verdana" panose="020B0604030504040204" pitchFamily="34" charset="0"/>
              </a:rPr>
              <a:t>lembur</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memiliki</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risiko</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keluar</a:t>
            </a:r>
            <a:r>
              <a:rPr lang="en-ID" sz="1100" b="0" i="0" dirty="0">
                <a:solidFill>
                  <a:schemeClr val="bg1"/>
                </a:solidFill>
                <a:effectLst/>
                <a:latin typeface="Verdana" panose="020B0604030504040204" pitchFamily="34" charset="0"/>
                <a:ea typeface="Verdana" panose="020B0604030504040204" pitchFamily="34" charset="0"/>
              </a:rPr>
              <a:t> 2.9 kali </a:t>
            </a:r>
            <a:r>
              <a:rPr lang="en-ID" sz="1100" b="0" i="0" dirty="0" err="1">
                <a:solidFill>
                  <a:schemeClr val="bg1"/>
                </a:solidFill>
                <a:effectLst/>
                <a:latin typeface="Verdana" panose="020B0604030504040204" pitchFamily="34" charset="0"/>
                <a:ea typeface="Verdana" panose="020B0604030504040204" pitchFamily="34" charset="0"/>
              </a:rPr>
              <a:t>lebih</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besar</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dibandingkan</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dengan</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mereka</a:t>
            </a:r>
            <a:r>
              <a:rPr lang="en-ID" sz="1100" b="0" i="0" dirty="0">
                <a:solidFill>
                  <a:schemeClr val="bg1"/>
                </a:solidFill>
                <a:effectLst/>
                <a:latin typeface="Verdana" panose="020B0604030504040204" pitchFamily="34" charset="0"/>
                <a:ea typeface="Verdana" panose="020B0604030504040204" pitchFamily="34" charset="0"/>
              </a:rPr>
              <a:t> yang jam </a:t>
            </a:r>
            <a:r>
              <a:rPr lang="en-ID" sz="1100" b="0" i="0" dirty="0" err="1">
                <a:solidFill>
                  <a:schemeClr val="bg1"/>
                </a:solidFill>
                <a:effectLst/>
                <a:latin typeface="Verdana" panose="020B0604030504040204" pitchFamily="34" charset="0"/>
                <a:ea typeface="Verdana" panose="020B0604030504040204" pitchFamily="34" charset="0"/>
              </a:rPr>
              <a:t>kerjanya</a:t>
            </a:r>
            <a:r>
              <a:rPr lang="en-ID" sz="1100" b="0" i="0" dirty="0">
                <a:solidFill>
                  <a:schemeClr val="bg1"/>
                </a:solidFill>
                <a:effectLst/>
                <a:latin typeface="Verdana" panose="020B0604030504040204" pitchFamily="34" charset="0"/>
                <a:ea typeface="Verdana" panose="020B0604030504040204" pitchFamily="34" charset="0"/>
              </a:rPr>
              <a:t> normal. ==================================================================</a:t>
            </a:r>
            <a:endPar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7DA01983-74A7-41A9-B783-8C42F2FF10F1}"/>
              </a:ext>
            </a:extLst>
          </p:cNvPr>
          <p:cNvSpPr txBox="1"/>
          <p:nvPr/>
        </p:nvSpPr>
        <p:spPr>
          <a:xfrm>
            <a:off x="4587331" y="2225785"/>
            <a:ext cx="4382489" cy="1581587"/>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lnSpc>
                <a:spcPct val="150000"/>
              </a:lnSpc>
            </a:pPr>
            <a:r>
              <a:rPr lang="en-US" sz="1100" b="1" dirty="0">
                <a:latin typeface="Verdana" panose="020B0604030504040204" pitchFamily="34" charset="0"/>
                <a:ea typeface="Verdana" panose="020B0604030504040204" pitchFamily="34" charset="0"/>
              </a:rPr>
              <a:t>Interpretation</a:t>
            </a:r>
          </a:p>
          <a:p>
            <a:pPr algn="just">
              <a:lnSpc>
                <a:spcPct val="150000"/>
              </a:lnSpc>
            </a:pPr>
            <a:r>
              <a:rPr lang="en-US" sz="1100" dirty="0">
                <a:latin typeface="Verdana" panose="020B0604030504040204" pitchFamily="34" charset="0"/>
                <a:ea typeface="Verdana" panose="020B0604030504040204" pitchFamily="34" charset="0"/>
              </a:rPr>
              <a:t>ratio value of 2.93x — nearly threefold — indicates that overtime is not just a secondary factor but the most critical driver of employee attrition in IBM manufacturing. The data reveals a sharp increase in attrition, reaching 30.5% among employees with overtime workloads</a:t>
            </a:r>
            <a:endParaRPr lang="en-ID" sz="1100" dirty="0">
              <a:latin typeface="Verdana" panose="020B0604030504040204" pitchFamily="34" charset="0"/>
              <a:ea typeface="Verdana" panose="020B0604030504040204" pitchFamily="34" charset="0"/>
            </a:endParaRPr>
          </a:p>
        </p:txBody>
      </p:sp>
      <p:pic>
        <p:nvPicPr>
          <p:cNvPr id="7170" name="Picture 2">
            <a:extLst>
              <a:ext uri="{FF2B5EF4-FFF2-40B4-BE49-F238E27FC236}">
                <a16:creationId xmlns:a16="http://schemas.microsoft.com/office/drawing/2014/main" id="{EEB62610-1AA7-4D72-8EC2-27BF14D225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65" y="717332"/>
            <a:ext cx="4500506" cy="30900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F311933-0AB6-4914-A0C8-6121F6748D75}"/>
              </a:ext>
            </a:extLst>
          </p:cNvPr>
          <p:cNvSpPr txBox="1"/>
          <p:nvPr/>
        </p:nvSpPr>
        <p:spPr>
          <a:xfrm>
            <a:off x="79702" y="3965325"/>
            <a:ext cx="8953939" cy="1192634"/>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lnSpc>
                <a:spcPct val="150000"/>
              </a:lnSpc>
            </a:pPr>
            <a:r>
              <a:rPr lang="en-ID" sz="1100" b="1" dirty="0">
                <a:latin typeface="Verdana" panose="020B0604030504040204" pitchFamily="34" charset="0"/>
                <a:ea typeface="Verdana" panose="020B0604030504040204" pitchFamily="34" charset="0"/>
              </a:rPr>
              <a:t>Business Insight: </a:t>
            </a:r>
          </a:p>
          <a:p>
            <a:r>
              <a:rPr lang="en-US" sz="1100" b="1" dirty="0">
                <a:effectLst/>
                <a:latin typeface="Verdana" panose="020B0604030504040204" pitchFamily="34" charset="0"/>
                <a:ea typeface="Verdana" panose="020B0604030504040204" pitchFamily="34" charset="0"/>
              </a:rPr>
              <a:t>HR and operations management should treat overtime as a critical risk factor. </a:t>
            </a:r>
          </a:p>
          <a:p>
            <a:r>
              <a:rPr lang="en-US" sz="1100" b="1" dirty="0">
                <a:effectLst/>
                <a:latin typeface="Verdana" panose="020B0604030504040204" pitchFamily="34" charset="0"/>
                <a:ea typeface="Verdana" panose="020B0604030504040204" pitchFamily="34" charset="0"/>
              </a:rPr>
              <a:t>Recommended actions include:</a:t>
            </a:r>
            <a:endParaRPr lang="en-US" sz="1100"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US" sz="1100" b="1" dirty="0">
                <a:effectLst/>
                <a:latin typeface="Verdana" panose="020B0604030504040204" pitchFamily="34" charset="0"/>
                <a:ea typeface="Verdana" panose="020B0604030504040204" pitchFamily="34" charset="0"/>
              </a:rPr>
              <a:t>Setting monthly overtime limits</a:t>
            </a:r>
            <a:r>
              <a:rPr lang="en-US" sz="1100" dirty="0">
                <a:effectLst/>
                <a:latin typeface="Verdana" panose="020B0604030504040204" pitchFamily="34" charset="0"/>
                <a:ea typeface="Verdana" panose="020B0604030504040204" pitchFamily="34" charset="0"/>
              </a:rPr>
              <a:t> to prevent excessive workloads.</a:t>
            </a:r>
            <a:endParaRPr lang="en-US" sz="1100"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US" sz="1100" b="1" dirty="0">
                <a:effectLst/>
                <a:latin typeface="Verdana" panose="020B0604030504040204" pitchFamily="34" charset="0"/>
                <a:ea typeface="Verdana" panose="020B0604030504040204" pitchFamily="34" charset="0"/>
              </a:rPr>
              <a:t>Auditing overtime pay fairness</a:t>
            </a:r>
            <a:r>
              <a:rPr lang="en-US" sz="1100" dirty="0">
                <a:effectLst/>
                <a:latin typeface="Verdana" panose="020B0604030504040204" pitchFamily="34" charset="0"/>
                <a:ea typeface="Verdana" panose="020B0604030504040204" pitchFamily="34" charset="0"/>
              </a:rPr>
              <a:t> to ensure compensation aligns with effort.</a:t>
            </a:r>
            <a:endParaRPr lang="en-US" sz="1100"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US" sz="1100" b="1" dirty="0">
                <a:effectLst/>
                <a:latin typeface="Verdana" panose="020B0604030504040204" pitchFamily="34" charset="0"/>
                <a:ea typeface="Verdana" panose="020B0604030504040204" pitchFamily="34" charset="0"/>
              </a:rPr>
              <a:t>Implementing healthier shift rotations</a:t>
            </a:r>
            <a:r>
              <a:rPr lang="en-US" sz="1100" dirty="0">
                <a:effectLst/>
                <a:latin typeface="Verdana" panose="020B0604030504040204" pitchFamily="34" charset="0"/>
                <a:ea typeface="Verdana" panose="020B0604030504040204" pitchFamily="34" charset="0"/>
              </a:rPr>
              <a:t> to reduce burnout and maintain workforce stability</a:t>
            </a:r>
            <a:endParaRPr lang="en-US" sz="11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366640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204952" y="-43579"/>
            <a:ext cx="1868213" cy="594467"/>
          </a:xfrm>
          <a:prstGeom prst="rect">
            <a:avLst/>
          </a:prstGeom>
        </p:spPr>
        <p:txBody>
          <a:bodyPr spcFirstLastPara="1" wrap="square" lIns="91425" tIns="91425" rIns="91425" bIns="91425" anchor="t" anchorCtr="0">
            <a:noAutofit/>
          </a:bodyPr>
          <a:lstStyle/>
          <a:p>
            <a:r>
              <a:rPr lang="en" sz="3200" dirty="0"/>
              <a:t>Analysis</a:t>
            </a:r>
            <a:endParaRPr sz="3200" dirty="0"/>
          </a:p>
        </p:txBody>
      </p:sp>
      <p:sp>
        <p:nvSpPr>
          <p:cNvPr id="2" name="Rectangle 1">
            <a:extLst>
              <a:ext uri="{FF2B5EF4-FFF2-40B4-BE49-F238E27FC236}">
                <a16:creationId xmlns:a16="http://schemas.microsoft.com/office/drawing/2014/main" id="{F88874C5-FDB8-4118-8DF2-FE15353B1873}"/>
              </a:ext>
            </a:extLst>
          </p:cNvPr>
          <p:cNvSpPr>
            <a:spLocks noChangeArrowheads="1"/>
          </p:cNvSpPr>
          <p:nvPr/>
        </p:nvSpPr>
        <p:spPr bwMode="auto">
          <a:xfrm>
            <a:off x="4951099" y="155909"/>
            <a:ext cx="4067503" cy="1523494"/>
          </a:xfrm>
          <a:prstGeom prst="rect">
            <a:avLst/>
          </a:prstGeom>
          <a:solidFill>
            <a:schemeClr val="tx1"/>
          </a:solidFill>
          <a:ln>
            <a:noFill/>
          </a:ln>
          <a:effec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ID" sz="1100" b="0" i="0" dirty="0">
                <a:solidFill>
                  <a:schemeClr val="bg1"/>
                </a:solidFill>
                <a:effectLst/>
                <a:latin typeface="Verdana" panose="020B0604030504040204" pitchFamily="34" charset="0"/>
                <a:ea typeface="Verdana" panose="020B0604030504040204" pitchFamily="34" charset="0"/>
              </a:rPr>
              <a:t>=== ANALISIS STAGNASI KARIER &amp; TENURE (PROMOTION LAG) === Rata-rata Waktu </a:t>
            </a:r>
            <a:r>
              <a:rPr lang="en-ID" sz="1100" b="0" i="0" dirty="0" err="1">
                <a:solidFill>
                  <a:schemeClr val="bg1"/>
                </a:solidFill>
                <a:effectLst/>
                <a:latin typeface="Verdana" panose="020B0604030504040204" pitchFamily="34" charset="0"/>
                <a:ea typeface="Verdana" panose="020B0604030504040204" pitchFamily="34" charset="0"/>
              </a:rPr>
              <a:t>Karyawan</a:t>
            </a:r>
            <a:r>
              <a:rPr lang="en-ID" sz="1100" b="0" i="0" dirty="0">
                <a:solidFill>
                  <a:schemeClr val="bg1"/>
                </a:solidFill>
                <a:effectLst/>
                <a:latin typeface="Verdana" panose="020B0604030504040204" pitchFamily="34" charset="0"/>
                <a:ea typeface="Verdana" panose="020B0604030504040204" pitchFamily="34" charset="0"/>
              </a:rPr>
              <a:t> di </a:t>
            </a:r>
            <a:r>
              <a:rPr lang="en-ID" sz="1100" b="0" i="0" dirty="0" err="1">
                <a:solidFill>
                  <a:schemeClr val="bg1"/>
                </a:solidFill>
                <a:effectLst/>
                <a:latin typeface="Verdana" panose="020B0604030504040204" pitchFamily="34" charset="0"/>
                <a:ea typeface="Verdana" panose="020B0604030504040204" pitchFamily="34" charset="0"/>
              </a:rPr>
              <a:t>Posisi</a:t>
            </a:r>
            <a:r>
              <a:rPr lang="en-ID" sz="1100" b="0" i="0" dirty="0">
                <a:solidFill>
                  <a:schemeClr val="bg1"/>
                </a:solidFill>
                <a:effectLst/>
                <a:latin typeface="Verdana" panose="020B0604030504040204" pitchFamily="34" charset="0"/>
                <a:ea typeface="Verdana" panose="020B0604030504040204" pitchFamily="34" charset="0"/>
              </a:rPr>
              <a:t> yang Sama : 4.23 </a:t>
            </a:r>
            <a:r>
              <a:rPr lang="en-ID" sz="1100" b="0" i="0" dirty="0" err="1">
                <a:solidFill>
                  <a:schemeClr val="bg1"/>
                </a:solidFill>
                <a:effectLst/>
                <a:latin typeface="Verdana" panose="020B0604030504040204" pitchFamily="34" charset="0"/>
                <a:ea typeface="Verdana" panose="020B0604030504040204" pitchFamily="34" charset="0"/>
              </a:rPr>
              <a:t>Tahun</a:t>
            </a:r>
            <a:r>
              <a:rPr lang="en-ID" sz="1100" b="0" i="0" dirty="0">
                <a:solidFill>
                  <a:schemeClr val="bg1"/>
                </a:solidFill>
                <a:effectLst/>
                <a:latin typeface="Verdana" panose="020B0604030504040204" pitchFamily="34" charset="0"/>
                <a:ea typeface="Verdana" panose="020B0604030504040204" pitchFamily="34" charset="0"/>
              </a:rPr>
              <a:t> Rata-rata Waktu </a:t>
            </a:r>
            <a:r>
              <a:rPr lang="en-ID" sz="1100" b="0" i="0" dirty="0" err="1">
                <a:solidFill>
                  <a:schemeClr val="bg1"/>
                </a:solidFill>
                <a:effectLst/>
                <a:latin typeface="Verdana" panose="020B0604030504040204" pitchFamily="34" charset="0"/>
                <a:ea typeface="Verdana" panose="020B0604030504040204" pitchFamily="34" charset="0"/>
              </a:rPr>
              <a:t>Sejak</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Promosi</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Terakhir</a:t>
            </a:r>
            <a:r>
              <a:rPr lang="en-ID" sz="1100" b="0" i="0" dirty="0">
                <a:solidFill>
                  <a:schemeClr val="bg1"/>
                </a:solidFill>
                <a:effectLst/>
                <a:latin typeface="Verdana" panose="020B0604030504040204" pitchFamily="34" charset="0"/>
                <a:ea typeface="Verdana" panose="020B0604030504040204" pitchFamily="34" charset="0"/>
              </a:rPr>
              <a:t> : 2.19 </a:t>
            </a:r>
            <a:r>
              <a:rPr lang="en-ID" sz="1100" b="0" i="0" dirty="0" err="1">
                <a:solidFill>
                  <a:schemeClr val="bg1"/>
                </a:solidFill>
                <a:effectLst/>
                <a:latin typeface="Verdana" panose="020B0604030504040204" pitchFamily="34" charset="0"/>
                <a:ea typeface="Verdana" panose="020B0604030504040204" pitchFamily="34" charset="0"/>
              </a:rPr>
              <a:t>Tahun</a:t>
            </a:r>
            <a:r>
              <a:rPr lang="en-ID" sz="1100" b="0" i="0" dirty="0">
                <a:solidFill>
                  <a:schemeClr val="bg1"/>
                </a:solidFill>
                <a:effectLst/>
                <a:latin typeface="Verdana" panose="020B0604030504040204" pitchFamily="34" charset="0"/>
                <a:ea typeface="Verdana" panose="020B0604030504040204" pitchFamily="34" charset="0"/>
              </a:rPr>
              <a:t> ----------------------------------------------------------------- Detail </a:t>
            </a:r>
            <a:r>
              <a:rPr lang="en-ID" sz="1100" b="0" i="0" dirty="0" err="1">
                <a:solidFill>
                  <a:schemeClr val="bg1"/>
                </a:solidFill>
                <a:effectLst/>
                <a:latin typeface="Verdana" panose="020B0604030504040204" pitchFamily="34" charset="0"/>
                <a:ea typeface="Verdana" panose="020B0604030504040204" pitchFamily="34" charset="0"/>
              </a:rPr>
              <a:t>Perbandingan</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Berdasarkan</a:t>
            </a:r>
            <a:r>
              <a:rPr lang="en-ID" sz="1100" b="0" i="0" dirty="0">
                <a:solidFill>
                  <a:schemeClr val="bg1"/>
                </a:solidFill>
                <a:effectLst/>
                <a:latin typeface="Verdana" panose="020B0604030504040204" pitchFamily="34" charset="0"/>
                <a:ea typeface="Verdana" panose="020B0604030504040204" pitchFamily="34" charset="0"/>
              </a:rPr>
              <a:t> Attrition: Status Attrition Rata-rata </a:t>
            </a:r>
            <a:r>
              <a:rPr lang="en-ID" sz="1100" b="0" i="0" dirty="0" err="1">
                <a:solidFill>
                  <a:schemeClr val="bg1"/>
                </a:solidFill>
                <a:effectLst/>
                <a:latin typeface="Verdana" panose="020B0604030504040204" pitchFamily="34" charset="0"/>
                <a:ea typeface="Verdana" panose="020B0604030504040204" pitchFamily="34" charset="0"/>
              </a:rPr>
              <a:t>Tahun</a:t>
            </a:r>
            <a:r>
              <a:rPr lang="en-ID" sz="1100" b="0" i="0" dirty="0">
                <a:solidFill>
                  <a:schemeClr val="bg1"/>
                </a:solidFill>
                <a:effectLst/>
                <a:latin typeface="Verdana" panose="020B0604030504040204" pitchFamily="34" charset="0"/>
                <a:ea typeface="Verdana" panose="020B0604030504040204" pitchFamily="34" charset="0"/>
              </a:rPr>
              <a:t> di Peran </a:t>
            </a:r>
            <a:r>
              <a:rPr lang="en-ID" sz="1100" b="0" i="0" dirty="0" err="1">
                <a:solidFill>
                  <a:schemeClr val="bg1"/>
                </a:solidFill>
                <a:effectLst/>
                <a:latin typeface="Verdana" panose="020B0604030504040204" pitchFamily="34" charset="0"/>
                <a:ea typeface="Verdana" panose="020B0604030504040204" pitchFamily="34" charset="0"/>
              </a:rPr>
              <a:t>Saat</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Ini</a:t>
            </a:r>
            <a:r>
              <a:rPr lang="en-ID" sz="1100" b="0" i="0" dirty="0">
                <a:solidFill>
                  <a:schemeClr val="bg1"/>
                </a:solidFill>
                <a:effectLst/>
                <a:latin typeface="Verdana" panose="020B0604030504040204" pitchFamily="34" charset="0"/>
                <a:ea typeface="Verdana" panose="020B0604030504040204" pitchFamily="34" charset="0"/>
              </a:rPr>
              <a:t> Rata-rata </a:t>
            </a:r>
            <a:r>
              <a:rPr lang="en-ID" sz="1100" b="0" i="0" dirty="0" err="1">
                <a:solidFill>
                  <a:schemeClr val="bg1"/>
                </a:solidFill>
                <a:effectLst/>
                <a:latin typeface="Verdana" panose="020B0604030504040204" pitchFamily="34" charset="0"/>
                <a:ea typeface="Verdana" panose="020B0604030504040204" pitchFamily="34" charset="0"/>
              </a:rPr>
              <a:t>Tahun</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Sejak</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Promosi</a:t>
            </a:r>
            <a:r>
              <a:rPr lang="en-ID" sz="1100" b="0" i="0" dirty="0">
                <a:solidFill>
                  <a:schemeClr val="bg1"/>
                </a:solidFill>
                <a:effectLst/>
                <a:latin typeface="Verdana" panose="020B0604030504040204" pitchFamily="34" charset="0"/>
                <a:ea typeface="Verdana" panose="020B0604030504040204" pitchFamily="34" charset="0"/>
              </a:rPr>
              <a:t> </a:t>
            </a:r>
            <a:r>
              <a:rPr lang="en-ID" sz="1100" b="0" i="0" dirty="0" err="1">
                <a:solidFill>
                  <a:schemeClr val="bg1"/>
                </a:solidFill>
                <a:effectLst/>
                <a:latin typeface="Verdana" panose="020B0604030504040204" pitchFamily="34" charset="0"/>
                <a:ea typeface="Verdana" panose="020B0604030504040204" pitchFamily="34" charset="0"/>
              </a:rPr>
              <a:t>Terakhir</a:t>
            </a:r>
            <a:r>
              <a:rPr lang="en-ID" sz="1100" b="0" i="0" dirty="0">
                <a:solidFill>
                  <a:schemeClr val="bg1"/>
                </a:solidFill>
                <a:effectLst/>
                <a:latin typeface="Verdana" panose="020B0604030504040204" pitchFamily="34" charset="0"/>
                <a:ea typeface="Verdana" panose="020B0604030504040204" pitchFamily="34" charset="0"/>
              </a:rPr>
              <a:t> No 4.484185 2.234388 Yes 2.902954 1.945148</a:t>
            </a:r>
            <a:endParaRPr kumimoji="0" lang="en-US" altLang="en-US" sz="1100" b="0" i="0" u="none" strike="noStrike" cap="none" normalizeH="0" baseline="0" dirty="0">
              <a:ln>
                <a:noFill/>
              </a:ln>
              <a:solidFill>
                <a:schemeClr val="bg1"/>
              </a:solidFill>
              <a:effectLst/>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7DA01983-74A7-41A9-B783-8C42F2FF10F1}"/>
              </a:ext>
            </a:extLst>
          </p:cNvPr>
          <p:cNvSpPr txBox="1"/>
          <p:nvPr/>
        </p:nvSpPr>
        <p:spPr>
          <a:xfrm>
            <a:off x="74889" y="3409474"/>
            <a:ext cx="4816364" cy="1661993"/>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r>
              <a:rPr lang="en-ID" sz="1100" b="1" dirty="0">
                <a:latin typeface="Verdana" panose="020B0604030504040204" pitchFamily="34" charset="0"/>
                <a:ea typeface="Verdana" panose="020B0604030504040204" pitchFamily="34" charset="0"/>
              </a:rPr>
              <a:t>Business Insight: </a:t>
            </a:r>
          </a:p>
          <a:p>
            <a:pPr algn="just"/>
            <a:r>
              <a:rPr lang="en-US" sz="1100" dirty="0">
                <a:effectLst/>
                <a:latin typeface="Verdana" panose="020B0604030504040204" pitchFamily="34" charset="0"/>
                <a:ea typeface="Verdana" panose="020B0604030504040204" pitchFamily="34" charset="0"/>
              </a:rPr>
              <a:t>The key issue is </a:t>
            </a:r>
            <a:r>
              <a:rPr lang="en-US" sz="1100" b="1" dirty="0">
                <a:effectLst/>
                <a:latin typeface="Verdana" panose="020B0604030504040204" pitchFamily="34" charset="0"/>
                <a:ea typeface="Verdana" panose="020B0604030504040204" pitchFamily="34" charset="0"/>
              </a:rPr>
              <a:t>role adjustment in the first 2–3 years</a:t>
            </a:r>
            <a:r>
              <a:rPr lang="en-US" sz="1100" dirty="0">
                <a:effectLst/>
                <a:latin typeface="Verdana" panose="020B0604030504040204" pitchFamily="34" charset="0"/>
                <a:ea typeface="Verdana" panose="020B0604030504040204" pitchFamily="34" charset="0"/>
              </a:rPr>
              <a:t>, not long-term career stagnation. HR should focus on:</a:t>
            </a:r>
            <a:endParaRPr lang="en-US" sz="1100" dirty="0">
              <a:latin typeface="Verdana" panose="020B0604030504040204" pitchFamily="34" charset="0"/>
              <a:ea typeface="Verdana" panose="020B0604030504040204" pitchFamily="34" charset="0"/>
            </a:endParaRPr>
          </a:p>
          <a:p>
            <a:pPr marL="171450" indent="-171450" algn="just">
              <a:buFont typeface="Wingdings" panose="05000000000000000000" pitchFamily="2" charset="2"/>
              <a:buChar char="q"/>
            </a:pPr>
            <a:r>
              <a:rPr lang="en-US" sz="1100" b="1" dirty="0">
                <a:effectLst/>
                <a:latin typeface="Verdana" panose="020B0604030504040204" pitchFamily="34" charset="0"/>
                <a:ea typeface="Verdana" panose="020B0604030504040204" pitchFamily="34" charset="0"/>
              </a:rPr>
              <a:t>Strengthening mentorship programs</a:t>
            </a:r>
            <a:r>
              <a:rPr lang="en-US" sz="1100" dirty="0">
                <a:effectLst/>
                <a:latin typeface="Verdana" panose="020B0604030504040204" pitchFamily="34" charset="0"/>
                <a:ea typeface="Verdana" panose="020B0604030504040204" pitchFamily="34" charset="0"/>
              </a:rPr>
              <a:t> to support employees during early tenure.</a:t>
            </a:r>
            <a:endParaRPr lang="en-US" sz="1100" dirty="0">
              <a:latin typeface="Verdana" panose="020B0604030504040204" pitchFamily="34" charset="0"/>
              <a:ea typeface="Verdana" panose="020B0604030504040204" pitchFamily="34" charset="0"/>
            </a:endParaRPr>
          </a:p>
          <a:p>
            <a:pPr marL="171450" indent="-171450" algn="just">
              <a:buFont typeface="Wingdings" panose="05000000000000000000" pitchFamily="2" charset="2"/>
              <a:buChar char="q"/>
            </a:pPr>
            <a:r>
              <a:rPr lang="en-US" sz="1100" b="1" dirty="0">
                <a:effectLst/>
                <a:latin typeface="Verdana" panose="020B0604030504040204" pitchFamily="34" charset="0"/>
                <a:ea typeface="Verdana" panose="020B0604030504040204" pitchFamily="34" charset="0"/>
              </a:rPr>
              <a:t>Conducting job satisfaction reviews</a:t>
            </a:r>
            <a:r>
              <a:rPr lang="en-US" sz="1100" dirty="0">
                <a:effectLst/>
                <a:latin typeface="Verdana" panose="020B0604030504040204" pitchFamily="34" charset="0"/>
                <a:ea typeface="Verdana" panose="020B0604030504040204" pitchFamily="34" charset="0"/>
              </a:rPr>
              <a:t> around the mid-point of the second year.</a:t>
            </a:r>
            <a:endParaRPr lang="en-US" sz="1100" dirty="0">
              <a:latin typeface="Verdana" panose="020B0604030504040204" pitchFamily="34" charset="0"/>
              <a:ea typeface="Verdana" panose="020B0604030504040204" pitchFamily="34" charset="0"/>
            </a:endParaRPr>
          </a:p>
          <a:p>
            <a:pPr marL="171450" indent="-171450" algn="just">
              <a:buFont typeface="Wingdings" panose="05000000000000000000" pitchFamily="2" charset="2"/>
              <a:buChar char="q"/>
            </a:pPr>
            <a:r>
              <a:rPr lang="en-US" sz="1100" b="1" dirty="0">
                <a:effectLst/>
                <a:latin typeface="Verdana" panose="020B0604030504040204" pitchFamily="34" charset="0"/>
                <a:ea typeface="Verdana" panose="020B0604030504040204" pitchFamily="34" charset="0"/>
              </a:rPr>
              <a:t>Improving role onboarding and integration</a:t>
            </a:r>
            <a:r>
              <a:rPr lang="en-US" sz="1100" dirty="0">
                <a:effectLst/>
                <a:latin typeface="Verdana" panose="020B0604030504040204" pitchFamily="34" charset="0"/>
                <a:ea typeface="Verdana" panose="020B0604030504040204" pitchFamily="34" charset="0"/>
              </a:rPr>
              <a:t> to reduce early attrition risk</a:t>
            </a:r>
            <a:r>
              <a:rPr lang="en-US" sz="1400" dirty="0">
                <a:effectLst/>
              </a:rPr>
              <a:t>.</a:t>
            </a:r>
            <a:endParaRPr lang="en-ID" sz="1100" b="1" dirty="0">
              <a:latin typeface="Verdana" panose="020B0604030504040204" pitchFamily="34" charset="0"/>
              <a:ea typeface="Verdana" panose="020B0604030504040204" pitchFamily="34" charset="0"/>
            </a:endParaRPr>
          </a:p>
        </p:txBody>
      </p:sp>
      <p:pic>
        <p:nvPicPr>
          <p:cNvPr id="7172" name="Picture 4">
            <a:extLst>
              <a:ext uri="{FF2B5EF4-FFF2-40B4-BE49-F238E27FC236}">
                <a16:creationId xmlns:a16="http://schemas.microsoft.com/office/drawing/2014/main" id="{6D26C0F6-9C8B-4E40-B6AD-00EC614DF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398" y="550888"/>
            <a:ext cx="4816364" cy="285858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4CABA5B-BCA0-4B9B-B1D3-58656133FEEA}"/>
              </a:ext>
            </a:extLst>
          </p:cNvPr>
          <p:cNvSpPr txBox="1"/>
          <p:nvPr/>
        </p:nvSpPr>
        <p:spPr>
          <a:xfrm>
            <a:off x="5005552" y="1806399"/>
            <a:ext cx="4013050" cy="2308324"/>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r>
              <a:rPr lang="en-US" sz="1200" b="1" dirty="0">
                <a:latin typeface="Verdana" panose="020B0604030504040204" pitchFamily="34" charset="0"/>
                <a:ea typeface="Verdana" panose="020B0604030504040204" pitchFamily="34" charset="0"/>
              </a:rPr>
              <a:t>Interpretation</a:t>
            </a:r>
          </a:p>
          <a:p>
            <a:pPr marL="171450" indent="-171450" algn="just">
              <a:buFont typeface="Wingdings" panose="05000000000000000000" pitchFamily="2" charset="2"/>
              <a:buChar char="q"/>
            </a:pPr>
            <a:r>
              <a:rPr lang="en-US" sz="1100" dirty="0">
                <a:latin typeface="Verdana" panose="020B0604030504040204" pitchFamily="34" charset="0"/>
                <a:ea typeface="Verdana" panose="020B0604030504040204" pitchFamily="34" charset="0"/>
              </a:rPr>
              <a:t>Actual Role Tenure (</a:t>
            </a:r>
            <a:r>
              <a:rPr lang="en-US" sz="1100" dirty="0" err="1">
                <a:latin typeface="Verdana" panose="020B0604030504040204" pitchFamily="34" charset="0"/>
                <a:ea typeface="Verdana" panose="020B0604030504040204" pitchFamily="34" charset="0"/>
              </a:rPr>
              <a:t>YearsInCurrentRole</a:t>
            </a:r>
            <a:r>
              <a:rPr lang="en-US" sz="1100" dirty="0">
                <a:latin typeface="Verdana" panose="020B0604030504040204" pitchFamily="34" charset="0"/>
                <a:ea typeface="Verdana" panose="020B0604030504040204" pitchFamily="34" charset="0"/>
              </a:rPr>
              <a:t>): Employees who leave average 2.9 years in their current role, while those who stay average 4.5 years. This indicates early-tenure attrition, where turnover risk is highest in the 2nd–3rd year of a role not due to long term bored, but challenges in early adaptation.</a:t>
            </a:r>
          </a:p>
          <a:p>
            <a:pPr marL="171450" indent="-171450" algn="just">
              <a:buFont typeface="Wingdings" panose="05000000000000000000" pitchFamily="2" charset="2"/>
              <a:buChar char="q"/>
            </a:pPr>
            <a:r>
              <a:rPr lang="en-US" sz="1100" dirty="0">
                <a:latin typeface="Verdana" panose="020B0604030504040204" pitchFamily="34" charset="0"/>
                <a:ea typeface="Verdana" panose="020B0604030504040204" pitchFamily="34" charset="0"/>
              </a:rPr>
              <a:t>Promotion Gap (</a:t>
            </a:r>
            <a:r>
              <a:rPr lang="en-US" sz="1100" dirty="0" err="1">
                <a:latin typeface="Verdana" panose="020B0604030504040204" pitchFamily="34" charset="0"/>
                <a:ea typeface="Verdana" panose="020B0604030504040204" pitchFamily="34" charset="0"/>
              </a:rPr>
              <a:t>YearsSinceLastPromotion</a:t>
            </a:r>
            <a:r>
              <a:rPr lang="en-US" sz="1100" dirty="0">
                <a:latin typeface="Verdana" panose="020B0604030504040204" pitchFamily="34" charset="0"/>
                <a:ea typeface="Verdana" panose="020B0604030504040204" pitchFamily="34" charset="0"/>
              </a:rPr>
              <a:t>): Both groups show similar promotion wait times 2.2 years for those who stay versus 2.0 years for those who leave. This suggests that promotion delays are not the primary driver of attrition</a:t>
            </a:r>
            <a:endParaRPr lang="en-ID" sz="11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368095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181304" y="156782"/>
            <a:ext cx="1868213" cy="465083"/>
          </a:xfrm>
          <a:prstGeom prst="rect">
            <a:avLst/>
          </a:prstGeom>
        </p:spPr>
        <p:txBody>
          <a:bodyPr spcFirstLastPara="1" wrap="square" lIns="91425" tIns="91425" rIns="91425" bIns="91425" anchor="t" anchorCtr="0">
            <a:noAutofit/>
          </a:bodyPr>
          <a:lstStyle/>
          <a:p>
            <a:r>
              <a:rPr lang="en" sz="3200" dirty="0"/>
              <a:t>Analysis</a:t>
            </a:r>
            <a:endParaRPr sz="3200" dirty="0"/>
          </a:p>
        </p:txBody>
      </p:sp>
      <p:pic>
        <p:nvPicPr>
          <p:cNvPr id="8194" name="Picture 2">
            <a:extLst>
              <a:ext uri="{FF2B5EF4-FFF2-40B4-BE49-F238E27FC236}">
                <a16:creationId xmlns:a16="http://schemas.microsoft.com/office/drawing/2014/main" id="{F2C1DEAB-1D14-4B19-A631-42029C370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380" y="762269"/>
            <a:ext cx="7977351" cy="4297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636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2"/>
          <p:cNvSpPr txBox="1">
            <a:spLocks noGrp="1"/>
          </p:cNvSpPr>
          <p:nvPr>
            <p:ph type="title" idx="4294967295"/>
          </p:nvPr>
        </p:nvSpPr>
        <p:spPr>
          <a:xfrm>
            <a:off x="181304" y="156782"/>
            <a:ext cx="1868213" cy="465083"/>
          </a:xfrm>
          <a:prstGeom prst="rect">
            <a:avLst/>
          </a:prstGeom>
        </p:spPr>
        <p:txBody>
          <a:bodyPr spcFirstLastPara="1" wrap="square" lIns="91425" tIns="91425" rIns="91425" bIns="91425" anchor="t" anchorCtr="0">
            <a:noAutofit/>
          </a:bodyPr>
          <a:lstStyle/>
          <a:p>
            <a:r>
              <a:rPr lang="en" sz="3200" dirty="0"/>
              <a:t>Analysis</a:t>
            </a:r>
            <a:endParaRPr sz="3200" dirty="0"/>
          </a:p>
        </p:txBody>
      </p:sp>
      <p:sp>
        <p:nvSpPr>
          <p:cNvPr id="5" name="TextBox 4">
            <a:extLst>
              <a:ext uri="{FF2B5EF4-FFF2-40B4-BE49-F238E27FC236}">
                <a16:creationId xmlns:a16="http://schemas.microsoft.com/office/drawing/2014/main" id="{859FE66D-9E97-4956-A531-173D664F47A1}"/>
              </a:ext>
            </a:extLst>
          </p:cNvPr>
          <p:cNvSpPr txBox="1"/>
          <p:nvPr/>
        </p:nvSpPr>
        <p:spPr>
          <a:xfrm>
            <a:off x="181304" y="830319"/>
            <a:ext cx="3578772" cy="3647152"/>
          </a:xfrm>
          <a:prstGeom prst="rect">
            <a:avLst/>
          </a:prstGeom>
          <a:solidFill>
            <a:schemeClr val="tx1"/>
          </a:solidFill>
        </p:spPr>
        <p:txBody>
          <a:bodyPr wrap="square">
            <a:spAutoFit/>
          </a:bodyPr>
          <a:lstStyle/>
          <a:p>
            <a:r>
              <a:rPr lang="en-US" sz="1100" b="0" i="0" dirty="0">
                <a:solidFill>
                  <a:schemeClr val="bg1"/>
                </a:solidFill>
                <a:effectLst/>
                <a:latin typeface="Verdana" panose="020B0604030504040204" pitchFamily="34" charset="0"/>
                <a:ea typeface="Verdana" panose="020B0604030504040204" pitchFamily="34" charset="0"/>
              </a:rPr>
              <a:t>=== ANALISIS INCOME TO JOB LEVEL RATIO PER DEPARTEMEN === Department </a:t>
            </a:r>
            <a:r>
              <a:rPr lang="en-US" sz="1100" b="0" i="0" dirty="0" err="1">
                <a:solidFill>
                  <a:schemeClr val="bg1"/>
                </a:solidFill>
                <a:effectLst/>
                <a:latin typeface="Verdana" panose="020B0604030504040204" pitchFamily="34" charset="0"/>
                <a:ea typeface="Verdana" panose="020B0604030504040204" pitchFamily="34" charset="0"/>
              </a:rPr>
              <a:t>JobLevel</a:t>
            </a:r>
            <a:r>
              <a:rPr lang="en-US" sz="1100" b="0" i="0" dirty="0">
                <a:solidFill>
                  <a:schemeClr val="bg1"/>
                </a:solidFill>
                <a:effectLst/>
                <a:latin typeface="Verdana" panose="020B0604030504040204" pitchFamily="34" charset="0"/>
                <a:ea typeface="Verdana" panose="020B0604030504040204" pitchFamily="34" charset="0"/>
              </a:rPr>
              <a:t> </a:t>
            </a:r>
            <a:r>
              <a:rPr lang="en-US" sz="1100" b="0" i="0" dirty="0" err="1">
                <a:solidFill>
                  <a:schemeClr val="bg1"/>
                </a:solidFill>
                <a:effectLst/>
                <a:latin typeface="Verdana" panose="020B0604030504040204" pitchFamily="34" charset="0"/>
                <a:ea typeface="Verdana" panose="020B0604030504040204" pitchFamily="34" charset="0"/>
              </a:rPr>
              <a:t>MonthlyIncome</a:t>
            </a:r>
            <a:r>
              <a:rPr lang="en-US" sz="1100" b="0" i="0" dirty="0">
                <a:solidFill>
                  <a:schemeClr val="bg1"/>
                </a:solidFill>
                <a:effectLst/>
                <a:latin typeface="Verdana" panose="020B0604030504040204" pitchFamily="34" charset="0"/>
                <a:ea typeface="Verdana" panose="020B0604030504040204" pitchFamily="34" charset="0"/>
              </a:rPr>
              <a:t> </a:t>
            </a:r>
            <a:r>
              <a:rPr lang="en-US" sz="1100" b="0" i="0" dirty="0" err="1">
                <a:solidFill>
                  <a:schemeClr val="bg1"/>
                </a:solidFill>
                <a:effectLst/>
                <a:latin typeface="Verdana" panose="020B0604030504040204" pitchFamily="34" charset="0"/>
                <a:ea typeface="Verdana" panose="020B0604030504040204" pitchFamily="34" charset="0"/>
              </a:rPr>
              <a:t>Income_to_JobLevel_Ratio</a:t>
            </a:r>
            <a:r>
              <a:rPr lang="en-US" sz="1100" b="0" i="0" dirty="0">
                <a:solidFill>
                  <a:schemeClr val="bg1"/>
                </a:solidFill>
                <a:effectLst/>
                <a:latin typeface="Verdana" panose="020B0604030504040204" pitchFamily="34" charset="0"/>
                <a:ea typeface="Verdana" panose="020B0604030504040204" pitchFamily="34" charset="0"/>
              </a:rPr>
              <a:t> Human Resources 1 2,733.21 2,733.21 </a:t>
            </a:r>
          </a:p>
          <a:p>
            <a:r>
              <a:rPr lang="en-US" sz="1100" b="0" i="0" dirty="0">
                <a:solidFill>
                  <a:schemeClr val="bg1"/>
                </a:solidFill>
                <a:effectLst/>
                <a:latin typeface="Verdana" panose="020B0604030504040204" pitchFamily="34" charset="0"/>
                <a:ea typeface="Verdana" panose="020B0604030504040204" pitchFamily="34" charset="0"/>
              </a:rPr>
              <a:t>Human Resources 2 5,563.46 2,781.73</a:t>
            </a:r>
          </a:p>
          <a:p>
            <a:r>
              <a:rPr lang="en-US" sz="1100" b="0" i="0" dirty="0">
                <a:solidFill>
                  <a:schemeClr val="bg1"/>
                </a:solidFill>
                <a:effectLst/>
                <a:latin typeface="Verdana" panose="020B0604030504040204" pitchFamily="34" charset="0"/>
                <a:ea typeface="Verdana" panose="020B0604030504040204" pitchFamily="34" charset="0"/>
              </a:rPr>
              <a:t>Human Resources 3 9,623.00 3,207.67 </a:t>
            </a:r>
          </a:p>
          <a:p>
            <a:r>
              <a:rPr lang="en-US" sz="1100" b="0" i="0" dirty="0">
                <a:solidFill>
                  <a:schemeClr val="bg1"/>
                </a:solidFill>
                <a:effectLst/>
                <a:latin typeface="Verdana" panose="020B0604030504040204" pitchFamily="34" charset="0"/>
                <a:ea typeface="Verdana" panose="020B0604030504040204" pitchFamily="34" charset="0"/>
              </a:rPr>
              <a:t>Human Resources 4 16,147.50 4,036.88 Human Resources 5 19,197.86 3,839.57 Research &amp; Development 1 2,840.06 2,840.06 Research &amp; Development 2 5,291.24 2,645.62 Research &amp; Development 3 10,170.49 3,390.16 Research &amp; Development 4 15,634.68 3,908.67 Research &amp; Development 5 19,218.51 3,843.70 Sales 1 2,506.72 2,506.72 </a:t>
            </a:r>
          </a:p>
          <a:p>
            <a:r>
              <a:rPr lang="en-US" sz="1100" b="0" i="0" dirty="0">
                <a:solidFill>
                  <a:schemeClr val="bg1"/>
                </a:solidFill>
                <a:effectLst/>
                <a:latin typeface="Verdana" panose="020B0604030504040204" pitchFamily="34" charset="0"/>
                <a:ea typeface="Verdana" panose="020B0604030504040204" pitchFamily="34" charset="0"/>
              </a:rPr>
              <a:t>Sales 2 5,746.05 2,873.03 </a:t>
            </a:r>
          </a:p>
          <a:p>
            <a:r>
              <a:rPr lang="en-US" sz="1100" b="0" i="0" dirty="0">
                <a:solidFill>
                  <a:schemeClr val="bg1"/>
                </a:solidFill>
                <a:effectLst/>
                <a:latin typeface="Verdana" panose="020B0604030504040204" pitchFamily="34" charset="0"/>
                <a:ea typeface="Verdana" panose="020B0604030504040204" pitchFamily="34" charset="0"/>
              </a:rPr>
              <a:t>Sales 3 9,282.29 3,094.10 S</a:t>
            </a:r>
          </a:p>
          <a:p>
            <a:r>
              <a:rPr lang="en-US" sz="1100" b="0" i="0" dirty="0">
                <a:solidFill>
                  <a:schemeClr val="bg1"/>
                </a:solidFill>
                <a:effectLst/>
                <a:latin typeface="Verdana" panose="020B0604030504040204" pitchFamily="34" charset="0"/>
                <a:ea typeface="Verdana" panose="020B0604030504040204" pitchFamily="34" charset="0"/>
              </a:rPr>
              <a:t>ales 4 15,166.26 3,791.57 </a:t>
            </a:r>
          </a:p>
          <a:p>
            <a:r>
              <a:rPr lang="en-US" sz="1100" b="0" i="0" dirty="0">
                <a:solidFill>
                  <a:schemeClr val="bg1"/>
                </a:solidFill>
                <a:effectLst/>
                <a:latin typeface="Verdana" panose="020B0604030504040204" pitchFamily="34" charset="0"/>
                <a:ea typeface="Verdana" panose="020B0604030504040204" pitchFamily="34" charset="0"/>
              </a:rPr>
              <a:t>Sales 5 19,088.00 3,817.60 ========================================================= </a:t>
            </a:r>
            <a:br>
              <a:rPr lang="en-US" sz="1100" dirty="0">
                <a:solidFill>
                  <a:schemeClr val="bg1"/>
                </a:solidFill>
                <a:latin typeface="Verdana" panose="020B0604030504040204" pitchFamily="34" charset="0"/>
                <a:ea typeface="Verdana" panose="020B0604030504040204" pitchFamily="34" charset="0"/>
              </a:rPr>
            </a:br>
            <a:endParaRPr lang="en-ID" sz="1100" dirty="0">
              <a:solidFill>
                <a:schemeClr val="bg1"/>
              </a:solidFill>
              <a:latin typeface="Verdana" panose="020B0604030504040204" pitchFamily="34" charset="0"/>
              <a:ea typeface="Verdana" panose="020B0604030504040204" pitchFamily="34" charset="0"/>
            </a:endParaRPr>
          </a:p>
        </p:txBody>
      </p:sp>
      <p:sp>
        <p:nvSpPr>
          <p:cNvPr id="7" name="TextBox 6">
            <a:extLst>
              <a:ext uri="{FF2B5EF4-FFF2-40B4-BE49-F238E27FC236}">
                <a16:creationId xmlns:a16="http://schemas.microsoft.com/office/drawing/2014/main" id="{93C16932-316D-48CC-BC22-655A880010A5}"/>
              </a:ext>
            </a:extLst>
          </p:cNvPr>
          <p:cNvSpPr txBox="1"/>
          <p:nvPr/>
        </p:nvSpPr>
        <p:spPr>
          <a:xfrm>
            <a:off x="3838903" y="3720663"/>
            <a:ext cx="5234151" cy="1327671"/>
          </a:xfrm>
          <a:prstGeom prst="rect">
            <a:avLst/>
          </a:prstGeom>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nSpc>
                <a:spcPct val="150000"/>
              </a:lnSpc>
            </a:pPr>
            <a:r>
              <a:rPr lang="en-ID" sz="1100" b="1" dirty="0">
                <a:latin typeface="Verdana" panose="020B0604030504040204" pitchFamily="34" charset="0"/>
                <a:ea typeface="Verdana" panose="020B0604030504040204" pitchFamily="34" charset="0"/>
              </a:rPr>
              <a:t>Business Insight: </a:t>
            </a:r>
          </a:p>
          <a:p>
            <a:pPr algn="just">
              <a:lnSpc>
                <a:spcPct val="150000"/>
              </a:lnSpc>
            </a:pPr>
            <a:r>
              <a:rPr lang="en-US" sz="1100" dirty="0">
                <a:latin typeface="Verdana" panose="020B0604030504040204" pitchFamily="34" charset="0"/>
                <a:ea typeface="Verdana" panose="020B0604030504040204" pitchFamily="34" charset="0"/>
              </a:rPr>
              <a:t>HR and leadership teams should recognize that mid-level promotions deliver the strongest sense of reward for employees. At the same time, senior-level pay structures need review to ensure fairness and prevent inequity at the top</a:t>
            </a:r>
            <a:endParaRPr lang="en-ID" sz="1100" dirty="0">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39165FED-507D-42DD-8F1C-1FC20030533E}"/>
              </a:ext>
            </a:extLst>
          </p:cNvPr>
          <p:cNvSpPr txBox="1"/>
          <p:nvPr/>
        </p:nvSpPr>
        <p:spPr>
          <a:xfrm>
            <a:off x="3760075" y="95166"/>
            <a:ext cx="5312979" cy="3647152"/>
          </a:xfrm>
          <a:prstGeom prst="rect">
            <a:avLst/>
          </a:prstGeom>
          <a:noFill/>
        </p:spPr>
        <p:txBody>
          <a:bodyPr wrap="square">
            <a:spAutoFit/>
          </a:bodyPr>
          <a:lstStyle/>
          <a:p>
            <a:pPr algn="just"/>
            <a:r>
              <a:rPr lang="en-US" sz="1100" b="1" dirty="0">
                <a:highlight>
                  <a:srgbClr val="02FE50"/>
                </a:highlight>
                <a:latin typeface="Verdana" panose="020B0604030504040204" pitchFamily="34" charset="0"/>
                <a:ea typeface="Verdana" panose="020B0604030504040204" pitchFamily="34" charset="0"/>
              </a:rPr>
              <a:t>Key Finding – HR Department (Job Level 5)</a:t>
            </a:r>
          </a:p>
          <a:p>
            <a:pPr marL="171450" indent="-171450" algn="just">
              <a:buFont typeface="Wingdings" panose="05000000000000000000" pitchFamily="2" charset="2"/>
              <a:buChar char="q"/>
            </a:pPr>
            <a:r>
              <a:rPr lang="en-US" sz="1100" dirty="0">
                <a:latin typeface="Verdana" panose="020B0604030504040204" pitchFamily="34" charset="0"/>
                <a:ea typeface="Verdana" panose="020B0604030504040204" pitchFamily="34" charset="0"/>
              </a:rPr>
              <a:t>In Human Resources, the pay ratio at Job Level 4 is $4,036 per level, but at the highest level (Job Level 5) it drops to $3,839 per level.</a:t>
            </a:r>
          </a:p>
          <a:p>
            <a:pPr marL="171450" indent="-171450" algn="just">
              <a:buFont typeface="Wingdings" panose="05000000000000000000" pitchFamily="2" charset="2"/>
              <a:buChar char="q"/>
            </a:pPr>
            <a:r>
              <a:rPr lang="en-US" sz="1100" dirty="0">
                <a:latin typeface="Verdana" panose="020B0604030504040204" pitchFamily="34" charset="0"/>
                <a:ea typeface="Verdana" panose="020B0604030504040204" pitchFamily="34" charset="0"/>
              </a:rPr>
              <a:t>This means senior HR leaders (Senior Director/VP) are paid proportionally less for the extra responsibilities compared to Job Level 4. This reflects a clear case of internal inequity.</a:t>
            </a:r>
          </a:p>
          <a:p>
            <a:pPr algn="just"/>
            <a:endParaRPr lang="en-US" sz="1100" dirty="0">
              <a:latin typeface="Verdana" panose="020B0604030504040204" pitchFamily="34" charset="0"/>
              <a:ea typeface="Verdana" panose="020B0604030504040204" pitchFamily="34" charset="0"/>
            </a:endParaRPr>
          </a:p>
          <a:p>
            <a:pPr algn="just"/>
            <a:r>
              <a:rPr lang="en-US" sz="1100" b="1" dirty="0">
                <a:highlight>
                  <a:srgbClr val="02FE50"/>
                </a:highlight>
                <a:latin typeface="Verdana" panose="020B0604030504040204" pitchFamily="34" charset="0"/>
                <a:ea typeface="Verdana" panose="020B0604030504040204" pitchFamily="34" charset="0"/>
              </a:rPr>
              <a:t>Industry Pattern – U-Shaped Curve</a:t>
            </a:r>
          </a:p>
          <a:p>
            <a:pPr marL="171450" indent="-171450" algn="just">
              <a:buFont typeface="Wingdings" panose="05000000000000000000" pitchFamily="2" charset="2"/>
              <a:buChar char="q"/>
            </a:pPr>
            <a:r>
              <a:rPr lang="en-US" sz="1100" dirty="0">
                <a:latin typeface="Verdana" panose="020B0604030504040204" pitchFamily="34" charset="0"/>
                <a:ea typeface="Verdana" panose="020B0604030504040204" pitchFamily="34" charset="0"/>
              </a:rPr>
              <a:t>cross most departments (especially R&amp;D and Sales), pay ratios rise sharply at Job Levels 3 &amp; 4, then flatten or slightly decline at Job Level 5.</a:t>
            </a:r>
          </a:p>
          <a:p>
            <a:pPr marL="171450" indent="-171450" algn="just">
              <a:buFont typeface="Wingdings" panose="05000000000000000000" pitchFamily="2" charset="2"/>
              <a:buChar char="q"/>
            </a:pPr>
            <a:r>
              <a:rPr lang="en-US" sz="1100" dirty="0">
                <a:latin typeface="Verdana" panose="020B0604030504040204" pitchFamily="34" charset="0"/>
                <a:ea typeface="Verdana" panose="020B0604030504040204" pitchFamily="34" charset="0"/>
              </a:rPr>
              <a:t>This shows that the biggest compensation boost happens when employees move into upper-mid levels (3 &amp; 4), while top-level roles don’t always see proportional increases.</a:t>
            </a:r>
          </a:p>
          <a:p>
            <a:pPr marL="171450" indent="-171450" algn="just">
              <a:buFont typeface="Wingdings" panose="05000000000000000000" pitchFamily="2" charset="2"/>
              <a:buChar char="q"/>
            </a:pPr>
            <a:endParaRPr lang="en-US" sz="1100" dirty="0">
              <a:latin typeface="Verdana" panose="020B0604030504040204" pitchFamily="34" charset="0"/>
              <a:ea typeface="Verdana" panose="020B0604030504040204" pitchFamily="34" charset="0"/>
            </a:endParaRPr>
          </a:p>
          <a:p>
            <a:pPr algn="just"/>
            <a:r>
              <a:rPr lang="en-US" sz="1100" b="1" dirty="0">
                <a:highlight>
                  <a:srgbClr val="02FE50"/>
                </a:highlight>
                <a:latin typeface="Verdana" panose="020B0604030504040204" pitchFamily="34" charset="0"/>
                <a:ea typeface="Verdana" panose="020B0604030504040204" pitchFamily="34" charset="0"/>
              </a:rPr>
              <a:t>Strategic Insight</a:t>
            </a:r>
          </a:p>
          <a:p>
            <a:pPr marL="171450" indent="-171450" algn="just">
              <a:buFont typeface="Wingdings" panose="05000000000000000000" pitchFamily="2" charset="2"/>
              <a:buChar char="q"/>
            </a:pPr>
            <a:r>
              <a:rPr lang="en-US" sz="1100" dirty="0">
                <a:effectLst/>
                <a:latin typeface="Verdana" panose="020B0604030504040204" pitchFamily="34" charset="0"/>
                <a:ea typeface="Verdana" panose="020B0604030504040204" pitchFamily="34" charset="0"/>
              </a:rPr>
              <a:t>Review senior-level pay structures to ensure fairness.</a:t>
            </a:r>
            <a:endParaRPr lang="en-US" sz="1100" dirty="0">
              <a:latin typeface="Verdana" panose="020B0604030504040204" pitchFamily="34" charset="0"/>
              <a:ea typeface="Verdana" panose="020B0604030504040204" pitchFamily="34" charset="0"/>
            </a:endParaRPr>
          </a:p>
          <a:p>
            <a:pPr marL="171450" indent="-171450" algn="just">
              <a:buFont typeface="Wingdings" panose="05000000000000000000" pitchFamily="2" charset="2"/>
              <a:buChar char="q"/>
            </a:pPr>
            <a:r>
              <a:rPr lang="en-US" sz="1100" dirty="0">
                <a:effectLst/>
                <a:latin typeface="Verdana" panose="020B0604030504040204" pitchFamily="34" charset="0"/>
                <a:ea typeface="Verdana" panose="020B0604030504040204" pitchFamily="34" charset="0"/>
              </a:rPr>
              <a:t>Leverage mid-level promotions as key motivators.</a:t>
            </a:r>
            <a:endParaRPr lang="en-US" sz="1100" dirty="0">
              <a:latin typeface="Verdana" panose="020B0604030504040204" pitchFamily="34" charset="0"/>
              <a:ea typeface="Verdana" panose="020B0604030504040204" pitchFamily="34" charset="0"/>
            </a:endParaRPr>
          </a:p>
          <a:p>
            <a:pPr marL="171450" indent="-171450" algn="just">
              <a:buFont typeface="Wingdings" panose="05000000000000000000" pitchFamily="2" charset="2"/>
              <a:buChar char="q"/>
            </a:pPr>
            <a:r>
              <a:rPr lang="en-US" sz="1100" dirty="0">
                <a:effectLst/>
                <a:latin typeface="Verdana" panose="020B0604030504040204" pitchFamily="34" charset="0"/>
                <a:ea typeface="Verdana" panose="020B0604030504040204" pitchFamily="34" charset="0"/>
              </a:rPr>
              <a:t>Align compensation with responsibility to prevent inequity and disengagement.</a:t>
            </a:r>
            <a:endParaRPr lang="en-US" sz="1100" dirty="0">
              <a:latin typeface="Verdana" panose="020B0604030504040204" pitchFamily="34" charset="0"/>
              <a:ea typeface="Verdana" panose="020B0604030504040204" pitchFamily="34" charset="0"/>
            </a:endParaRPr>
          </a:p>
          <a:p>
            <a:pPr algn="just"/>
            <a:endParaRPr lang="en-ID" sz="11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4822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3"/>
          <p:cNvSpPr txBox="1">
            <a:spLocks noGrp="1"/>
          </p:cNvSpPr>
          <p:nvPr>
            <p:ph type="title" idx="4294967295"/>
          </p:nvPr>
        </p:nvSpPr>
        <p:spPr>
          <a:xfrm>
            <a:off x="165538" y="68084"/>
            <a:ext cx="6865938" cy="554654"/>
          </a:xfrm>
          <a:prstGeom prst="rect">
            <a:avLst/>
          </a:prstGeom>
        </p:spPr>
        <p:txBody>
          <a:bodyPr spcFirstLastPara="1" wrap="square" lIns="91425" tIns="91425" rIns="91425" bIns="91425" anchor="t" anchorCtr="0">
            <a:noAutofit/>
          </a:bodyPr>
          <a:lstStyle/>
          <a:p>
            <a:r>
              <a:rPr lang="en" sz="3200" dirty="0"/>
              <a:t>Insight Summary</a:t>
            </a:r>
            <a:endParaRPr sz="3200" dirty="0"/>
          </a:p>
        </p:txBody>
      </p:sp>
      <p:graphicFrame>
        <p:nvGraphicFramePr>
          <p:cNvPr id="2" name="Table 2">
            <a:extLst>
              <a:ext uri="{FF2B5EF4-FFF2-40B4-BE49-F238E27FC236}">
                <a16:creationId xmlns:a16="http://schemas.microsoft.com/office/drawing/2014/main" id="{5B809685-8EA9-4A7F-82C0-A959D7720DA3}"/>
              </a:ext>
            </a:extLst>
          </p:cNvPr>
          <p:cNvGraphicFramePr>
            <a:graphicFrameLocks noGrp="1"/>
          </p:cNvGraphicFramePr>
          <p:nvPr>
            <p:extLst>
              <p:ext uri="{D42A27DB-BD31-4B8C-83A1-F6EECF244321}">
                <p14:modId xmlns:p14="http://schemas.microsoft.com/office/powerpoint/2010/main" val="3351422638"/>
              </p:ext>
            </p:extLst>
          </p:nvPr>
        </p:nvGraphicFramePr>
        <p:xfrm>
          <a:off x="165538" y="622738"/>
          <a:ext cx="8734096" cy="5338724"/>
        </p:xfrm>
        <a:graphic>
          <a:graphicData uri="http://schemas.openxmlformats.org/drawingml/2006/table">
            <a:tbl>
              <a:tblPr firstRow="1" bandRow="1">
                <a:tableStyleId>{5C22544A-7EE6-4342-B048-85BDC9FD1C3A}</a:tableStyleId>
              </a:tblPr>
              <a:tblGrid>
                <a:gridCol w="1347952">
                  <a:extLst>
                    <a:ext uri="{9D8B030D-6E8A-4147-A177-3AD203B41FA5}">
                      <a16:colId xmlns:a16="http://schemas.microsoft.com/office/drawing/2014/main" val="3788354366"/>
                    </a:ext>
                  </a:extLst>
                </a:gridCol>
                <a:gridCol w="1426779">
                  <a:extLst>
                    <a:ext uri="{9D8B030D-6E8A-4147-A177-3AD203B41FA5}">
                      <a16:colId xmlns:a16="http://schemas.microsoft.com/office/drawing/2014/main" val="483615804"/>
                    </a:ext>
                  </a:extLst>
                </a:gridCol>
                <a:gridCol w="2443655">
                  <a:extLst>
                    <a:ext uri="{9D8B030D-6E8A-4147-A177-3AD203B41FA5}">
                      <a16:colId xmlns:a16="http://schemas.microsoft.com/office/drawing/2014/main" val="2561014547"/>
                    </a:ext>
                  </a:extLst>
                </a:gridCol>
                <a:gridCol w="3515710">
                  <a:extLst>
                    <a:ext uri="{9D8B030D-6E8A-4147-A177-3AD203B41FA5}">
                      <a16:colId xmlns:a16="http://schemas.microsoft.com/office/drawing/2014/main" val="3828180848"/>
                    </a:ext>
                  </a:extLst>
                </a:gridCol>
              </a:tblGrid>
              <a:tr h="355244">
                <a:tc>
                  <a:txBody>
                    <a:bodyPr/>
                    <a:lstStyle/>
                    <a:p>
                      <a:pPr algn="ctr"/>
                      <a:r>
                        <a:rPr lang="en-US" sz="1100" dirty="0">
                          <a:solidFill>
                            <a:schemeClr val="tx1"/>
                          </a:solidFill>
                          <a:latin typeface="Verdana" panose="020B0604030504040204" pitchFamily="34" charset="0"/>
                          <a:ea typeface="Verdana" panose="020B0604030504040204" pitchFamily="34" charset="0"/>
                        </a:rPr>
                        <a:t>Indicator</a:t>
                      </a:r>
                      <a:endParaRPr lang="en-ID" sz="1100" dirty="0">
                        <a:solidFill>
                          <a:schemeClr val="tx1"/>
                        </a:solidFill>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US" sz="1100" dirty="0">
                          <a:solidFill>
                            <a:schemeClr val="tx1"/>
                          </a:solidFill>
                          <a:latin typeface="Verdana" panose="020B0604030504040204" pitchFamily="34" charset="0"/>
                          <a:ea typeface="Verdana" panose="020B0604030504040204" pitchFamily="34" charset="0"/>
                        </a:rPr>
                        <a:t>Data</a:t>
                      </a:r>
                      <a:endParaRPr lang="en-ID" sz="1100" dirty="0">
                        <a:solidFill>
                          <a:schemeClr val="tx1"/>
                        </a:solidFill>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US" sz="1100" dirty="0">
                          <a:solidFill>
                            <a:schemeClr val="tx1"/>
                          </a:solidFill>
                          <a:latin typeface="Verdana" panose="020B0604030504040204" pitchFamily="34" charset="0"/>
                          <a:ea typeface="Verdana" panose="020B0604030504040204" pitchFamily="34" charset="0"/>
                        </a:rPr>
                        <a:t>Insight</a:t>
                      </a:r>
                      <a:endParaRPr lang="en-ID" sz="1100" dirty="0">
                        <a:solidFill>
                          <a:schemeClr val="tx1"/>
                        </a:solidFill>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US" sz="1100" dirty="0" err="1">
                          <a:solidFill>
                            <a:schemeClr val="tx1"/>
                          </a:solidFill>
                          <a:latin typeface="Verdana" panose="020B0604030504040204" pitchFamily="34" charset="0"/>
                          <a:ea typeface="Verdana" panose="020B0604030504040204" pitchFamily="34" charset="0"/>
                        </a:rPr>
                        <a:t>Recomendation</a:t>
                      </a:r>
                      <a:endParaRPr lang="en-ID" sz="1100" dirty="0">
                        <a:solidFill>
                          <a:schemeClr val="tx1"/>
                        </a:solidFill>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19063977"/>
                  </a:ext>
                </a:extLst>
              </a:tr>
              <a:tr h="355244">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1100" b="0" dirty="0">
                          <a:effectLst/>
                          <a:latin typeface="Verdana" panose="020B0604030504040204" pitchFamily="34" charset="0"/>
                          <a:ea typeface="Verdana" panose="020B0604030504040204" pitchFamily="34" charset="0"/>
                          <a:cs typeface="Times New Roman" panose="02020603050405020304" pitchFamily="18" charset="0"/>
                        </a:rPr>
                        <a:t>Attrition Rate</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1100" b="1" dirty="0">
                          <a:effectLst/>
                          <a:latin typeface="Verdana" panose="020B0604030504040204" pitchFamily="34" charset="0"/>
                          <a:ea typeface="Verdana" panose="020B0604030504040204" pitchFamily="34" charset="0"/>
                          <a:cs typeface="Times New Roman" panose="02020603050405020304" pitchFamily="18" charset="0"/>
                        </a:rPr>
                        <a:t>(status: Alert)</a:t>
                      </a:r>
                      <a:endParaRPr lang="en-ID" sz="1100" dirty="0">
                        <a:effectLst/>
                        <a:latin typeface="Verdana" panose="020B0604030504040204" pitchFamily="34" charset="0"/>
                        <a:ea typeface="Verdana" panose="020B0604030504040204" pitchFamily="34" charset="0"/>
                        <a:cs typeface="Times New Roman" panose="02020603050405020304" pitchFamily="18" charset="0"/>
                      </a:endParaRPr>
                    </a:p>
                    <a:p>
                      <a:pPr algn="just"/>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latin typeface="Verdana" panose="020B0604030504040204" pitchFamily="34" charset="0"/>
                          <a:ea typeface="Verdana" panose="020B0604030504040204" pitchFamily="34" charset="0"/>
                        </a:rPr>
                        <a:t>16.12% (Company target $\le 10\%$</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latin typeface="Verdana" panose="020B0604030504040204" pitchFamily="34" charset="0"/>
                          <a:ea typeface="Verdana" panose="020B0604030504040204" pitchFamily="34" charset="0"/>
                        </a:rPr>
                        <a:t>The corporation is losing talent too rapidly and is currently operating in the retention danger zone.</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latin typeface="Verdana" panose="020B0604030504040204" pitchFamily="34" charset="0"/>
                          <a:ea typeface="Verdana" panose="020B0604030504040204" pitchFamily="34" charset="0"/>
                        </a:rPr>
                        <a:t>Compensation adjustments or performance-based incentives should be targeted at high-risk roles such as Sales Representatives and Laboratory Technicians to mitigate early-career attrition</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198760873"/>
                  </a:ext>
                </a:extLst>
              </a:tr>
              <a:tr h="355244">
                <a:tc>
                  <a:txBody>
                    <a:bodyPr/>
                    <a:lstStyle/>
                    <a:p>
                      <a:pPr algn="just"/>
                      <a:r>
                        <a:rPr lang="en-ID" sz="1100" dirty="0">
                          <a:latin typeface="Verdana" panose="020B0604030504040204" pitchFamily="34" charset="0"/>
                          <a:ea typeface="Verdana" panose="020B0604030504040204" pitchFamily="34" charset="0"/>
                        </a:rPr>
                        <a:t>Critical Turnover Window (ELV)</a:t>
                      </a: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Terminated employees leave at an average of </a:t>
                      </a:r>
                      <a:r>
                        <a:rPr lang="en-US" sz="1100" b="1" dirty="0"/>
                        <a:t>5.13 years</a:t>
                      </a:r>
                      <a:r>
                        <a:rPr lang="en-US" sz="1100" dirty="0"/>
                        <a:t>, while retained employees stay for </a:t>
                      </a:r>
                      <a:r>
                        <a:rPr lang="en-US" sz="1100" b="1" dirty="0"/>
                        <a:t>7.37 years</a:t>
                      </a:r>
                      <a:r>
                        <a:rPr lang="en-US" sz="1100" dirty="0"/>
                        <a:t>.</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b="1" dirty="0"/>
                        <a:t>Year 5 is the critical drop-off point.</a:t>
                      </a:r>
                      <a:r>
                        <a:rPr lang="en-US" sz="1100" dirty="0"/>
                        <a:t> Retention interventions must be tightened before employees hit this tenure threshold.</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125955995"/>
                  </a:ext>
                </a:extLst>
              </a:tr>
              <a:tr h="421958">
                <a:tc>
                  <a:txBody>
                    <a:bodyPr/>
                    <a:lstStyle/>
                    <a:p>
                      <a:pPr algn="just"/>
                      <a:r>
                        <a:rPr lang="en-US" sz="1100" dirty="0"/>
                        <a:t>Distance from Home (Commute Threshold)</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The average commute distance for employees who resigned is </a:t>
                      </a:r>
                      <a:r>
                        <a:rPr lang="en-US" sz="1100" b="1" dirty="0"/>
                        <a:t>10.63 km</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Commutes exceeding 10 km trigger high physical fatigue and act as a highly sensitive turnover catalyst.</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marL="171450" indent="-171450" algn="just">
                        <a:buFont typeface="Wingdings" panose="05000000000000000000" pitchFamily="2" charset="2"/>
                        <a:buChar char="q"/>
                      </a:pPr>
                      <a:r>
                        <a:rPr lang="en-US" sz="1100" dirty="0">
                          <a:latin typeface="Verdana" panose="020B0604030504040204" pitchFamily="34" charset="0"/>
                          <a:ea typeface="Verdana" panose="020B0604030504040204" pitchFamily="34" charset="0"/>
                        </a:rPr>
                        <a:t>Use the 10 km commute threshold as a benchmark for transport subsidies or shuttle services.</a:t>
                      </a:r>
                    </a:p>
                    <a:p>
                      <a:pPr marL="171450" indent="-171450" algn="just">
                        <a:buFont typeface="Wingdings" panose="05000000000000000000" pitchFamily="2" charset="2"/>
                        <a:buChar char="q"/>
                      </a:pPr>
                      <a:r>
                        <a:rPr lang="en-US" sz="1100" dirty="0">
                          <a:latin typeface="Verdana" panose="020B0604030504040204" pitchFamily="34" charset="0"/>
                          <a:ea typeface="Verdana" panose="020B0604030504040204" pitchFamily="34" charset="0"/>
                        </a:rPr>
                        <a:t>Explore flexible work arrangements where operationally feasible to reduce logistical strain</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567749130"/>
                  </a:ext>
                </a:extLst>
              </a:tr>
              <a:tr h="355244">
                <a:tc>
                  <a:txBody>
                    <a:bodyPr/>
                    <a:lstStyle/>
                    <a:p>
                      <a:pPr algn="just"/>
                      <a:r>
                        <a:rPr lang="en-ID" sz="1100" dirty="0"/>
                        <a:t>Bachelor's Salary Competitiveness Ratio</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Ratio of </a:t>
                      </a:r>
                      <a:r>
                        <a:rPr lang="en-US" sz="1100" b="1" dirty="0"/>
                        <a:t>1.02</a:t>
                      </a:r>
                      <a:r>
                        <a:rPr lang="en-US" sz="1100" dirty="0"/>
                        <a:t> (Bachelor's degrees earn 2% more than the company average)</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Pay for Bachelor’s graduates is internally competitive. The root cause of attrition lies in workload or positioning rather than education-level pay gaps</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0097189"/>
                  </a:ext>
                </a:extLst>
              </a:tr>
              <a:tr h="355244">
                <a:tc>
                  <a:txBody>
                    <a:bodyPr/>
                    <a:lstStyle/>
                    <a:p>
                      <a:pPr algn="just"/>
                      <a:r>
                        <a:rPr lang="en-ID" sz="1100" dirty="0"/>
                        <a:t>Overtime Impact</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Attrition risk surges </a:t>
                      </a:r>
                      <a:r>
                        <a:rPr lang="en-US" sz="1100" b="1" dirty="0"/>
                        <a:t>2.93x higher</a:t>
                      </a:r>
                      <a:r>
                        <a:rPr lang="en-US" sz="1100" dirty="0"/>
                        <a:t> for employees who work overtime</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b="1" dirty="0"/>
                        <a:t>The primary driver of burnout.</a:t>
                      </a:r>
                      <a:r>
                        <a:rPr lang="en-US" sz="1100" dirty="0"/>
                        <a:t> Management must immediately audit workload distribution and scale back excessive overtime.</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latin typeface="Verdana" panose="020B0604030504040204" pitchFamily="34" charset="0"/>
                          <a:ea typeface="Verdana" panose="020B0604030504040204" pitchFamily="34" charset="0"/>
                        </a:rPr>
                        <a:t>Since overtime increases turnover risk up to 30.5%, the company should audit workloads, distribute tasks more evenly, or add part-time/contract staff when production capacity rises</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93015194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3"/>
          <p:cNvSpPr txBox="1">
            <a:spLocks noGrp="1"/>
          </p:cNvSpPr>
          <p:nvPr>
            <p:ph type="title" idx="4294967295"/>
          </p:nvPr>
        </p:nvSpPr>
        <p:spPr>
          <a:xfrm>
            <a:off x="165538" y="68084"/>
            <a:ext cx="6865938" cy="554654"/>
          </a:xfrm>
          <a:prstGeom prst="rect">
            <a:avLst/>
          </a:prstGeom>
        </p:spPr>
        <p:txBody>
          <a:bodyPr spcFirstLastPara="1" wrap="square" lIns="91425" tIns="91425" rIns="91425" bIns="91425" anchor="t" anchorCtr="0">
            <a:noAutofit/>
          </a:bodyPr>
          <a:lstStyle/>
          <a:p>
            <a:r>
              <a:rPr lang="en" sz="3200" dirty="0"/>
              <a:t>Insight Summary</a:t>
            </a:r>
            <a:endParaRPr sz="3200" dirty="0"/>
          </a:p>
        </p:txBody>
      </p:sp>
      <p:graphicFrame>
        <p:nvGraphicFramePr>
          <p:cNvPr id="2" name="Table 2">
            <a:extLst>
              <a:ext uri="{FF2B5EF4-FFF2-40B4-BE49-F238E27FC236}">
                <a16:creationId xmlns:a16="http://schemas.microsoft.com/office/drawing/2014/main" id="{5B809685-8EA9-4A7F-82C0-A959D7720DA3}"/>
              </a:ext>
            </a:extLst>
          </p:cNvPr>
          <p:cNvGraphicFramePr>
            <a:graphicFrameLocks noGrp="1"/>
          </p:cNvGraphicFramePr>
          <p:nvPr>
            <p:extLst>
              <p:ext uri="{D42A27DB-BD31-4B8C-83A1-F6EECF244321}">
                <p14:modId xmlns:p14="http://schemas.microsoft.com/office/powerpoint/2010/main" val="1690248555"/>
              </p:ext>
            </p:extLst>
          </p:nvPr>
        </p:nvGraphicFramePr>
        <p:xfrm>
          <a:off x="204952" y="756745"/>
          <a:ext cx="8734096" cy="4226204"/>
        </p:xfrm>
        <a:graphic>
          <a:graphicData uri="http://schemas.openxmlformats.org/drawingml/2006/table">
            <a:tbl>
              <a:tblPr firstRow="1" bandRow="1">
                <a:tableStyleId>{5C22544A-7EE6-4342-B048-85BDC9FD1C3A}</a:tableStyleId>
              </a:tblPr>
              <a:tblGrid>
                <a:gridCol w="1347952">
                  <a:extLst>
                    <a:ext uri="{9D8B030D-6E8A-4147-A177-3AD203B41FA5}">
                      <a16:colId xmlns:a16="http://schemas.microsoft.com/office/drawing/2014/main" val="3788354366"/>
                    </a:ext>
                  </a:extLst>
                </a:gridCol>
                <a:gridCol w="2554013">
                  <a:extLst>
                    <a:ext uri="{9D8B030D-6E8A-4147-A177-3AD203B41FA5}">
                      <a16:colId xmlns:a16="http://schemas.microsoft.com/office/drawing/2014/main" val="483615804"/>
                    </a:ext>
                  </a:extLst>
                </a:gridCol>
                <a:gridCol w="2648607">
                  <a:extLst>
                    <a:ext uri="{9D8B030D-6E8A-4147-A177-3AD203B41FA5}">
                      <a16:colId xmlns:a16="http://schemas.microsoft.com/office/drawing/2014/main" val="2561014547"/>
                    </a:ext>
                  </a:extLst>
                </a:gridCol>
                <a:gridCol w="2183524">
                  <a:extLst>
                    <a:ext uri="{9D8B030D-6E8A-4147-A177-3AD203B41FA5}">
                      <a16:colId xmlns:a16="http://schemas.microsoft.com/office/drawing/2014/main" val="3828180848"/>
                    </a:ext>
                  </a:extLst>
                </a:gridCol>
              </a:tblGrid>
              <a:tr h="355244">
                <a:tc>
                  <a:txBody>
                    <a:bodyPr/>
                    <a:lstStyle/>
                    <a:p>
                      <a:pPr algn="ctr"/>
                      <a:r>
                        <a:rPr lang="en-US" sz="1100" b="1" dirty="0">
                          <a:solidFill>
                            <a:schemeClr val="tx1"/>
                          </a:solidFill>
                          <a:latin typeface="Verdana" panose="020B0604030504040204" pitchFamily="34" charset="0"/>
                          <a:ea typeface="Verdana" panose="020B0604030504040204" pitchFamily="34" charset="0"/>
                        </a:rPr>
                        <a:t>Indicator</a:t>
                      </a:r>
                      <a:endParaRPr lang="en-ID" sz="1100" b="1" dirty="0">
                        <a:solidFill>
                          <a:schemeClr val="tx1"/>
                        </a:solidFill>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US" sz="1100" b="1" dirty="0">
                          <a:solidFill>
                            <a:schemeClr val="tx1"/>
                          </a:solidFill>
                          <a:latin typeface="Verdana" panose="020B0604030504040204" pitchFamily="34" charset="0"/>
                          <a:ea typeface="Verdana" panose="020B0604030504040204" pitchFamily="34" charset="0"/>
                        </a:rPr>
                        <a:t>Data</a:t>
                      </a:r>
                      <a:endParaRPr lang="en-ID" sz="1100" b="1" dirty="0">
                        <a:solidFill>
                          <a:schemeClr val="tx1"/>
                        </a:solidFill>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US" sz="1100" b="1" dirty="0">
                          <a:solidFill>
                            <a:schemeClr val="tx1"/>
                          </a:solidFill>
                          <a:latin typeface="Verdana" panose="020B0604030504040204" pitchFamily="34" charset="0"/>
                          <a:ea typeface="Verdana" panose="020B0604030504040204" pitchFamily="34" charset="0"/>
                        </a:rPr>
                        <a:t>Insight</a:t>
                      </a:r>
                      <a:endParaRPr lang="en-ID" sz="1100" b="1" dirty="0">
                        <a:solidFill>
                          <a:schemeClr val="tx1"/>
                        </a:solidFill>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en-US" sz="1100" b="1" dirty="0" err="1">
                          <a:solidFill>
                            <a:schemeClr val="tx1"/>
                          </a:solidFill>
                          <a:latin typeface="Verdana" panose="020B0604030504040204" pitchFamily="34" charset="0"/>
                          <a:ea typeface="Verdana" panose="020B0604030504040204" pitchFamily="34" charset="0"/>
                        </a:rPr>
                        <a:t>Recomendation</a:t>
                      </a:r>
                      <a:endParaRPr lang="en-ID" sz="1100" b="1" dirty="0">
                        <a:solidFill>
                          <a:schemeClr val="tx1"/>
                        </a:solidFill>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19063977"/>
                  </a:ext>
                </a:extLst>
              </a:tr>
              <a:tr h="355244">
                <a:tc>
                  <a:txBody>
                    <a:bodyPr/>
                    <a:lstStyle/>
                    <a:p>
                      <a:pPr algn="just"/>
                      <a:r>
                        <a:rPr lang="en-ID" sz="1100" dirty="0"/>
                        <a:t>Career Stagnation (Promotion Lag)</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Employees spend an average of </a:t>
                      </a:r>
                      <a:r>
                        <a:rPr lang="en-US" sz="1100" b="1" dirty="0"/>
                        <a:t>4.23 years</a:t>
                      </a:r>
                      <a:r>
                        <a:rPr lang="en-US" sz="1100" dirty="0"/>
                        <a:t> in the same role, with a promotion lag of </a:t>
                      </a:r>
                      <a:r>
                        <a:rPr lang="en-US" sz="1100" b="1" dirty="0"/>
                        <a:t>2.19 years</a:t>
                      </a:r>
                      <a:r>
                        <a:rPr lang="en-US" sz="1100" dirty="0"/>
                        <a:t>.</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Talents are experiencing role fatigue and feeling stuck in a routine due to prolonged stagnation in the exact same position.</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latin typeface="Verdana" panose="020B0604030504040204" pitchFamily="34" charset="0"/>
                          <a:ea typeface="Verdana" panose="020B0604030504040204" pitchFamily="34" charset="0"/>
                        </a:rPr>
                        <a:t>High turnover under certain managers signals the need for people management training for supervisors to improve workplace comfort and retention.</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631391149"/>
                  </a:ext>
                </a:extLst>
              </a:tr>
              <a:tr h="355244">
                <a:tc>
                  <a:txBody>
                    <a:bodyPr/>
                    <a:lstStyle/>
                    <a:p>
                      <a:pPr algn="just"/>
                      <a:r>
                        <a:rPr lang="en-US" sz="1100" dirty="0"/>
                        <a:t>Pay vs. Responsibility Anomaly (Income to Job Level Ratio)</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Internal compensation inequities were detected at the </a:t>
                      </a:r>
                      <a:r>
                        <a:rPr lang="en-US" sz="1100" b="1" dirty="0"/>
                        <a:t>highest organizational tier (Job Level 5)</a:t>
                      </a:r>
                      <a:r>
                        <a:rPr lang="en-US" sz="1100" dirty="0"/>
                        <a:t> across two departments HR and R&amp;D</a:t>
                      </a:r>
                    </a:p>
                    <a:p>
                      <a:pPr algn="just"/>
                      <a:endParaRPr lang="en-US" sz="1100" dirty="0"/>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marL="171450" indent="-171450" algn="just">
                        <a:buFont typeface="Wingdings" panose="05000000000000000000" pitchFamily="2" charset="2"/>
                        <a:buChar char="q"/>
                      </a:pPr>
                      <a:r>
                        <a:rPr lang="en-US" sz="1100" b="1" dirty="0"/>
                        <a:t>Human Resources (HR):</a:t>
                      </a:r>
                      <a:r>
                        <a:rPr lang="en-US" sz="1100" dirty="0"/>
                        <a:t> </a:t>
                      </a:r>
                      <a:r>
                        <a:rPr lang="en-US" sz="1100" b="1" dirty="0"/>
                        <a:t>Primary Anomaly.</a:t>
                      </a:r>
                      <a:r>
                        <a:rPr lang="en-US" sz="1100" dirty="0"/>
                        <a:t> Level 4 pay ($4,036/level) is proportionally higher than Level 5 pay ($3,839/level). HR Directors are effectively underpaid relative to their burden of responsibility.</a:t>
                      </a:r>
                    </a:p>
                    <a:p>
                      <a:pPr marL="171450" indent="-171450" algn="just">
                        <a:buFont typeface="Wingdings" panose="05000000000000000000" pitchFamily="2" charset="2"/>
                        <a:buChar char="q"/>
                      </a:pPr>
                      <a:r>
                        <a:rPr lang="en-US" sz="1100" b="1" dirty="0"/>
                        <a:t>Research &amp; Development (R&amp;D):</a:t>
                      </a:r>
                      <a:r>
                        <a:rPr lang="en-US" sz="1100" dirty="0"/>
                        <a:t> </a:t>
                      </a:r>
                      <a:r>
                        <a:rPr lang="en-US" sz="1100" b="1" dirty="0"/>
                        <a:t>Secondary Anomaly.</a:t>
                      </a:r>
                      <a:r>
                        <a:rPr lang="en-US" sz="1100" dirty="0"/>
                        <a:t> Exhibits a similar inverted pattern, where Level 5 ratio ($3,843/level) drops below Level 4 ($3,908/level).</a:t>
                      </a:r>
                    </a:p>
                    <a:p>
                      <a:pPr marL="171450" indent="-171450" algn="just">
                        <a:buFont typeface="Wingdings" panose="05000000000000000000" pitchFamily="2" charset="2"/>
                        <a:buChar char="q"/>
                      </a:pPr>
                      <a:r>
                        <a:rPr lang="en-US" sz="1100" b="1" dirty="0"/>
                        <a:t>Sales:</a:t>
                      </a:r>
                      <a:r>
                        <a:rPr lang="en-US" sz="1100" dirty="0"/>
                        <a:t> </a:t>
                      </a:r>
                      <a:r>
                        <a:rPr lang="en-US" sz="1100" b="1" dirty="0"/>
                        <a:t>Stable &amp; Healthy.</a:t>
                      </a:r>
                      <a:r>
                        <a:rPr lang="en-US" sz="1100" dirty="0"/>
                        <a:t> Compensation grows linearly and equitably with each step up the job level ladder.</a:t>
                      </a:r>
                    </a:p>
                    <a:p>
                      <a:pPr algn="just"/>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tc>
                  <a:txBody>
                    <a:bodyPr/>
                    <a:lstStyle/>
                    <a:p>
                      <a:pPr algn="just"/>
                      <a:r>
                        <a:rPr lang="en-US" sz="1100" dirty="0"/>
                        <a:t>Execute an immediate </a:t>
                      </a:r>
                      <a:r>
                        <a:rPr lang="en-US" sz="1100" b="1" dirty="0"/>
                        <a:t>Compensation Review for Job Level 5 within the HR and R&amp;D divisions</a:t>
                      </a:r>
                      <a:r>
                        <a:rPr lang="en-US" sz="1100" dirty="0"/>
                        <a:t> to mitigate the severe risk of top-leadership attrition.</a:t>
                      </a:r>
                      <a:endParaRPr lang="en-ID" sz="1100" dirty="0">
                        <a:latin typeface="Verdana" panose="020B0604030504040204" pitchFamily="34" charset="0"/>
                        <a:ea typeface="Verdana" panose="020B0604030504040204" pitchFamily="34" charset="0"/>
                      </a:endParaRPr>
                    </a:p>
                  </a:txBody>
                  <a:tcPr>
                    <a:gradFill>
                      <a:gsLst>
                        <a:gs pos="16856">
                          <a:srgbClr val="31F85B"/>
                        </a:gs>
                        <a:gs pos="39910">
                          <a:srgbClr val="84EE6F"/>
                        </a:gs>
                        <a:gs pos="0">
                          <a:srgbClr val="02FE50"/>
                        </a:gs>
                        <a:gs pos="74000">
                          <a:schemeClr val="accent1">
                            <a:lumMod val="45000"/>
                            <a:lumOff val="55000"/>
                          </a:schemeClr>
                        </a:gs>
                        <a:gs pos="62375">
                          <a:srgbClr val="D5E382"/>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072335916"/>
                  </a:ext>
                </a:extLst>
              </a:tr>
            </a:tbl>
          </a:graphicData>
        </a:graphic>
      </p:graphicFrame>
    </p:spTree>
    <p:extLst>
      <p:ext uri="{BB962C8B-B14F-4D97-AF65-F5344CB8AC3E}">
        <p14:creationId xmlns:p14="http://schemas.microsoft.com/office/powerpoint/2010/main" val="2822446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843798FE-0196-4CFE-8AB9-31202C7EB5A9}"/>
              </a:ext>
            </a:extLst>
          </p:cNvPr>
          <p:cNvGraphicFramePr>
            <a:graphicFrameLocks noGrp="1"/>
          </p:cNvGraphicFramePr>
          <p:nvPr>
            <p:extLst>
              <p:ext uri="{D42A27DB-BD31-4B8C-83A1-F6EECF244321}">
                <p14:modId xmlns:p14="http://schemas.microsoft.com/office/powerpoint/2010/main" val="3783503307"/>
              </p:ext>
            </p:extLst>
          </p:nvPr>
        </p:nvGraphicFramePr>
        <p:xfrm>
          <a:off x="212835" y="1010691"/>
          <a:ext cx="8757746" cy="3907317"/>
        </p:xfrm>
        <a:graphic>
          <a:graphicData uri="http://schemas.openxmlformats.org/drawingml/2006/table">
            <a:tbl>
              <a:tblPr firstRow="1" bandRow="1">
                <a:tableStyleId>{5C22544A-7EE6-4342-B048-85BDC9FD1C3A}</a:tableStyleId>
              </a:tblPr>
              <a:tblGrid>
                <a:gridCol w="1585650">
                  <a:extLst>
                    <a:ext uri="{9D8B030D-6E8A-4147-A177-3AD203B41FA5}">
                      <a16:colId xmlns:a16="http://schemas.microsoft.com/office/drawing/2014/main" val="2552253940"/>
                    </a:ext>
                  </a:extLst>
                </a:gridCol>
                <a:gridCol w="1083433">
                  <a:extLst>
                    <a:ext uri="{9D8B030D-6E8A-4147-A177-3AD203B41FA5}">
                      <a16:colId xmlns:a16="http://schemas.microsoft.com/office/drawing/2014/main" val="3509001787"/>
                    </a:ext>
                  </a:extLst>
                </a:gridCol>
                <a:gridCol w="6088663">
                  <a:extLst>
                    <a:ext uri="{9D8B030D-6E8A-4147-A177-3AD203B41FA5}">
                      <a16:colId xmlns:a16="http://schemas.microsoft.com/office/drawing/2014/main" val="629269768"/>
                    </a:ext>
                  </a:extLst>
                </a:gridCol>
              </a:tblGrid>
              <a:tr h="345937">
                <a:tc>
                  <a:txBody>
                    <a:bodyPr/>
                    <a:lstStyle/>
                    <a:p>
                      <a:pPr algn="ctr">
                        <a:lnSpc>
                          <a:spcPct val="150000"/>
                        </a:lnSpc>
                      </a:pPr>
                      <a:r>
                        <a:rPr lang="en-US" dirty="0">
                          <a:solidFill>
                            <a:schemeClr val="tx1"/>
                          </a:solidFill>
                          <a:latin typeface="Verdana" panose="020B0604030504040204" pitchFamily="34" charset="0"/>
                          <a:ea typeface="Verdana" panose="020B0604030504040204" pitchFamily="34" charset="0"/>
                        </a:rPr>
                        <a:t>Indicator</a:t>
                      </a:r>
                      <a:endParaRPr lang="en-ID" dirty="0">
                        <a:solidFill>
                          <a:schemeClr val="tx1"/>
                        </a:solidFill>
                        <a:latin typeface="Verdana" panose="020B0604030504040204" pitchFamily="34" charset="0"/>
                        <a:ea typeface="Verdana" panose="020B0604030504040204" pitchFamily="34" charset="0"/>
                      </a:endParaRP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lnSpc>
                          <a:spcPct val="150000"/>
                        </a:lnSpc>
                      </a:pPr>
                      <a:r>
                        <a:rPr lang="en-US" dirty="0">
                          <a:solidFill>
                            <a:schemeClr val="tx1"/>
                          </a:solidFill>
                          <a:latin typeface="Verdana" panose="020B0604030504040204" pitchFamily="34" charset="0"/>
                          <a:ea typeface="Verdana" panose="020B0604030504040204" pitchFamily="34" charset="0"/>
                        </a:rPr>
                        <a:t>Priority</a:t>
                      </a:r>
                      <a:endParaRPr lang="en-ID" dirty="0">
                        <a:solidFill>
                          <a:schemeClr val="tx1"/>
                        </a:solidFill>
                        <a:latin typeface="Verdana" panose="020B0604030504040204" pitchFamily="34" charset="0"/>
                        <a:ea typeface="Verdana" panose="020B0604030504040204" pitchFamily="34" charset="0"/>
                      </a:endParaRP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lnSpc>
                          <a:spcPct val="150000"/>
                        </a:lnSpc>
                      </a:pPr>
                      <a:r>
                        <a:rPr lang="en-US" dirty="0" err="1">
                          <a:solidFill>
                            <a:schemeClr val="tx1"/>
                          </a:solidFill>
                          <a:latin typeface="Verdana" panose="020B0604030504040204" pitchFamily="34" charset="0"/>
                          <a:ea typeface="Verdana" panose="020B0604030504040204" pitchFamily="34" charset="0"/>
                        </a:rPr>
                        <a:t>Recomendation</a:t>
                      </a:r>
                      <a:endParaRPr lang="en-ID" dirty="0">
                        <a:solidFill>
                          <a:schemeClr val="tx1"/>
                        </a:solidFill>
                        <a:latin typeface="Verdana" panose="020B0604030504040204" pitchFamily="34" charset="0"/>
                        <a:ea typeface="Verdana" panose="020B0604030504040204" pitchFamily="34" charset="0"/>
                      </a:endParaRP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235231841"/>
                  </a:ext>
                </a:extLst>
              </a:tr>
              <a:tr h="947047">
                <a:tc>
                  <a:txBody>
                    <a:bodyPr/>
                    <a:lstStyle/>
                    <a:p>
                      <a:pPr algn="just">
                        <a:lnSpc>
                          <a:spcPct val="150000"/>
                        </a:lnSpc>
                      </a:pPr>
                      <a:r>
                        <a:rPr lang="en-ID" dirty="0">
                          <a:solidFill>
                            <a:schemeClr val="tx1"/>
                          </a:solidFill>
                          <a:latin typeface="Verdana" panose="020B0604030504040204" pitchFamily="34" charset="0"/>
                          <a:ea typeface="Verdana" panose="020B0604030504040204" pitchFamily="34" charset="0"/>
                        </a:rPr>
                        <a:t>Burnout Mitigation</a:t>
                      </a: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lnSpc>
                          <a:spcPct val="150000"/>
                        </a:lnSpc>
                      </a:pPr>
                      <a:r>
                        <a:rPr lang="en-US" dirty="0">
                          <a:solidFill>
                            <a:schemeClr val="tx1"/>
                          </a:solidFill>
                          <a:latin typeface="Verdana" panose="020B0604030504040204" pitchFamily="34" charset="0"/>
                          <a:ea typeface="Verdana" panose="020B0604030504040204" pitchFamily="34" charset="0"/>
                        </a:rPr>
                        <a:t>1</a:t>
                      </a:r>
                      <a:endParaRPr lang="en-ID" dirty="0">
                        <a:solidFill>
                          <a:schemeClr val="tx1"/>
                        </a:solidFill>
                        <a:latin typeface="Verdana" panose="020B0604030504040204" pitchFamily="34" charset="0"/>
                        <a:ea typeface="Verdana" panose="020B0604030504040204" pitchFamily="34" charset="0"/>
                      </a:endParaRP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lang="en-ID" sz="1400" dirty="0" err="1">
                          <a:solidFill>
                            <a:schemeClr val="tx1"/>
                          </a:solidFill>
                          <a:latin typeface="Verdana" panose="020B0604030504040204" pitchFamily="34" charset="0"/>
                          <a:ea typeface="Verdana" panose="020B0604030504040204" pitchFamily="34" charset="0"/>
                        </a:rPr>
                        <a:t>Batasi</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kuota</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lembur</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bulanan</a:t>
                      </a:r>
                      <a:r>
                        <a:rPr lang="en-ID" sz="1400" dirty="0">
                          <a:solidFill>
                            <a:schemeClr val="tx1"/>
                          </a:solidFill>
                          <a:latin typeface="Verdana" panose="020B0604030504040204" pitchFamily="34" charset="0"/>
                          <a:ea typeface="Verdana" panose="020B0604030504040204" pitchFamily="34" charset="0"/>
                        </a:rPr>
                        <a:t> per </a:t>
                      </a:r>
                      <a:r>
                        <a:rPr lang="en-ID" sz="1400" dirty="0" err="1">
                          <a:solidFill>
                            <a:schemeClr val="tx1"/>
                          </a:solidFill>
                          <a:latin typeface="Verdana" panose="020B0604030504040204" pitchFamily="34" charset="0"/>
                          <a:ea typeface="Verdana" panose="020B0604030504040204" pitchFamily="34" charset="0"/>
                        </a:rPr>
                        <a:t>karyawan</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terutama</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bagi</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mereka</a:t>
                      </a:r>
                      <a:r>
                        <a:rPr lang="en-ID" sz="1400" dirty="0">
                          <a:solidFill>
                            <a:schemeClr val="tx1"/>
                          </a:solidFill>
                          <a:latin typeface="Verdana" panose="020B0604030504040204" pitchFamily="34" charset="0"/>
                          <a:ea typeface="Verdana" panose="020B0604030504040204" pitchFamily="34" charset="0"/>
                        </a:rPr>
                        <a:t> yang </a:t>
                      </a:r>
                      <a:r>
                        <a:rPr lang="en-ID" sz="1400" dirty="0" err="1">
                          <a:solidFill>
                            <a:schemeClr val="tx1"/>
                          </a:solidFill>
                          <a:latin typeface="Verdana" panose="020B0604030504040204" pitchFamily="34" charset="0"/>
                          <a:ea typeface="Verdana" panose="020B0604030504040204" pitchFamily="34" charset="0"/>
                        </a:rPr>
                        <a:t>memiliki</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metrik</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logistik</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kritis</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jarak</a:t>
                      </a:r>
                      <a:r>
                        <a:rPr lang="en-ID" sz="1400" dirty="0">
                          <a:solidFill>
                            <a:schemeClr val="tx1"/>
                          </a:solidFill>
                          <a:latin typeface="Verdana" panose="020B0604030504040204" pitchFamily="34" charset="0"/>
                          <a:ea typeface="Verdana" panose="020B0604030504040204" pitchFamily="34" charset="0"/>
                        </a:rPr>
                        <a:t> </a:t>
                      </a:r>
                      <a:r>
                        <a:rPr lang="en-ID" sz="1400" dirty="0" err="1">
                          <a:solidFill>
                            <a:schemeClr val="tx1"/>
                          </a:solidFill>
                          <a:latin typeface="Verdana" panose="020B0604030504040204" pitchFamily="34" charset="0"/>
                          <a:ea typeface="Verdana" panose="020B0604030504040204" pitchFamily="34" charset="0"/>
                        </a:rPr>
                        <a:t>rumah</a:t>
                      </a:r>
                      <a:r>
                        <a:rPr lang="en-ID" sz="1400" dirty="0">
                          <a:solidFill>
                            <a:schemeClr val="tx1"/>
                          </a:solidFill>
                          <a:latin typeface="Verdana" panose="020B0604030504040204" pitchFamily="34" charset="0"/>
                          <a:ea typeface="Verdana" panose="020B0604030504040204" pitchFamily="34" charset="0"/>
                        </a:rPr>
                        <a:t> &gt; 10.63 km).</a:t>
                      </a: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960638616"/>
                  </a:ext>
                </a:extLst>
              </a:tr>
              <a:tr h="1247602">
                <a:tc>
                  <a:txBody>
                    <a:bodyPr/>
                    <a:lstStyle/>
                    <a:p>
                      <a:pPr algn="just">
                        <a:lnSpc>
                          <a:spcPct val="150000"/>
                        </a:lnSpc>
                      </a:pPr>
                      <a:r>
                        <a:rPr lang="en-ID" dirty="0">
                          <a:solidFill>
                            <a:schemeClr val="tx1"/>
                          </a:solidFill>
                          <a:latin typeface="Verdana" panose="020B0604030504040204" pitchFamily="34" charset="0"/>
                          <a:ea typeface="Verdana" panose="020B0604030504040204" pitchFamily="34" charset="0"/>
                        </a:rPr>
                        <a:t>Executive Compensation Review / Adjustment</a:t>
                      </a: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lnSpc>
                          <a:spcPct val="150000"/>
                        </a:lnSpc>
                      </a:pPr>
                      <a:r>
                        <a:rPr lang="en-US" dirty="0">
                          <a:solidFill>
                            <a:schemeClr val="tx1"/>
                          </a:solidFill>
                          <a:latin typeface="Verdana" panose="020B0604030504040204" pitchFamily="34" charset="0"/>
                          <a:ea typeface="Verdana" panose="020B0604030504040204" pitchFamily="34" charset="0"/>
                        </a:rPr>
                        <a:t>2</a:t>
                      </a:r>
                      <a:endParaRPr lang="en-ID" dirty="0">
                        <a:solidFill>
                          <a:schemeClr val="tx1"/>
                        </a:solidFill>
                        <a:latin typeface="Verdana" panose="020B0604030504040204" pitchFamily="34" charset="0"/>
                        <a:ea typeface="Verdana" panose="020B0604030504040204" pitchFamily="34" charset="0"/>
                      </a:endParaRP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lnSpc>
                          <a:spcPct val="150000"/>
                        </a:lnSpc>
                      </a:pPr>
                      <a:r>
                        <a:rPr lang="en-ID" dirty="0" err="1">
                          <a:solidFill>
                            <a:schemeClr val="tx1"/>
                          </a:solidFill>
                          <a:latin typeface="Verdana" panose="020B0604030504040204" pitchFamily="34" charset="0"/>
                          <a:ea typeface="Verdana" panose="020B0604030504040204" pitchFamily="34" charset="0"/>
                        </a:rPr>
                        <a:t>Sesuaikan</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kembali</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upah</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dasar</a:t>
                      </a:r>
                      <a:r>
                        <a:rPr lang="en-ID" dirty="0">
                          <a:solidFill>
                            <a:schemeClr val="tx1"/>
                          </a:solidFill>
                          <a:latin typeface="Verdana" panose="020B0604030504040204" pitchFamily="34" charset="0"/>
                          <a:ea typeface="Verdana" panose="020B0604030504040204" pitchFamily="34" charset="0"/>
                        </a:rPr>
                        <a:t> </a:t>
                      </a:r>
                      <a:r>
                        <a:rPr lang="en-ID" i="1" dirty="0">
                          <a:solidFill>
                            <a:schemeClr val="tx1"/>
                          </a:solidFill>
                          <a:latin typeface="Verdana" panose="020B0604030504040204" pitchFamily="34" charset="0"/>
                          <a:ea typeface="Verdana" panose="020B0604030504040204" pitchFamily="34" charset="0"/>
                        </a:rPr>
                        <a:t>Job Level 5</a:t>
                      </a:r>
                      <a:r>
                        <a:rPr lang="en-ID" dirty="0">
                          <a:solidFill>
                            <a:schemeClr val="tx1"/>
                          </a:solidFill>
                          <a:latin typeface="Verdana" panose="020B0604030504040204" pitchFamily="34" charset="0"/>
                          <a:ea typeface="Verdana" panose="020B0604030504040204" pitchFamily="34" charset="0"/>
                        </a:rPr>
                        <a:t> di HR dan R&amp;D agar </a:t>
                      </a:r>
                      <a:r>
                        <a:rPr lang="en-ID" dirty="0" err="1">
                          <a:solidFill>
                            <a:schemeClr val="tx1"/>
                          </a:solidFill>
                          <a:latin typeface="Verdana" panose="020B0604030504040204" pitchFamily="34" charset="0"/>
                          <a:ea typeface="Verdana" panose="020B0604030504040204" pitchFamily="34" charset="0"/>
                        </a:rPr>
                        <a:t>rasionya</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berada</a:t>
                      </a:r>
                      <a:r>
                        <a:rPr lang="en-ID" dirty="0">
                          <a:solidFill>
                            <a:schemeClr val="tx1"/>
                          </a:solidFill>
                          <a:latin typeface="Verdana" panose="020B0604030504040204" pitchFamily="34" charset="0"/>
                          <a:ea typeface="Verdana" panose="020B0604030504040204" pitchFamily="34" charset="0"/>
                        </a:rPr>
                        <a:t> di </a:t>
                      </a:r>
                      <a:r>
                        <a:rPr lang="en-ID" dirty="0" err="1">
                          <a:solidFill>
                            <a:schemeClr val="tx1"/>
                          </a:solidFill>
                          <a:latin typeface="Verdana" panose="020B0604030504040204" pitchFamily="34" charset="0"/>
                          <a:ea typeface="Verdana" panose="020B0604030504040204" pitchFamily="34" charset="0"/>
                        </a:rPr>
                        <a:t>atas</a:t>
                      </a:r>
                      <a:r>
                        <a:rPr lang="en-ID" dirty="0">
                          <a:solidFill>
                            <a:schemeClr val="tx1"/>
                          </a:solidFill>
                          <a:latin typeface="Verdana" panose="020B0604030504040204" pitchFamily="34" charset="0"/>
                          <a:ea typeface="Verdana" panose="020B0604030504040204" pitchFamily="34" charset="0"/>
                        </a:rPr>
                        <a:t> level 4 (minimal $4,100/level) </a:t>
                      </a:r>
                      <a:r>
                        <a:rPr lang="en-ID" dirty="0" err="1">
                          <a:solidFill>
                            <a:schemeClr val="tx1"/>
                          </a:solidFill>
                          <a:latin typeface="Verdana" panose="020B0604030504040204" pitchFamily="34" charset="0"/>
                          <a:ea typeface="Verdana" panose="020B0604030504040204" pitchFamily="34" charset="0"/>
                        </a:rPr>
                        <a:t>guna</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menjaga</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asas</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keadilan</a:t>
                      </a:r>
                      <a:r>
                        <a:rPr lang="en-ID" dirty="0">
                          <a:solidFill>
                            <a:schemeClr val="tx1"/>
                          </a:solidFill>
                          <a:latin typeface="Verdana" panose="020B0604030504040204" pitchFamily="34" charset="0"/>
                          <a:ea typeface="Verdana" panose="020B0604030504040204" pitchFamily="34" charset="0"/>
                        </a:rPr>
                        <a:t> internal.</a:t>
                      </a: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827798428"/>
                  </a:ext>
                </a:extLst>
              </a:tr>
              <a:tr h="1202025">
                <a:tc>
                  <a:txBody>
                    <a:bodyPr/>
                    <a:lstStyle/>
                    <a:p>
                      <a:pPr algn="just">
                        <a:lnSpc>
                          <a:spcPct val="150000"/>
                        </a:lnSpc>
                      </a:pPr>
                      <a:r>
                        <a:rPr lang="en-ID" dirty="0">
                          <a:solidFill>
                            <a:schemeClr val="tx1"/>
                          </a:solidFill>
                          <a:latin typeface="Verdana" panose="020B0604030504040204" pitchFamily="34" charset="0"/>
                          <a:ea typeface="Verdana" panose="020B0604030504040204" pitchFamily="34" charset="0"/>
                        </a:rPr>
                        <a:t>Job Rotation</a:t>
                      </a: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lnSpc>
                          <a:spcPct val="150000"/>
                        </a:lnSpc>
                      </a:pPr>
                      <a:r>
                        <a:rPr lang="en-US" dirty="0">
                          <a:solidFill>
                            <a:schemeClr val="tx1"/>
                          </a:solidFill>
                          <a:latin typeface="Verdana" panose="020B0604030504040204" pitchFamily="34" charset="0"/>
                          <a:ea typeface="Verdana" panose="020B0604030504040204" pitchFamily="34" charset="0"/>
                        </a:rPr>
                        <a:t>3</a:t>
                      </a:r>
                      <a:endParaRPr lang="en-ID" dirty="0">
                        <a:solidFill>
                          <a:schemeClr val="tx1"/>
                        </a:solidFill>
                        <a:latin typeface="Verdana" panose="020B0604030504040204" pitchFamily="34" charset="0"/>
                        <a:ea typeface="Verdana" panose="020B0604030504040204" pitchFamily="34" charset="0"/>
                      </a:endParaRP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lnSpc>
                          <a:spcPct val="150000"/>
                        </a:lnSpc>
                      </a:pPr>
                      <a:r>
                        <a:rPr lang="en-ID" dirty="0" err="1">
                          <a:solidFill>
                            <a:schemeClr val="tx1"/>
                          </a:solidFill>
                          <a:latin typeface="Verdana" panose="020B0604030504040204" pitchFamily="34" charset="0"/>
                          <a:ea typeface="Verdana" panose="020B0604030504040204" pitchFamily="34" charset="0"/>
                        </a:rPr>
                        <a:t>Lakukan</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rotasi</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kerja</a:t>
                      </a:r>
                      <a:r>
                        <a:rPr lang="en-ID" dirty="0">
                          <a:solidFill>
                            <a:schemeClr val="tx1"/>
                          </a:solidFill>
                          <a:latin typeface="Verdana" panose="020B0604030504040204" pitchFamily="34" charset="0"/>
                          <a:ea typeface="Verdana" panose="020B0604030504040204" pitchFamily="34" charset="0"/>
                        </a:rPr>
                        <a:t> lateral </a:t>
                      </a:r>
                      <a:r>
                        <a:rPr lang="en-ID" dirty="0" err="1">
                          <a:solidFill>
                            <a:schemeClr val="tx1"/>
                          </a:solidFill>
                          <a:latin typeface="Verdana" panose="020B0604030504040204" pitchFamily="34" charset="0"/>
                          <a:ea typeface="Verdana" panose="020B0604030504040204" pitchFamily="34" charset="0"/>
                        </a:rPr>
                        <a:t>atau</a:t>
                      </a:r>
                      <a:r>
                        <a:rPr lang="en-ID" dirty="0">
                          <a:solidFill>
                            <a:schemeClr val="tx1"/>
                          </a:solidFill>
                          <a:latin typeface="Verdana" panose="020B0604030504040204" pitchFamily="34" charset="0"/>
                          <a:ea typeface="Verdana" panose="020B0604030504040204" pitchFamily="34" charset="0"/>
                        </a:rPr>
                        <a:t> </a:t>
                      </a:r>
                      <a:r>
                        <a:rPr lang="en-ID" i="1" dirty="0">
                          <a:solidFill>
                            <a:schemeClr val="tx1"/>
                          </a:solidFill>
                          <a:latin typeface="Verdana" panose="020B0604030504040204" pitchFamily="34" charset="0"/>
                          <a:ea typeface="Verdana" panose="020B0604030504040204" pitchFamily="34" charset="0"/>
                        </a:rPr>
                        <a:t>job enrichment</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sebelum</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karyawan</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menyentuh</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angka</a:t>
                      </a:r>
                      <a:r>
                        <a:rPr lang="en-ID" dirty="0">
                          <a:solidFill>
                            <a:schemeClr val="tx1"/>
                          </a:solidFill>
                          <a:latin typeface="Verdana" panose="020B0604030504040204" pitchFamily="34" charset="0"/>
                          <a:ea typeface="Verdana" panose="020B0604030504040204" pitchFamily="34" charset="0"/>
                        </a:rPr>
                        <a:t> masa </a:t>
                      </a:r>
                      <a:r>
                        <a:rPr lang="en-ID" dirty="0" err="1">
                          <a:solidFill>
                            <a:schemeClr val="tx1"/>
                          </a:solidFill>
                          <a:latin typeface="Verdana" panose="020B0604030504040204" pitchFamily="34" charset="0"/>
                          <a:ea typeface="Verdana" panose="020B0604030504040204" pitchFamily="34" charset="0"/>
                        </a:rPr>
                        <a:t>kerja</a:t>
                      </a:r>
                      <a:r>
                        <a:rPr lang="en-ID" dirty="0">
                          <a:solidFill>
                            <a:schemeClr val="tx1"/>
                          </a:solidFill>
                          <a:latin typeface="Verdana" panose="020B0604030504040204" pitchFamily="34" charset="0"/>
                          <a:ea typeface="Verdana" panose="020B0604030504040204" pitchFamily="34" charset="0"/>
                        </a:rPr>
                        <a:t> 4 </a:t>
                      </a:r>
                      <a:r>
                        <a:rPr lang="en-ID" dirty="0" err="1">
                          <a:solidFill>
                            <a:schemeClr val="tx1"/>
                          </a:solidFill>
                          <a:latin typeface="Verdana" panose="020B0604030504040204" pitchFamily="34" charset="0"/>
                          <a:ea typeface="Verdana" panose="020B0604030504040204" pitchFamily="34" charset="0"/>
                        </a:rPr>
                        <a:t>tahun</a:t>
                      </a:r>
                      <a:r>
                        <a:rPr lang="en-ID" dirty="0">
                          <a:solidFill>
                            <a:schemeClr val="tx1"/>
                          </a:solidFill>
                          <a:latin typeface="Verdana" panose="020B0604030504040204" pitchFamily="34" charset="0"/>
                          <a:ea typeface="Verdana" panose="020B0604030504040204" pitchFamily="34" charset="0"/>
                        </a:rPr>
                        <a:t> di </a:t>
                      </a:r>
                      <a:r>
                        <a:rPr lang="en-ID" dirty="0" err="1">
                          <a:solidFill>
                            <a:schemeClr val="tx1"/>
                          </a:solidFill>
                          <a:latin typeface="Verdana" panose="020B0604030504040204" pitchFamily="34" charset="0"/>
                          <a:ea typeface="Verdana" panose="020B0604030504040204" pitchFamily="34" charset="0"/>
                        </a:rPr>
                        <a:t>peran</a:t>
                      </a:r>
                      <a:r>
                        <a:rPr lang="en-ID" dirty="0">
                          <a:solidFill>
                            <a:schemeClr val="tx1"/>
                          </a:solidFill>
                          <a:latin typeface="Verdana" panose="020B0604030504040204" pitchFamily="34" charset="0"/>
                          <a:ea typeface="Verdana" panose="020B0604030504040204" pitchFamily="34" charset="0"/>
                        </a:rPr>
                        <a:t> yang </a:t>
                      </a:r>
                      <a:r>
                        <a:rPr lang="en-ID" dirty="0" err="1">
                          <a:solidFill>
                            <a:schemeClr val="tx1"/>
                          </a:solidFill>
                          <a:latin typeface="Verdana" panose="020B0604030504040204" pitchFamily="34" charset="0"/>
                          <a:ea typeface="Verdana" panose="020B0604030504040204" pitchFamily="34" charset="0"/>
                        </a:rPr>
                        <a:t>sama</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YearsInCurrentRole</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untuk</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menghindari</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kejenuhan</a:t>
                      </a:r>
                      <a:r>
                        <a:rPr lang="en-ID" dirty="0">
                          <a:solidFill>
                            <a:schemeClr val="tx1"/>
                          </a:solidFill>
                          <a:latin typeface="Verdana" panose="020B0604030504040204" pitchFamily="34" charset="0"/>
                          <a:ea typeface="Verdana" panose="020B0604030504040204" pitchFamily="34" charset="0"/>
                        </a:rPr>
                        <a:t> </a:t>
                      </a:r>
                      <a:r>
                        <a:rPr lang="en-ID" dirty="0" err="1">
                          <a:solidFill>
                            <a:schemeClr val="tx1"/>
                          </a:solidFill>
                          <a:latin typeface="Verdana" panose="020B0604030504040204" pitchFamily="34" charset="0"/>
                          <a:ea typeface="Verdana" panose="020B0604030504040204" pitchFamily="34" charset="0"/>
                        </a:rPr>
                        <a:t>karier</a:t>
                      </a:r>
                      <a:r>
                        <a:rPr lang="en-ID" dirty="0">
                          <a:solidFill>
                            <a:schemeClr val="tx1"/>
                          </a:solidFill>
                          <a:latin typeface="Verdana" panose="020B0604030504040204" pitchFamily="34" charset="0"/>
                          <a:ea typeface="Verdana" panose="020B0604030504040204" pitchFamily="34" charset="0"/>
                        </a:rPr>
                        <a:t>.</a:t>
                      </a:r>
                    </a:p>
                  </a:txBody>
                  <a:tcPr>
                    <a:gradFill>
                      <a:gsLst>
                        <a:gs pos="0">
                          <a:srgbClr val="08F84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754257354"/>
                  </a:ext>
                </a:extLst>
              </a:tr>
            </a:tbl>
          </a:graphicData>
        </a:graphic>
      </p:graphicFrame>
      <p:sp>
        <p:nvSpPr>
          <p:cNvPr id="6" name="Google Shape;340;p23">
            <a:extLst>
              <a:ext uri="{FF2B5EF4-FFF2-40B4-BE49-F238E27FC236}">
                <a16:creationId xmlns:a16="http://schemas.microsoft.com/office/drawing/2014/main" id="{E84A2B8D-7996-4EC6-A257-997A73C594F8}"/>
              </a:ext>
            </a:extLst>
          </p:cNvPr>
          <p:cNvSpPr txBox="1">
            <a:spLocks/>
          </p:cNvSpPr>
          <p:nvPr/>
        </p:nvSpPr>
        <p:spPr>
          <a:xfrm>
            <a:off x="493985" y="111423"/>
            <a:ext cx="8156027" cy="8992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1pPr>
            <a:lvl2pPr marR="0" lvl="1"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2pPr>
            <a:lvl3pPr marR="0" lvl="2"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3pPr>
            <a:lvl4pPr marR="0" lvl="3"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4pPr>
            <a:lvl5pPr marR="0" lvl="4"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5pPr>
            <a:lvl6pPr marR="0" lvl="5"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6pPr>
            <a:lvl7pPr marR="0" lvl="6"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7pPr>
            <a:lvl8pPr marR="0" lvl="7"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8pPr>
            <a:lvl9pPr marR="0" lvl="8"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9pPr>
          </a:lstStyle>
          <a:p>
            <a:pPr algn="ctr"/>
            <a:r>
              <a:rPr lang="en-US" sz="2400" b="1" i="0" dirty="0">
                <a:solidFill>
                  <a:srgbClr val="111111"/>
                </a:solidFill>
                <a:effectLst/>
                <a:latin typeface="Roboto" panose="02000000000000000000" pitchFamily="2" charset="0"/>
              </a:rPr>
              <a:t>STRATEGIC RECOMMENDATIONS FOR </a:t>
            </a:r>
          </a:p>
          <a:p>
            <a:pPr algn="ctr"/>
            <a:r>
              <a:rPr lang="en-US" sz="2400" b="1" i="0" dirty="0">
                <a:solidFill>
                  <a:srgbClr val="111111"/>
                </a:solidFill>
                <a:effectLst/>
                <a:latin typeface="Roboto" panose="02000000000000000000" pitchFamily="2" charset="0"/>
              </a:rPr>
              <a:t>HR DASHBOARD (12 Months)</a:t>
            </a:r>
            <a:endParaRPr lang="en-ID" sz="24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5"/>
          <p:cNvSpPr txBox="1">
            <a:spLocks noGrp="1"/>
          </p:cNvSpPr>
          <p:nvPr>
            <p:ph type="title"/>
          </p:nvPr>
        </p:nvSpPr>
        <p:spPr>
          <a:xfrm>
            <a:off x="362606" y="117546"/>
            <a:ext cx="6366900" cy="360300"/>
          </a:xfrm>
          <a:prstGeom prst="rect">
            <a:avLst/>
          </a:prstGeom>
        </p:spPr>
        <p:txBody>
          <a:bodyPr spcFirstLastPara="1" wrap="square" lIns="91425" tIns="91425" rIns="91425" bIns="91425" anchor="ctr" anchorCtr="0">
            <a:noAutofit/>
          </a:bodyPr>
          <a:lstStyle/>
          <a:p>
            <a:r>
              <a:rPr lang="en" sz="3200" dirty="0"/>
              <a:t>Dashboard</a:t>
            </a:r>
            <a:endParaRPr sz="3200" dirty="0"/>
          </a:p>
        </p:txBody>
      </p:sp>
      <p:sp>
        <p:nvSpPr>
          <p:cNvPr id="360" name="Google Shape;360;p25"/>
          <p:cNvSpPr/>
          <p:nvPr/>
        </p:nvSpPr>
        <p:spPr>
          <a:xfrm>
            <a:off x="7654571" y="4633428"/>
            <a:ext cx="1323195" cy="360300"/>
          </a:xfrm>
          <a:prstGeom prst="rect">
            <a:avLst/>
          </a:prstGeom>
          <a:no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algn="ctr"/>
            <a:r>
              <a:rPr lang="en" sz="1100" i="1" dirty="0">
                <a:solidFill>
                  <a:schemeClr val="lt1"/>
                </a:solidFill>
                <a:latin typeface="Montserrat"/>
                <a:ea typeface="Montserrat"/>
                <a:cs typeface="Montserrat"/>
                <a:sym typeface="Montserrat"/>
              </a:rPr>
              <a:t>Dashboard link</a:t>
            </a:r>
            <a:endParaRPr sz="1100" i="1" dirty="0">
              <a:solidFill>
                <a:schemeClr val="lt1"/>
              </a:solidFill>
              <a:latin typeface="Montserrat"/>
              <a:ea typeface="Montserrat"/>
              <a:cs typeface="Montserrat"/>
              <a:sym typeface="Montserrat"/>
            </a:endParaRPr>
          </a:p>
        </p:txBody>
      </p:sp>
      <p:pic>
        <p:nvPicPr>
          <p:cNvPr id="5" name="Picture 4">
            <a:extLst>
              <a:ext uri="{FF2B5EF4-FFF2-40B4-BE49-F238E27FC236}">
                <a16:creationId xmlns:a16="http://schemas.microsoft.com/office/drawing/2014/main" id="{292ABAF7-3198-4866-9066-774E05F2E0D8}"/>
              </a:ext>
            </a:extLst>
          </p:cNvPr>
          <p:cNvPicPr>
            <a:picLocks noChangeAspect="1"/>
          </p:cNvPicPr>
          <p:nvPr/>
        </p:nvPicPr>
        <p:blipFill>
          <a:blip r:embed="rId3"/>
          <a:stretch>
            <a:fillRect/>
          </a:stretch>
        </p:blipFill>
        <p:spPr>
          <a:xfrm>
            <a:off x="362606" y="641862"/>
            <a:ext cx="7291965" cy="43840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6"/>
          <p:cNvSpPr txBox="1">
            <a:spLocks noGrp="1"/>
          </p:cNvSpPr>
          <p:nvPr>
            <p:ph type="title"/>
          </p:nvPr>
        </p:nvSpPr>
        <p:spPr>
          <a:xfrm>
            <a:off x="906236" y="568582"/>
            <a:ext cx="6866100" cy="857400"/>
          </a:xfrm>
          <a:prstGeom prst="rect">
            <a:avLst/>
          </a:prstGeom>
        </p:spPr>
        <p:txBody>
          <a:bodyPr spcFirstLastPara="1" wrap="square" lIns="91425" tIns="91425" rIns="91425" bIns="91425" anchor="t" anchorCtr="0">
            <a:noAutofit/>
          </a:bodyPr>
          <a:lstStyle/>
          <a:p>
            <a:r>
              <a:rPr lang="en" dirty="0"/>
              <a:t>Appendix</a:t>
            </a:r>
            <a:endParaRPr dirty="0"/>
          </a:p>
        </p:txBody>
      </p:sp>
      <p:sp>
        <p:nvSpPr>
          <p:cNvPr id="366" name="Google Shape;366;p26"/>
          <p:cNvSpPr txBox="1">
            <a:spLocks noGrp="1"/>
          </p:cNvSpPr>
          <p:nvPr>
            <p:ph type="body" idx="4294967295"/>
          </p:nvPr>
        </p:nvSpPr>
        <p:spPr>
          <a:xfrm>
            <a:off x="807551" y="1838749"/>
            <a:ext cx="7466700" cy="2008037"/>
          </a:xfrm>
          <a:prstGeom prst="rect">
            <a:avLst/>
          </a:prstGeom>
          <a:ln w="9525" cap="flat" cmpd="sng">
            <a:solidFill>
              <a:schemeClr val="accent2"/>
            </a:solidFill>
            <a:prstDash val="dash"/>
            <a:round/>
            <a:headEnd type="none" w="sm" len="sm"/>
            <a:tailEnd type="none" w="sm" len="sm"/>
          </a:ln>
        </p:spPr>
        <p:txBody>
          <a:bodyPr spcFirstLastPara="1" wrap="square" lIns="91425" tIns="91425" rIns="91425" bIns="91425" anchor="ctr" anchorCtr="0">
            <a:noAutofit/>
          </a:bodyPr>
          <a:lstStyle/>
          <a:p>
            <a:pPr marL="457189" indent="-342891">
              <a:buClr>
                <a:schemeClr val="tx1"/>
              </a:buClr>
              <a:buAutoNum type="arabicPeriod"/>
            </a:pPr>
            <a:r>
              <a:rPr lang="en" dirty="0">
                <a:latin typeface="Verdana" panose="020B0604030504040204" pitchFamily="34" charset="0"/>
                <a:ea typeface="Verdana" panose="020B0604030504040204" pitchFamily="34" charset="0"/>
                <a:hlinkClick r:id="rId3"/>
              </a:rPr>
              <a:t>Data Set</a:t>
            </a:r>
            <a:endParaRPr lang="en" dirty="0">
              <a:latin typeface="Verdana" panose="020B0604030504040204" pitchFamily="34" charset="0"/>
              <a:ea typeface="Verdana" panose="020B0604030504040204" pitchFamily="34" charset="0"/>
              <a:hlinkClick r:id="rId4"/>
            </a:endParaRPr>
          </a:p>
          <a:p>
            <a:pPr marL="457189" indent="-342891">
              <a:buClr>
                <a:schemeClr val="tx1"/>
              </a:buClr>
              <a:buAutoNum type="arabicPeriod"/>
            </a:pPr>
            <a:r>
              <a:rPr lang="en" dirty="0">
                <a:latin typeface="Verdana" panose="020B0604030504040204" pitchFamily="34" charset="0"/>
                <a:ea typeface="Verdana" panose="020B0604030504040204" pitchFamily="34" charset="0"/>
                <a:hlinkClick r:id="rId4"/>
              </a:rPr>
              <a:t>Data Cleaning</a:t>
            </a:r>
            <a:endParaRPr lang="en" dirty="0">
              <a:latin typeface="Verdana" panose="020B0604030504040204" pitchFamily="34" charset="0"/>
              <a:ea typeface="Verdana" panose="020B0604030504040204" pitchFamily="34" charset="0"/>
            </a:endParaRPr>
          </a:p>
          <a:p>
            <a:pPr marL="457189" indent="-342891">
              <a:buClr>
                <a:schemeClr val="tx1"/>
              </a:buClr>
              <a:buAutoNum type="arabicPeriod"/>
            </a:pPr>
            <a:r>
              <a:rPr lang="en" dirty="0">
                <a:latin typeface="Verdana" panose="020B0604030504040204" pitchFamily="34" charset="0"/>
                <a:ea typeface="Verdana" panose="020B0604030504040204" pitchFamily="34" charset="0"/>
                <a:hlinkClick r:id="rId5"/>
              </a:rPr>
              <a:t>Google Colab</a:t>
            </a:r>
            <a:r>
              <a:rPr lang="en" dirty="0">
                <a:latin typeface="Verdana" panose="020B0604030504040204" pitchFamily="34" charset="0"/>
                <a:ea typeface="Verdana" panose="020B0604030504040204" pitchFamily="34" charset="0"/>
              </a:rPr>
              <a:t>oratory</a:t>
            </a:r>
            <a:endParaRPr dirty="0">
              <a:latin typeface="Verdana" panose="020B0604030504040204" pitchFamily="34" charset="0"/>
              <a:ea typeface="Verdana" panose="020B0604030504040204" pitchFamily="34" charset="0"/>
            </a:endParaRPr>
          </a:p>
          <a:p>
            <a:pPr marL="457189" indent="-342891">
              <a:spcBef>
                <a:spcPts val="0"/>
              </a:spcBef>
              <a:buClr>
                <a:schemeClr val="tx1"/>
              </a:buClr>
              <a:buAutoNum type="arabicPeriod"/>
            </a:pPr>
            <a:r>
              <a:rPr lang="en" dirty="0">
                <a:latin typeface="Verdana" panose="020B0604030504040204" pitchFamily="34" charset="0"/>
                <a:ea typeface="Verdana" panose="020B0604030504040204" pitchFamily="34" charset="0"/>
                <a:hlinkClick r:id="rId6"/>
              </a:rPr>
              <a:t>Linkedin</a:t>
            </a:r>
            <a:endParaRPr dirty="0">
              <a:latin typeface="Verdana" panose="020B0604030504040204" pitchFamily="34" charset="0"/>
              <a:ea typeface="Verdana" panose="020B0604030504040204" pitchFamily="34" charset="0"/>
            </a:endParaRPr>
          </a:p>
          <a:p>
            <a:pPr marL="457189" indent="-342891">
              <a:spcBef>
                <a:spcPts val="0"/>
              </a:spcBef>
              <a:buClr>
                <a:schemeClr val="tx1"/>
              </a:buClr>
              <a:buAutoNum type="arabicPeriod"/>
            </a:pPr>
            <a:r>
              <a:rPr lang="en" dirty="0">
                <a:latin typeface="Verdana" panose="020B0604030504040204" pitchFamily="34" charset="0"/>
                <a:ea typeface="Verdana" panose="020B0604030504040204" pitchFamily="34" charset="0"/>
              </a:rPr>
              <a:t>Additional information</a:t>
            </a:r>
            <a:endParaRPr dirty="0">
              <a:latin typeface="Verdana" panose="020B0604030504040204" pitchFamily="34" charset="0"/>
              <a:ea typeface="Verdana" panose="020B060403050404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3"/>
          <p:cNvSpPr txBox="1">
            <a:spLocks noGrp="1"/>
          </p:cNvSpPr>
          <p:nvPr>
            <p:ph type="title"/>
          </p:nvPr>
        </p:nvSpPr>
        <p:spPr>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id" b="1">
                <a:latin typeface="Arial"/>
                <a:ea typeface="Arial"/>
                <a:cs typeface="Arial"/>
                <a:sym typeface="Arial"/>
              </a:rPr>
              <a:t>Thank You</a:t>
            </a:r>
            <a:endParaRPr b="1">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livia template">
  <a:themeElements>
    <a:clrScheme name="Custom 347">
      <a:dk1>
        <a:srgbClr val="434343"/>
      </a:dk1>
      <a:lt1>
        <a:srgbClr val="FFFFFF"/>
      </a:lt1>
      <a:dk2>
        <a:srgbClr val="362808"/>
      </a:dk2>
      <a:lt2>
        <a:srgbClr val="FFFFFF"/>
      </a:lt2>
      <a:accent1>
        <a:srgbClr val="FFB600"/>
      </a:accent1>
      <a:accent2>
        <a:srgbClr val="FF8400"/>
      </a:accent2>
      <a:accent3>
        <a:srgbClr val="FA5E5E"/>
      </a:accent3>
      <a:accent4>
        <a:srgbClr val="E42A87"/>
      </a:accent4>
      <a:accent5>
        <a:srgbClr val="B143C7"/>
      </a:accent5>
      <a:accent6>
        <a:srgbClr val="7241B4"/>
      </a:accent6>
      <a:hlink>
        <a:srgbClr val="43434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1269</TotalTime>
  <Words>3280</Words>
  <Application>Microsoft Office PowerPoint</Application>
  <PresentationFormat>On-screen Show (16:9)</PresentationFormat>
  <Paragraphs>327</Paragraphs>
  <Slides>26</Slides>
  <Notes>26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26</vt:i4>
      </vt:variant>
    </vt:vector>
  </HeadingPairs>
  <TitlesOfParts>
    <vt:vector size="39" baseType="lpstr">
      <vt:lpstr>Montserrat</vt:lpstr>
      <vt:lpstr>Roboto</vt:lpstr>
      <vt:lpstr>Calibri Light</vt:lpstr>
      <vt:lpstr>Raleway ExtraBold</vt:lpstr>
      <vt:lpstr>Raleway</vt:lpstr>
      <vt:lpstr>Calibri</vt:lpstr>
      <vt:lpstr>Arial</vt:lpstr>
      <vt:lpstr>Verdana</vt:lpstr>
      <vt:lpstr>Raleway Light</vt:lpstr>
      <vt:lpstr>Lexend</vt:lpstr>
      <vt:lpstr>Wingdings</vt:lpstr>
      <vt:lpstr>Olivia template</vt:lpstr>
      <vt:lpstr>Office Theme</vt:lpstr>
      <vt:lpstr>PowerPoint Presentation</vt:lpstr>
      <vt:lpstr>Executive Summary</vt:lpstr>
      <vt:lpstr>Executive Summary</vt:lpstr>
      <vt:lpstr>Background of Project</vt:lpstr>
      <vt:lpstr>Methodology</vt:lpstr>
      <vt:lpstr>Business Problem</vt:lpstr>
      <vt:lpstr>KPI / Objective Analysis</vt:lpstr>
      <vt:lpstr>KPI / Objective Analysis</vt:lpstr>
      <vt:lpstr>KPI / Objective Analysis</vt:lpstr>
      <vt:lpstr>Hyphothesis</vt:lpstr>
      <vt:lpstr>Analysis</vt:lpstr>
      <vt:lpstr>Analysis</vt:lpstr>
      <vt:lpstr>Analysis</vt:lpstr>
      <vt:lpstr>Analysis</vt:lpstr>
      <vt:lpstr>Analysis</vt:lpstr>
      <vt:lpstr>Analysis</vt:lpstr>
      <vt:lpstr>Analysis</vt:lpstr>
      <vt:lpstr>Analysis</vt:lpstr>
      <vt:lpstr>Analysis</vt:lpstr>
      <vt:lpstr>Analysis</vt:lpstr>
      <vt:lpstr>Insight Summary</vt:lpstr>
      <vt:lpstr>Insight Summary</vt:lpstr>
      <vt:lpstr>PowerPoint Presentation</vt:lpstr>
      <vt:lpstr>Dashboard</vt:lpstr>
      <vt:lpstr>Appendix</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HR Analytics Case Study</dc:title>
  <dc:creator>Lenovo</dc:creator>
  <cp:lastModifiedBy>Nurlia Paizah</cp:lastModifiedBy>
  <cp:revision>73</cp:revision>
  <dcterms:modified xsi:type="dcterms:W3CDTF">2026-06-08T01:54:20Z</dcterms:modified>
</cp:coreProperties>
</file>